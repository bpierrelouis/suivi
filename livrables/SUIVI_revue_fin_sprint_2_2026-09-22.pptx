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e4fda4c599473d" /><Relationship Type="http://schemas.openxmlformats.org/officeDocument/2006/relationships/extended-properties" Target="/docProps/app.xml" Id="R9ad95dfc3c864722" /><Relationship Type="http://schemas.openxmlformats.org/officeDocument/2006/relationships/officeDocument" Target="/ppt/presentation.xml" Id="Rea5b35d6833d4e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dae3f8eb3e4b5f"/>
  </p:sldMasterIdLst>
  <p:notesMasterIdLst>
    <p:notesMasterId xmlns:r="http://schemas.openxmlformats.org/officeDocument/2006/relationships" r:id="R836bef401d1549bf"/>
  </p:notesMasterIdLst>
  <p:sldIdLst>
    <p:sldId xmlns:r="http://schemas.openxmlformats.org/officeDocument/2006/relationships" id="256" r:id="Re081d4590e7b48e7"/>
    <p:sldId xmlns:r="http://schemas.openxmlformats.org/officeDocument/2006/relationships" id="257" r:id="Rf2938a5692ae4d13"/>
    <p:sldId xmlns:r="http://schemas.openxmlformats.org/officeDocument/2006/relationships" id="258" r:id="R488ef156908b40c0"/>
    <p:sldId xmlns:r="http://schemas.openxmlformats.org/officeDocument/2006/relationships" id="259" r:id="Rd5d9a6243ec6422b"/>
    <p:sldId xmlns:r="http://schemas.openxmlformats.org/officeDocument/2006/relationships" id="260" r:id="R688fa23638fc4ac5"/>
    <p:sldId xmlns:r="http://schemas.openxmlformats.org/officeDocument/2006/relationships" id="261" r:id="R2aa5d9d6b6394731"/>
    <p:sldId xmlns:r="http://schemas.openxmlformats.org/officeDocument/2006/relationships" id="262" r:id="Rb7d91f1e36bc4f8b"/>
    <p:sldId xmlns:r="http://schemas.openxmlformats.org/officeDocument/2006/relationships" id="263" r:id="Rb0a742b44eef43c2"/>
    <p:sldId xmlns:r="http://schemas.openxmlformats.org/officeDocument/2006/relationships" id="264" r:id="R188f910451a94345"/>
    <p:sldId xmlns:r="http://schemas.openxmlformats.org/officeDocument/2006/relationships" id="265" r:id="R243526ab146d4a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5a855eb413438d" /><Relationship Type="http://schemas.openxmlformats.org/officeDocument/2006/relationships/slideMaster" Target="/ppt/slideMasters/slideMaster1.xml" Id="R85dae3f8eb3e4b5f" /><Relationship Type="http://schemas.openxmlformats.org/officeDocument/2006/relationships/notesMaster" Target="/ppt/notesMasters/notesMaster1.xml" Id="R836bef401d1549bf" /><Relationship Type="http://schemas.openxmlformats.org/officeDocument/2006/relationships/presProps" Target="/ppt/presProps.xml" Id="R12a46fbad7f24aba" /><Relationship Type="http://schemas.openxmlformats.org/officeDocument/2006/relationships/tableStyles" Target="/ppt/tableStyles.xml" Id="R793d604bfc204c4f" /><Relationship Type="http://schemas.openxmlformats.org/officeDocument/2006/relationships/slide" Target="/ppt/slides/slide1.xml" Id="Re081d4590e7b48e7" /><Relationship Type="http://schemas.openxmlformats.org/officeDocument/2006/relationships/slide" Target="/ppt/slides/slide2.xml" Id="Rf2938a5692ae4d13" /><Relationship Type="http://schemas.openxmlformats.org/officeDocument/2006/relationships/slide" Target="/ppt/slides/slide3.xml" Id="R488ef156908b40c0" /><Relationship Type="http://schemas.openxmlformats.org/officeDocument/2006/relationships/slide" Target="/ppt/slides/slide4.xml" Id="Rd5d9a6243ec6422b" /><Relationship Type="http://schemas.openxmlformats.org/officeDocument/2006/relationships/slide" Target="/ppt/slides/slide5.xml" Id="R688fa23638fc4ac5" /><Relationship Type="http://schemas.openxmlformats.org/officeDocument/2006/relationships/slide" Target="/ppt/slides/slide6.xml" Id="R2aa5d9d6b6394731" /><Relationship Type="http://schemas.openxmlformats.org/officeDocument/2006/relationships/slide" Target="/ppt/slides/slide7.xml" Id="Rb7d91f1e36bc4f8b" /><Relationship Type="http://schemas.openxmlformats.org/officeDocument/2006/relationships/slide" Target="/ppt/slides/slide8.xml" Id="Rb0a742b44eef43c2" /><Relationship Type="http://schemas.openxmlformats.org/officeDocument/2006/relationships/slide" Target="/ppt/slides/slide9.xml" Id="R188f910451a94345" /><Relationship Type="http://schemas.openxmlformats.org/officeDocument/2006/relationships/slide" Target="/ppt/slides/slide10.xml" Id="R243526ab146d4a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df3ff3f3d248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a7ed1457a14e15" /><Relationship Type="http://schemas.openxmlformats.org/officeDocument/2006/relationships/notesMaster" Target="/ppt/notesMasters/notesMaster1.xml" Id="Rb5d19805cc7f4d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00fce92fe74a5e" /><Relationship Type="http://schemas.openxmlformats.org/officeDocument/2006/relationships/notesMaster" Target="/ppt/notesMasters/notesMaster1.xml" Id="R12c2f9adfa324c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4c1d37e78946bd" /><Relationship Type="http://schemas.openxmlformats.org/officeDocument/2006/relationships/notesMaster" Target="/ppt/notesMasters/notesMaster1.xml" Id="Rd5186f798b614e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3ff6f981264931" /><Relationship Type="http://schemas.openxmlformats.org/officeDocument/2006/relationships/notesMaster" Target="/ppt/notesMasters/notesMaster1.xml" Id="Rf71906d2c1114a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c2b167ddbc4126" /><Relationship Type="http://schemas.openxmlformats.org/officeDocument/2006/relationships/notesMaster" Target="/ppt/notesMasters/notesMaster1.xml" Id="Rb02160b9b1cb4a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51185e62cf4e05" /><Relationship Type="http://schemas.openxmlformats.org/officeDocument/2006/relationships/notesMaster" Target="/ppt/notesMasters/notesMaster1.xml" Id="R0db46ba151174b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34c8d561a04778" /><Relationship Type="http://schemas.openxmlformats.org/officeDocument/2006/relationships/notesMaster" Target="/ppt/notesMasters/notesMaster1.xml" Id="Rcd277918762247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b77d86a396411e" /><Relationship Type="http://schemas.openxmlformats.org/officeDocument/2006/relationships/notesMaster" Target="/ppt/notesMasters/notesMaster1.xml" Id="R09737db5c6534a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4300cef65a4937" /><Relationship Type="http://schemas.openxmlformats.org/officeDocument/2006/relationships/notesMaster" Target="/ppt/notesMasters/notesMaster1.xml" Id="R26a3582e296640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31d4e07a6c4709" /><Relationship Type="http://schemas.openxmlformats.org/officeDocument/2006/relationships/notesMaster" Target="/ppt/notesMasters/notesMaster1.xml" Id="R20c255f88dfb40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docs/prochains-sprints.md ; maquettes/pages/projet-detail.html. La capture est une maquette locale et ne constitue pas une preuve de recette.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docs/prochains-sprints.md ; docs/user-stories.md#US-14 à US-19 ; docs/user-stories.md#US-32. Les données visibles dans les maquettes sont fictives.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git log au 22 septembre 2026 ; docs/prochains-sprints.md ; docs/plan-de-recette.md ; maquettes/. Les données visibles dans les maquettes sont fictives.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docs/user-stories.md#US-14 ; docs/user-stories.md#US-15 ; docs/regles-de-gestion.md ; docs/prototype_maquettes/admin_project_modal.png. Les données visibles dans les maquettes sont fictives.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maquettes/pages/projet-detail.html ; docs/user-stories.md#US-16 à US-18 ; docs/decisions-et-questions.md#Q-07 et Q-27. La capture montre un prototype local avec données fictives.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maquettes/pages/projet-detail.html ; maquettes/assets/js/kanban.js ; docs/user-stories.md#US-19. La capture montre un prototype local avec tâches fictives. Le cycle complet des tâches suit Q-26.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docs/user-stories.md#US-32 ; docs/prochains-sprints.md ; docs/decisions-et-questions.md#Q-28. Cet écran a été créé pour le support à partir de la direction artistique des maquettes. Il ne constitue pas une fonctionnalité livrée.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docs/regles-de-gestion.md ; docs/user-stories.md#US-15 ; docs/user-stories.md#US-19 ; docs/user-stories.md#US-29 ; docs/user-stories.md#US-32. Les données visibles dans les maquettes sont fictives.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docs/prochains-sprints.md#Démonstration attendue ; docs/plan-de-recette.md ; docs/user-stories.md. Les données visibles dans les maquettes sont fictives.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docs/decisions-et-questions.md ; docs/prochains-sprints.md ; docs/plan-de-recette.md. Les données visibles dans les maquettes sont fictives.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06ce1dc4f48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8d97621b1842cd" /><Relationship Type="http://schemas.openxmlformats.org/officeDocument/2006/relationships/slideLayout" Target="/ppt/slideLayouts/slideLayout1.xml" Id="R61657cd3ad9649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657cd3ad9649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4795d32e3425e" /><Relationship Type="http://schemas.openxmlformats.org/officeDocument/2006/relationships/image" Target="/ppt/media/image.png" Id="R2d0821459a4d437a" /><Relationship Type="http://schemas.openxmlformats.org/officeDocument/2006/relationships/notesSlide" Target="/ppt/notesSlides/notesSlide1.xml" Id="R2a98731fd9f244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ade594e0e4f9a" /><Relationship Type="http://schemas.openxmlformats.org/officeDocument/2006/relationships/notesSlide" Target="/ppt/notesSlides/notesSlide2.xml" Id="Rb1c7115dc8b14f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02d4a165f4041" /><Relationship Type="http://schemas.openxmlformats.org/officeDocument/2006/relationships/notesSlide" Target="/ppt/notesSlides/notesSlide3.xml" Id="Ra988946c810843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8e04bc7b54ab4" /><Relationship Type="http://schemas.openxmlformats.org/officeDocument/2006/relationships/image" Target="/ppt/media/image2.png" Id="R24afded570584d2e" /><Relationship Type="http://schemas.openxmlformats.org/officeDocument/2006/relationships/notesSlide" Target="/ppt/notesSlides/notesSlide4.xml" Id="R49fdf03b0ef648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a573903f74f22" /><Relationship Type="http://schemas.openxmlformats.org/officeDocument/2006/relationships/image" Target="/ppt/media/image3.png" Id="R5ec312971100497e" /><Relationship Type="http://schemas.openxmlformats.org/officeDocument/2006/relationships/notesSlide" Target="/ppt/notesSlides/notesSlide5.xml" Id="R3d6f64ea186e4c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245f5a0e348f3" /><Relationship Type="http://schemas.openxmlformats.org/officeDocument/2006/relationships/image" Target="/ppt/media/image4.png" Id="R4af7093851e7425a" /><Relationship Type="http://schemas.openxmlformats.org/officeDocument/2006/relationships/notesSlide" Target="/ppt/notesSlides/notesSlide6.xml" Id="R3848b3df30704d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58454510c4a35" /><Relationship Type="http://schemas.openxmlformats.org/officeDocument/2006/relationships/image" Target="/ppt/media/image5.png" Id="Rdb13a49ac5b847eb" /><Relationship Type="http://schemas.openxmlformats.org/officeDocument/2006/relationships/notesSlide" Target="/ppt/notesSlides/notesSlide7.xml" Id="R2dbf67d3060c49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c56d587e0469b" /><Relationship Type="http://schemas.openxmlformats.org/officeDocument/2006/relationships/notesSlide" Target="/ppt/notesSlides/notesSlide8.xml" Id="R7fa84fe214e94d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d63b3f3924b52" /><Relationship Type="http://schemas.openxmlformats.org/officeDocument/2006/relationships/notesSlide" Target="/ppt/notesSlides/notesSlide9.xml" Id="Rf7800a8681cb4b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81c910568487a" /><Relationship Type="http://schemas.openxmlformats.org/officeDocument/2006/relationships/notesSlide" Target="/ppt/notesSlides/notesSlide10.xml" Id="R3b313d4b3ad642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821459a4d437a"/>
          <a:srcRect xmlns:a="http://schemas.openxmlformats.org/drawingml/2006/main" l="20287" t="0" r="202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523875"/>
            <a:ext cx="5524500" cy="5810250"/>
          </a:xfrm>
          <a:prstGeom xmlns:a="http://schemas.openxmlformats.org/drawingml/2006/main" prst="roundRect">
            <a:avLst>
              <a:gd name="adj" fmla="val 241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06A6C-3D96-4E8F-98E4-CCED7168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2EB8B-29FA-4B1E-A28F-AB971F54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628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D5A12-8D20-4846-B96A-10CE48F9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SUIVI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258BD-5C52-4C60-A5A7-9B523BE7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DCE9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CE9FF"/>
                </a:solidFill>
                <a:latin typeface="Aptos"/>
                <a:ea typeface="Aptos"/>
                <a:cs typeface="Aptos"/>
              </a:rPr>
              <a:t>Revue de fin du sprint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92305-6BFF-4790-ACD5-A02518C5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Projets et collaboration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F2A8E-A4CA-40E7-9365-76C7E27F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FC4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FC4E7"/>
                </a:solidFill>
                <a:latin typeface="Aptos"/>
                <a:ea typeface="Aptos"/>
                <a:cs typeface="Aptos"/>
              </a:rPr>
              <a:t>Écrans de démonstration sur données fictives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1F16A-5AA3-413A-B7C9-49CB6A0C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Réunion client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22 septembre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C1B79-D60B-49DD-A062-31148819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398B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398BE"/>
                </a:solidFill>
                <a:latin typeface="Aptos"/>
                <a:ea typeface="Aptos"/>
                <a:cs typeface="Aptos"/>
              </a:rPr>
              <a:t>Suivi des Usages, Inventaires, Vie des projets et IA</a:t>
            </a:r>
          </a:p>
        </p:txBody>
      </p:sp>
    </p:spTree>
    <p:extLst>
      <p:ext uri="{BB962C8B-B14F-4D97-AF65-F5344CB8AC3E}">
        <p14:creationId xmlns:p14="http://schemas.microsoft.com/office/powerpoint/2010/main" val="457178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C85BB-C0CF-4A45-8838-4F5ABDC0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SYNTHÈSE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1DE8F-0043-4B4A-9D93-210E20A7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Périmètre de démonstration du sprint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8CBD7-18EF-4A89-81CC-0C9B1395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20520-C8F8-4EA0-9569-FEDEA61E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Le sprint 2 porte sur le cycle courant d’un projet, depuis sa création jusqu’au travail collaboratif dans sa fiche.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9E8C9-04C1-41D4-BB75-7A04EB0D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DE074-57EB-4BB9-902D-DABF56BC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Projets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43F2D-98B1-461F-950D-5A33CDD3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Créer un projet public ou privé, le consulter et modifier ses informations.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749F1-CF21-4577-A182-1018B87C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32DB3-81C1-414A-BC65-DB52B785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C113F-85FA-4538-94F8-CBEE0ED1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Membres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4A8C9-E65C-4F35-AA7D-B024A716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Constituer l’équipe et maintenir un responsable qui reste membre du projet.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AC38D-BCE4-4CFB-81CC-A9900FF3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8B7B5-F899-48F6-9D48-909D62A1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439EB-7E4C-43C2-AE04-324909ED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Kanban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A1679-A2EE-4FEC-A2C9-A89CFBFB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Accéder aux tâches depuis la fiche, les déplacer et affecter un responsable facultatif.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080E3-1D23-43DD-A27C-3ADDE0C1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C865B-B503-4983-9319-EBC81303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C84E4-E22C-4439-9037-52E4CE18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Documentation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07DCA-C5D0-44C1-A167-BC90245B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95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Éditer un README en Markdown, vérifier l’aperçu et préparer l’export DOCX.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D686C-DE12-4630-B14A-B5A30EF3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477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CE4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53C99-38C8-47C5-83F3-424F0ADC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959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D1B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D1B3D"/>
                </a:solidFill>
                <a:latin typeface="Aptos"/>
                <a:ea typeface="Aptos"/>
                <a:cs typeface="Aptos"/>
              </a:rPr>
              <a:t>Les écrans servent à valider les parcours. Ils pourront être remplacés sans modifier la trame de présentation.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A35111-D792-48CE-B3D4-A6E7AE6D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Revue de fin du sprint 2 • 22 septembre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998F8-105E-4D89-AFDD-B82D40C7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9828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00C4D-AECD-44C5-843B-9B138E4E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ÉTAT CONSTATÉ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8279A-1099-4042-9BA4-B9B99DAE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Les avancées visibles portent sur le cadrage et les prototypes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C8D0C-F323-46F8-8F2A-F27CCCF3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C412C-05A4-4099-A37E-D3BA912D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Le dépôt ne contient pas encore de résultats de recette détaillés pour le sprint 2. Le support sépare donc la preuve disponible de la validation à venir.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238750"/>
                <a:gridCol w="304800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Domaine</a:t>
                      </a:r>
                    </a:p>
                  </a:txBody>
                  <a:tcPr marL="114300" marR="95250" marT="76200" marB="76200"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Preuve disponible</a:t>
                      </a:r>
                    </a:p>
                  </a:txBody>
                  <a:tcPr marL="114300" marR="95250" marT="76200" marB="76200"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Lecture pour la réunion</a:t>
                      </a:r>
                    </a:p>
                  </a:txBody>
                  <a:tcPr marL="114300" marR="95250" marT="76200" marB="76200">
                    <a:solidFill>
                      <a:srgbClr val="0D1B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Périmètre Sprint 2</a:t>
                      </a:r>
                    </a:p>
                  </a:txBody>
                  <a:tcPr marL="11430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Stories, droits et démonstration attendue documentés</a:t>
                      </a:r>
                    </a:p>
                  </a:txBody>
                  <a:tcPr marL="11430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Cadrage consolidé</a:t>
                      </a:r>
                    </a:p>
                  </a:txBody>
                  <a:tcPr marL="114300" marR="95250" marT="76200" marB="762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Liste et fiche projet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Maquettes PNG et prototype HTML local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Parcours visuel démontrable</a:t>
                      </a:r>
                    </a:p>
                  </a:txBody>
                  <a:tcPr marL="114300" marR="95250" marT="76200" marB="7620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Kanban</a:t>
                      </a:r>
                    </a:p>
                  </a:txBody>
                  <a:tcPr marL="11430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Écran interactif et jeu de tâches fictif</a:t>
                      </a:r>
                    </a:p>
                  </a:txBody>
                  <a:tcPr marL="11430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Comportement à valider</a:t>
                      </a:r>
                    </a:p>
                  </a:txBody>
                  <a:tcPr marL="114300" marR="95250" marT="76200" marB="762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Documentation Markdown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US-32 et critères d’acceptation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Écran illustratif à confirmer</a:t>
                      </a:r>
                    </a:p>
                  </a:txBody>
                  <a:tcPr marL="114300" marR="95250" marT="76200" marB="7620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Recette</a:t>
                      </a:r>
                    </a:p>
                  </a:txBody>
                  <a:tcPr marL="11430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Scénarios prévus dans le plan de recette</a:t>
                      </a:r>
                    </a:p>
                  </a:txBody>
                  <a:tcPr marL="11430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Résultats non consignés</a:t>
                      </a:r>
                    </a:p>
                  </a:txBody>
                  <a:tcPr marL="11430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6305B-F9AB-4073-8E09-6918B713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2CF9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1EE1F-A726-4145-93B4-0E77D757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7217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56A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6A09"/>
                </a:solidFill>
                <a:latin typeface="Aptos"/>
                <a:ea typeface="Aptos"/>
                <a:cs typeface="Aptos"/>
              </a:rPr>
              <a:t>À ne pas présenter comme acquis : une fonctionnalité sans résultat de recette consigné.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F21C8-1EC8-4C6D-A781-C3F2473E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Revue de fin du sprint 2 • 22 septembre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D8087-3E32-45D6-AA7E-8345E4B2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8114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5E60C-8F61-43EC-B9C7-E1A4BE1B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PARCOURS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BD21A-A0B9-4A5C-AA89-13D633DB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Création et visibilité des projets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42BFE-C1E6-4B40-B9B1-D6FC197D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fded570584d2e"/>
          <a:stretch xmlns:a="http://schemas.openxmlformats.org/drawingml/2006/main"/>
        </p:blipFill>
        <p:spPr>
          <a:xfrm xmlns:a="http://schemas.openxmlformats.org/drawingml/2006/main">
            <a:off x="666750" y="1625203"/>
            <a:ext cx="6762750" cy="4226719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FEEE6-2AB7-411A-9984-F4CEA92C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00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ÉCRAN DE DÉMONSTRATION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87B3B-9090-45B3-8E9B-275FBA4E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43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Champs structurants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9FB8C-E9B1-4B90-A2DD-34A2FF41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241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Nom, description et visibilité publique ou privée constituent le socle de création.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B288C-F50F-4908-8055-47A22130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33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7153D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153D6"/>
                </a:solidFill>
                <a:latin typeface="Aptos"/>
                <a:ea typeface="Aptos"/>
                <a:cs typeface="Aptos"/>
              </a:rPr>
              <a:t>Droits de lecture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E7E8B-90BD-4343-8FD7-8FA1F17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Un projet public reste consultable par les utilisateurs. Un projet privé reste réservé à ses membres et à l’administrateur.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CF355-3A4F-4F3F-A30E-6C3AB747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53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84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845B"/>
                </a:solidFill>
                <a:latin typeface="Aptos"/>
                <a:ea typeface="Aptos"/>
                <a:cs typeface="Aptos"/>
              </a:rPr>
              <a:t>Exclusion du gestionnaire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FE831-ADB4-4529-ABA3-2838B10C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Le gestionnaire ne reçoit aucun accès aux projets, y compris par lien direct.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3E6E5-A6BF-4EFA-9C28-C0111CEB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Revue de fin du sprint 2 • 22 septembre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901A4-EAC9-4A9D-84E6-417B5C4C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8480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2A000-B7A0-4144-8215-D1A617BB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PARCOURS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BD53B-816B-434F-BE9A-EFEC39F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La fiche projet devient le point d’entrée de la collaboration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9C80F-DE34-4AEE-AA27-6F8D6CF7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312971100497e"/>
          <a:stretch xmlns:a="http://schemas.openxmlformats.org/drawingml/2006/main"/>
        </p:blipFill>
        <p:spPr>
          <a:xfrm xmlns:a="http://schemas.openxmlformats.org/drawingml/2006/main">
            <a:off x="666750" y="1494234"/>
            <a:ext cx="7334250" cy="4583906"/>
          </a:xfrm>
          <a:prstGeom xmlns:a="http://schemas.openxmlformats.org/drawingml/2006/main" prst="roundRect">
            <a:avLst>
              <a:gd name="adj" fmla="val 288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C97E7-4C95-4931-9CCA-B8D5AC25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00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PROTOTYPE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652B9-6ED7-44B6-A4E4-4E9949AB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A18EC-1C37-49CF-A015-EB8CDED4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Le contexte reste visible avant d’ouvrir les outils du projet.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EDEEE-4CD8-4CEA-A59B-32AE83FE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7153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153D6"/>
                </a:solidFill>
                <a:latin typeface="Aptos"/>
                <a:ea typeface="Aptos"/>
                <a:cs typeface="Aptos"/>
              </a:rPr>
              <a:t>Accès direct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5A4AA-A8EC-42CE-97A0-5EC4A83B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480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Le Kanban s’ouvre depuis la fiche, sans retour à une liste intermédiaire.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762A8-AEF0-4214-81E8-02EDBDA3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Actions selon le rôle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5B726-0902-4675-8695-BD22C3C1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387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Membre et administrateur modifient. Le simple lecteur consulte.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5F3DB-B7B7-43A2-93E8-C23F6FAD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7687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A1936-C8BF-48E2-8E64-E9280EBF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61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8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La gestion détaillée des membres reste à confirmer avec Q-07 et Q-27.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5D23B-6B98-4938-A4FB-743EC70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Revue de fin du sprint 2 • 22 septembre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9952A-A1F2-4435-A704-F8ABAB6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7196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2732F-C357-4774-B96A-526B64F0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PARCOURS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D6EB4-9BBD-44ED-8149-690011A0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Kanban accessible depuis la description du projet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450C3-E169-46B8-879E-A495019B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7093851e7425a"/>
          <a:stretch xmlns:a="http://schemas.openxmlformats.org/drawingml/2006/main"/>
        </p:blipFill>
        <p:spPr>
          <a:xfrm xmlns:a="http://schemas.openxmlformats.org/drawingml/2006/main">
            <a:off x="2819400" y="1428750"/>
            <a:ext cx="65532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60437-D9E6-4586-A484-62F6192F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5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Colonnes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0A6B5-37AD-4827-BB7F-A01BEA20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Organisation visuelle du flux de tâches.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3A7CF-61F2-4BF0-AC0A-0D340DB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57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5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Responsable facultatif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65030-482D-4809-9D63-2749F53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43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Affectation limitée aux membres du projet.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56956-D9AE-41F9-8141-10502C94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57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5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Droits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322C0-743A-4E18-B19E-F267A611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43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Lecture pour les personnes autorisées, modification réservée aux membres et à l’administrateur.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1599E-D711-421E-97C9-EB3D9783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Revue de fin du sprint 2 • 22 septembre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84B00-191D-4F54-9AA4-50576ECE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4744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DE07E-C97C-4736-9C9B-6EDE0EC6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PARCOURS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A708B-02A3-4062-AA06-D00BC8DE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Documentation Markdown et export DOCX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3A78A-1FAE-449D-A8A4-CF0BF682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3a49ac5b847eb"/>
          <a:stretch xmlns:a="http://schemas.openxmlformats.org/drawingml/2006/main"/>
        </p:blipFill>
        <p:spPr>
          <a:xfrm xmlns:a="http://schemas.openxmlformats.org/drawingml/2006/main">
            <a:off x="2514600" y="1428750"/>
            <a:ext cx="7162800" cy="4476750"/>
          </a:xfrm>
          <a:prstGeom xmlns:a="http://schemas.openxmlformats.org/drawingml/2006/main" prst="roundRect">
            <a:avLst>
              <a:gd name="adj" fmla="val 297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33295-1738-493F-B3F8-C7A16877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53D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53D6"/>
                </a:solidFill>
                <a:latin typeface="Aptos"/>
                <a:ea typeface="Aptos"/>
                <a:cs typeface="Aptos"/>
              </a:rPr>
              <a:t>MAQUETTE ILLUSTRATIVE REMPLAÇABLE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48338-0A67-475A-B935-E830AD49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721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Source unique README.md, aperçu lisible et export reprenant le titre et la structure du document.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CA345-DDBD-49F1-B427-1B8BD144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Revue de fin du sprint 2 • 22 septembre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0D238-9648-42F6-BBBE-02F76FFC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0684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8E9D6-CD08-4F3D-965C-43EF75FE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CONTRÔLE D’ACCÈS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E73ED-EBD1-4E8E-8AC8-BBC15FFD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Droits appliqués au périmètre projet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976BF-502A-49E7-83AB-C977D53E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FDAA7-D53F-489A-B5F3-9C498B65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Les droits combinent le rôle global et, pour l’utilisateur, sa relation avec le projet.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2143125"/>
                <a:gridCol w="2143125"/>
                <a:gridCol w="2333625"/>
                <a:gridCol w="2381250"/>
              </a:tblGrid>
              <a:tr h="785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Profil</a:t>
                      </a:r>
                    </a:p>
                  </a:txBody>
                  <a:tcPr marL="95250" marR="76200" marT="76200" marB="76200"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Projet public</a:t>
                      </a:r>
                    </a:p>
                  </a:txBody>
                  <a:tcPr marL="95250" marR="76200" marT="76200" marB="76200"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Projet privé</a:t>
                      </a:r>
                    </a:p>
                  </a:txBody>
                  <a:tcPr marL="95250" marR="76200" marT="76200" marB="76200"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Kanban et membres</a:t>
                      </a:r>
                    </a:p>
                  </a:txBody>
                  <a:tcPr marL="95250" marR="76200" marT="76200" marB="76200"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Documentation</a:t>
                      </a:r>
                    </a:p>
                  </a:txBody>
                  <a:tcPr marL="95250" marR="76200" marT="76200" marB="76200">
                    <a:solidFill>
                      <a:srgbClr val="0D1B3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Administrateur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Lecture et modification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Lecture et modification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Gestion sans adhésion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Édition et export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Gestionnaire</a:t>
                      </a:r>
                    </a:p>
                  </a:txBody>
                  <a:tcPr marL="95250" marR="7620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Aucun accès</a:t>
                      </a:r>
                    </a:p>
                  </a:txBody>
                  <a:tcPr marL="95250" marR="7620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Aucun accès</a:t>
                      </a:r>
                    </a:p>
                  </a:txBody>
                  <a:tcPr marL="95250" marR="7620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Aucun accès</a:t>
                      </a:r>
                    </a:p>
                  </a:txBody>
                  <a:tcPr marL="95250" marR="7620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Aucun accès</a:t>
                      </a:r>
                    </a:p>
                  </a:txBody>
                  <a:tcPr marL="95250" marR="76200" marT="76200" marB="7620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Utilisateur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Lecture, modification si membre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Membre uniquement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Modification si membre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Lecture selon accès, édition si membre</a:t>
                      </a:r>
                    </a:p>
                  </a:txBody>
                  <a:tcPr marL="95250" marR="76200" marT="76200" marB="76200"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DE31C-BA6E-4345-B979-C3327387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DCC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261CF-D9A8-4224-A310-C3F0C752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340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7153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153D6"/>
                </a:solidFill>
                <a:latin typeface="Aptos"/>
                <a:ea typeface="Aptos"/>
                <a:cs typeface="Aptos"/>
              </a:rPr>
              <a:t>Contrôle attendu : aucun nom, contenu, tâche ou document d’un projet inaccessible ne doit apparaître dans les listes, recherches ou accès directs.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40664-8228-4064-B7AB-7614E8CD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Revue de fin du sprint 2 • 22 septembre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30129-83CF-4589-8242-F3BA7F4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9512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7A5D0F-06F5-40C5-BB35-5CACDE0D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4672A-49B1-4379-B30D-7B05B3F8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Recette à exécuter et à consigner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A2D84-1CB5-4D50-A238-F5821A15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B54FC-9853-445F-83A8-311BEE5F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Cinq parcours couvrent la démonstration du sprint 2. Aucun résultat détaillé n’est actuellement enregistré dans le dépôt.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E081D-4E89-45E8-B102-369364F3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79D66-1A72-4577-BEB1-6530054D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71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Visibilité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984AD-34CD-4C89-82F4-A5C3312E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907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Créer un projet public et un privé, puis vérifier leur présence pour chaque profil.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6E883-1B89-4F7D-9069-DDF6040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7370C-8569-40AC-831A-9C7D32DE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0966D-9C48-464F-BE82-1A9F6739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Membres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43D2E-6C9D-43FA-9C50-477280D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765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Ajouter et retirer un membre sans laisser le projet sans responsable valide.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3158D-8168-46E0-BFB3-A39EA0FE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EA6DC-0365-4966-B717-373E4008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48F27-1CC8-4E83-9C40-727135EC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43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Kanban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C8821-261E-4035-BAF0-60FD6E2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623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Créer, déplacer et affecter une tâche, puis vérifier le refus en lecture seule.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B0E31-FDDA-4B6B-8946-B981F4B6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B5DB4-3D5E-4276-82D7-7F0045FD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5EBBD-5CE3-4D71-9D45-05A2E9CB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29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Documentation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E79AC-2EAE-4AA3-9CDE-C56CE8EF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481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Enregistrer le Markdown, rouvrir l’aperçu et produire le DOCX attendu.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9E5D4-E879-4BBC-9799-4BF06821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C5FCA-CDF0-4BEA-AD59-26E73228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97D35-C927-4D9E-9A07-DF18B2D0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14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Confidentialité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52E77-7EF6-4354-B6A7-E3FE29CE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3395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Tester les liens directs et confirmer l’absence de fuite vers un profil non autorisé.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BF344-3101-4DD0-8E7D-14EB81CB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28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B8E2D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7049B-673B-4844-BFF3-EC7127D6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684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45B"/>
                </a:solidFill>
                <a:latin typeface="Aptos"/>
                <a:ea typeface="Aptos"/>
                <a:cs typeface="Aptos"/>
              </a:rPr>
              <a:t>Critère de sortie : résultats consignés, droits vérifiés et anomalies bloquantes corrigées.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5A2E34-C0CB-4C08-AA0A-8DAF99F7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Revue de fin du sprint 2 • 22 septembre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22C8F-B36B-4910-9423-CD258E3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65401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DA3A5-5354-4144-8B32-4D236FC2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Décisions attendues pour clôturer le sprint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AF3A0-58B3-46D6-9BFB-D003FF7D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B9C9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E5"/>
                </a:solidFill>
                <a:latin typeface="Aptos"/>
                <a:ea typeface="Aptos"/>
                <a:cs typeface="Aptos"/>
              </a:rPr>
              <a:t>La réunion doit transformer les écrans de démonstration en comportements validés et recettables.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613D8-A83C-4E13-8D41-8D7BE061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D6E45-D41A-48C1-A17A-13B7D775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288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Cycle des tâches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BD143-C7F6-466B-9680-621EBAB1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DCE6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7"/>
                </a:solidFill>
                <a:latin typeface="Aptos"/>
                <a:ea typeface="Aptos"/>
                <a:cs typeface="Aptos"/>
              </a:rPr>
              <a:t>Confirmer création, modification, déplacement, suppression éventuelle et règles à l’archivage (Q-26).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D5529-436B-4A60-B81A-B3581C08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CB6A4-ED90-435B-A9BC-0A8C9056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527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Membres et responsable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142F5-DB74-4AC3-80CE-B61A8357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717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DCE6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7"/>
                </a:solidFill>
                <a:latin typeface="Aptos"/>
                <a:ea typeface="Aptos"/>
                <a:cs typeface="Aptos"/>
              </a:rPr>
              <a:t>Fixer transfert de responsabilité et retrait d’un membre responsable (Q-07, Q-27).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3FA92-0F73-4D63-8119-46BB4569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77DA0-5EE0-49BA-B933-A9E9D70E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6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Données projet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49431-BC20-44E2-B5F4-714CC69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956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DCE6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7"/>
                </a:solidFill>
                <a:latin typeface="Aptos"/>
                <a:ea typeface="Aptos"/>
                <a:cs typeface="Aptos"/>
              </a:rPr>
              <a:t>Valider les champs obligatoires et l’effet des dates sur le reste du produit (Q-06).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F8897-3652-44DA-8624-BE20A896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128B0-560B-4D34-AA23-E1E6816F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005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Markdown et DOCX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08BB3-079D-4845-8D30-5FDF6165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195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DCE6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7"/>
                </a:solidFill>
                <a:latin typeface="Aptos"/>
                <a:ea typeface="Aptos"/>
                <a:cs typeface="Aptos"/>
              </a:rPr>
              <a:t>Décider syntaxes, images, versions et règles de mise en forme de l’export (Q-28).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6F611-9952-4087-8072-315213A4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BED8C-A184-4297-9B4B-9B8E1160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244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Acceptation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F4591-D0D5-4D5D-BC40-C5F00B9D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434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DCE6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6F7"/>
                </a:solidFill>
                <a:latin typeface="Aptos"/>
                <a:ea typeface="Aptos"/>
                <a:cs typeface="Aptos"/>
              </a:rPr>
              <a:t>Nommer le validateur, consigner les résultats et prioriser les corrections avant le sprint 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F8FD4-D4A1-4F98-80AA-EF5D1906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287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898E3-0BF2-4C92-A2FF-5AB70AD4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912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Résultat attendu : un périmètre Sprint 2 validé, démontré et accompagné de preuves de recette.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F5E06-3D93-46DA-8939-E3B6F6F1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8398B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398B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511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2026-09-22T08:40:16.4310000Z</dcterms:created>
  <dcterms:modified xsi:type="dcterms:W3CDTF">2026-09-22T08:40:16.4310000Z</dcterms:modified>
</coreProperties>
</file>