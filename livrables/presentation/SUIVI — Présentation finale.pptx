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Bonjour. Nous présentons SUIVI, une application interne destinée à un laboratoire. Son nom signifie Suivi des Usages, Inventaires, Vie des projets et IA. Plan : le besoin, notre solution, nos choix techniques, puis une démonstration avec un scénario concret.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Le besoin ne se limite pas a lister du materiel : relier le materiel aux projets, empecher les doubles reservations, conserver une trace. Chaque profil doit voir les bonnes informations et faire uniquement ce qui lui est autorise.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 remplacer avant l'oral par quatre contributions reelles et courtes (deux realisations maximum par personne, visibles dans le livrable). Ne pas inventer de roles si le travail a ete partage : decrire alors les responsabilites dominantes.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Trois profils aux droits distincts. Transition : Pour realiser cet ensemble, nous avons choisi une architecture qui separe interface, regles metier, donnees et fichiers.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15] Ne pas enumerer les versions : relier chaque choix a son usage. Vue pour les ecrans qui changent selon le profil ; Express pour centraliser les droits ; PostgreSQL pour les donnees liees et la contrainte anti-chevauchement ; Prisma pour les migrations et transactions ; S3 pour sortir les fichiers de la base ; Docker Compose pour la reproductibilite.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Nginx fournit un point d'entree unique. L'API verifie les droits avant tout acces aux donnees. Les fichiers passent par une URL signee temporaire, jamais par un acces public au stockage. Session : jeton court dans un cookie HttpOnly. Preciser que l'authentification Intradef reste simulee dans le prototype (limite a annoncer en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Cinq sprints numerotes, puis des iterations complementaires demandees par le client et demontrees aujourd'hui. Transition : Ces increments forment un parcours continu, que nous allons maintenant montrer.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30 + application] Raconter un seul scenario continu, dire l'objectif avant chaque action. Garder la derniere tache du Kanban pour illustrer la cloture automatique UNIQUEMENT si cette etape a ete repetee et fiabilisee. En cas d'echec : passer immediatement aux captures de secours (Annexe D) sans chercher la cause devant le jury.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Ces regles sont controlees cote API, pas seulement dans l'interface : masquer un bouton ne suffit pas, un contournement de l'ecran ne contourne pas le droit.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Chiffres a jour au commit c84e8af. Annoncer les limites clairement, sans les minimiser : connexion Intradef simulee, aucune fonction d'IA livree, reservation uniquement depuis le projet, suppression de compte = desactivation, sauvegardes et volumes encore a definir.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Presenter ces elements comme des pistes, pas comme des fonctions deja livrees. Rester realiste, ne pas promettre de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Phrase de synthese courte, remercier, ouvrir les questions. Rappeler qui repond en priorite : Nom 1 sur le besoin et l'equipe, Nom 2 sur la technique, Nom 3 sur l'experience utilisateur, Nom 4 sur les regles, tests et limites.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mobilisable uniquement si une question du jury le justifie ; ne compte pas dans les 18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mobilisable uniquement si une question du jury le justifie ; ne compte pas dans les 18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mobilisable uniquement si une question du jury le justifie ; ne compte pas dans les 18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mobilisable uniquement si une question du jury le justifie ; ne compte pas dans les 18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046"/>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300" b="1" spc="200" kern="0" dirty="0">
                <a:solidFill>
                  <a:srgbClr val="8FB0FF"/>
                </a:solidFill>
                <a:latin typeface="Calibri" pitchFamily="34" charset="0"/>
                <a:ea typeface="Calibri" pitchFamily="34" charset="-122"/>
                <a:cs typeface="Calibri" pitchFamily="34" charset="-120"/>
              </a:rPr>
              <a:t>PRÉSENTATION PROJET · WD12</a:t>
            </a:r>
            <a:endParaRPr lang="en-US" sz="1300" dirty="0"/>
          </a:p>
        </p:txBody>
      </p:sp>
      <p:sp>
        <p:nvSpPr>
          <p:cNvPr id="3" name="Text 1"/>
          <p:cNvSpPr txBox="1"/>
          <p:nvPr/>
        </p:nvSpPr>
        <p:spPr>
          <a:xfrm>
            <a:off x="548640" y="2286000"/>
            <a:ext cx="9144000" cy="146304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SUIVI</a:t>
            </a:r>
            <a:endParaRPr lang="en-US" sz="8000" dirty="0"/>
          </a:p>
        </p:txBody>
      </p:sp>
      <p:sp>
        <p:nvSpPr>
          <p:cNvPr id="4" name="Text 2"/>
          <p:cNvSpPr txBox="1"/>
          <p:nvPr/>
        </p:nvSpPr>
        <p:spPr>
          <a:xfrm>
            <a:off x="548640" y="3703320"/>
            <a:ext cx="9144000" cy="457200"/>
          </a:xfrm>
          <a:prstGeom prst="rect">
            <a:avLst/>
          </a:prstGeom>
          <a:noFill/>
          <a:ln/>
        </p:spPr>
        <p:txBody>
          <a:bodyPr wrap="square" lIns="0" tIns="0" rIns="0" bIns="0" rtlCol="0" anchor="ctr"/>
          <a:lstStyle/>
          <a:p>
            <a:pPr indent="0" marL="0">
              <a:buNone/>
            </a:pPr>
            <a:r>
              <a:rPr lang="en-US" sz="1800" i="1" dirty="0">
                <a:solidFill>
                  <a:srgbClr val="8FB0FF"/>
                </a:solidFill>
                <a:latin typeface="Calibri" pitchFamily="34" charset="0"/>
                <a:ea typeface="Calibri" pitchFamily="34" charset="-122"/>
                <a:cs typeface="Calibri" pitchFamily="34" charset="-120"/>
              </a:rPr>
              <a:t>Suivi des Usages, Inventaires, Vie des projets et IA</a:t>
            </a:r>
            <a:endParaRPr lang="en-US" sz="1800" dirty="0"/>
          </a:p>
        </p:txBody>
      </p:sp>
      <p:sp>
        <p:nvSpPr>
          <p:cNvPr id="5" name="Text 3"/>
          <p:cNvSpPr txBox="1"/>
          <p:nvPr/>
        </p:nvSpPr>
        <p:spPr>
          <a:xfrm>
            <a:off x="548640" y="4206240"/>
            <a:ext cx="8686800" cy="457200"/>
          </a:xfrm>
          <a:prstGeom prst="rect">
            <a:avLst/>
          </a:prstGeom>
          <a:noFill/>
          <a:ln/>
        </p:spPr>
        <p:txBody>
          <a:bodyPr wrap="square" lIns="0" tIns="0" rIns="0" bIns="0" rtlCol="0" anchor="ctr"/>
          <a:lstStyle/>
          <a:p>
            <a:pPr indent="0" marL="0">
              <a:buNone/>
            </a:pPr>
            <a:r>
              <a:rPr lang="en-US" sz="1400" dirty="0">
                <a:solidFill>
                  <a:srgbClr val="C7D3EA"/>
                </a:solidFill>
                <a:latin typeface="Calibri" pitchFamily="34" charset="0"/>
                <a:ea typeface="Calibri" pitchFamily="34" charset="-122"/>
                <a:cs typeface="Calibri" pitchFamily="34" charset="-120"/>
              </a:rPr>
              <a:t>L'application qui réunit l'inventaire, les projets et les réservations d'un laboratoire.</a:t>
            </a:r>
            <a:endParaRPr lang="en-US" sz="1400" dirty="0"/>
          </a:p>
        </p:txBody>
      </p:sp>
      <p:sp>
        <p:nvSpPr>
          <p:cNvPr id="6" name="Text 4"/>
          <p:cNvSpPr txBox="1"/>
          <p:nvPr/>
        </p:nvSpPr>
        <p:spPr>
          <a:xfrm>
            <a:off x="548640" y="5257800"/>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Nom 1  ·  Nom 2  ·  Nom 3  ·  Nom 4</a:t>
            </a:r>
            <a:endParaRPr lang="en-US" sz="1500" dirty="0"/>
          </a:p>
        </p:txBody>
      </p:sp>
      <p:sp>
        <p:nvSpPr>
          <p:cNvPr id="7" name="Text 5"/>
          <p:cNvSpPr txBox="1"/>
          <p:nvPr/>
        </p:nvSpPr>
        <p:spPr>
          <a:xfrm>
            <a:off x="548640" y="5623560"/>
            <a:ext cx="7315200" cy="320040"/>
          </a:xfrm>
          <a:prstGeom prst="rect">
            <a:avLst/>
          </a:prstGeom>
          <a:noFill/>
          <a:ln/>
        </p:spPr>
        <p:txBody>
          <a:bodyPr wrap="square" lIns="0" tIns="0" rIns="0" bIns="0" rtlCol="0" anchor="ctr"/>
          <a:lstStyle/>
          <a:p>
            <a:pPr indent="0" marL="0">
              <a:buNone/>
            </a:pPr>
            <a:r>
              <a:rPr lang="en-US" sz="1200" dirty="0">
                <a:solidFill>
                  <a:srgbClr val="8FA3CC"/>
                </a:solidFill>
                <a:latin typeface="Calibri" pitchFamily="34" charset="0"/>
                <a:ea typeface="Calibri" pitchFamily="34" charset="-122"/>
                <a:cs typeface="Calibri" pitchFamily="34" charset="-120"/>
              </a:rPr>
              <a:t>Lundi 5 octobre 2026</a:t>
            </a:r>
            <a:endParaRPr lang="en-US" sz="1200" dirty="0"/>
          </a:p>
        </p:txBody>
      </p:sp>
      <p:sp>
        <p:nvSpPr>
          <p:cNvPr id="8"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E7099"/>
                </a:solidFill>
                <a:latin typeface="Calibri" pitchFamily="34" charset="0"/>
                <a:ea typeface="Calibri" pitchFamily="34" charset="-122"/>
                <a:cs typeface="Calibri" pitchFamily="34" charset="-120"/>
              </a:rPr>
              <a:t>Version de démonstration : commit c84e8af · 1er octobre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CONTEXTE · NOM 1</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Trois questions que se pose le laboratoire</a:t>
            </a:r>
            <a:endParaRPr lang="en-US" sz="3000" dirty="0"/>
          </a:p>
        </p:txBody>
      </p:sp>
      <p:sp>
        <p:nvSpPr>
          <p:cNvPr id="4" name="Shape 2"/>
          <p:cNvSpPr/>
          <p:nvPr/>
        </p:nvSpPr>
        <p:spPr>
          <a:xfrm>
            <a:off x="548640" y="1874520"/>
            <a:ext cx="3429000" cy="2286000"/>
          </a:xfrm>
          <a:prstGeom prst="roundRect">
            <a:avLst>
              <a:gd name="adj" fmla="val 3200"/>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5" name="Shape 3"/>
          <p:cNvSpPr/>
          <p:nvPr/>
        </p:nvSpPr>
        <p:spPr>
          <a:xfrm>
            <a:off x="822960" y="2148840"/>
            <a:ext cx="502920" cy="502920"/>
          </a:xfrm>
          <a:prstGeom prst="ellipse">
            <a:avLst/>
          </a:prstGeom>
          <a:solidFill>
            <a:srgbClr val="2864E8"/>
          </a:solidFill>
          <a:ln/>
        </p:spPr>
      </p:sp>
      <p:sp>
        <p:nvSpPr>
          <p:cNvPr id="6" name="Text 4"/>
          <p:cNvSpPr txBox="1"/>
          <p:nvPr/>
        </p:nvSpPr>
        <p:spPr>
          <a:xfrm>
            <a:off x="822960" y="2148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822960" y="2788920"/>
            <a:ext cx="2880360" cy="640080"/>
          </a:xfrm>
          <a:prstGeom prst="rect">
            <a:avLst/>
          </a:prstGeom>
          <a:noFill/>
          <a:ln/>
        </p:spPr>
        <p:txBody>
          <a:bodyPr wrap="square" lIns="0" tIns="0" rIns="0" bIns="0" rtlCol="0" anchor="ctr"/>
          <a:lstStyle/>
          <a:p>
            <a:pPr indent="0" marL="0">
              <a:buNone/>
            </a:pPr>
            <a:r>
              <a:rPr lang="en-US" sz="1700" b="1" dirty="0">
                <a:solidFill>
                  <a:srgbClr val="0D2046"/>
                </a:solidFill>
                <a:latin typeface="Cambria" pitchFamily="34" charset="0"/>
                <a:ea typeface="Cambria" pitchFamily="34" charset="-122"/>
                <a:cs typeface="Cambria" pitchFamily="34" charset="-120"/>
              </a:rPr>
              <a:t>Où est ce matériel ?</a:t>
            </a:r>
            <a:endParaRPr lang="en-US" sz="1700" dirty="0"/>
          </a:p>
        </p:txBody>
      </p:sp>
      <p:sp>
        <p:nvSpPr>
          <p:cNvPr id="8" name="Text 6"/>
          <p:cNvSpPr txBox="1"/>
          <p:nvPr/>
        </p:nvSpPr>
        <p:spPr>
          <a:xfrm>
            <a:off x="822960" y="3383280"/>
            <a:ext cx="2880360" cy="731520"/>
          </a:xfrm>
          <a:prstGeom prst="rect">
            <a:avLst/>
          </a:prstGeom>
          <a:noFill/>
          <a:ln/>
        </p:spPr>
        <p:txBody>
          <a:bodyPr wrap="square" lIns="0" tIns="0" rIns="0" bIns="0" rtlCol="0" anchor="t"/>
          <a:lstStyle/>
          <a:p>
            <a:pPr indent="0" marL="0">
              <a:buNone/>
            </a:pPr>
            <a:r>
              <a:rPr lang="en-US" sz="1150" dirty="0">
                <a:solidFill>
                  <a:srgbClr val="66728A"/>
                </a:solidFill>
                <a:latin typeface="Calibri" pitchFamily="34" charset="0"/>
                <a:ea typeface="Calibri" pitchFamily="34" charset="-122"/>
                <a:cs typeface="Calibri" pitchFamily="34" charset="-120"/>
              </a:rPr>
              <a:t>Retrouver vite un appareil, ses références et ses documents : factures, bons de commande.</a:t>
            </a:r>
            <a:endParaRPr lang="en-US" sz="1150" dirty="0"/>
          </a:p>
        </p:txBody>
      </p:sp>
      <p:sp>
        <p:nvSpPr>
          <p:cNvPr id="9" name="Shape 7"/>
          <p:cNvSpPr/>
          <p:nvPr/>
        </p:nvSpPr>
        <p:spPr>
          <a:xfrm>
            <a:off x="4297680" y="1874520"/>
            <a:ext cx="3429000" cy="2286000"/>
          </a:xfrm>
          <a:prstGeom prst="roundRect">
            <a:avLst>
              <a:gd name="adj" fmla="val 3200"/>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0" name="Shape 8"/>
          <p:cNvSpPr/>
          <p:nvPr/>
        </p:nvSpPr>
        <p:spPr>
          <a:xfrm>
            <a:off x="4572000" y="2148840"/>
            <a:ext cx="502920" cy="502920"/>
          </a:xfrm>
          <a:prstGeom prst="ellipse">
            <a:avLst/>
          </a:prstGeom>
          <a:solidFill>
            <a:srgbClr val="078451"/>
          </a:solidFill>
          <a:ln/>
        </p:spPr>
      </p:sp>
      <p:sp>
        <p:nvSpPr>
          <p:cNvPr id="11" name="Text 9"/>
          <p:cNvSpPr txBox="1"/>
          <p:nvPr/>
        </p:nvSpPr>
        <p:spPr>
          <a:xfrm>
            <a:off x="4572000" y="2148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572000" y="2788920"/>
            <a:ext cx="2880360" cy="640080"/>
          </a:xfrm>
          <a:prstGeom prst="rect">
            <a:avLst/>
          </a:prstGeom>
          <a:noFill/>
          <a:ln/>
        </p:spPr>
        <p:txBody>
          <a:bodyPr wrap="square" lIns="0" tIns="0" rIns="0" bIns="0" rtlCol="0" anchor="ctr"/>
          <a:lstStyle/>
          <a:p>
            <a:pPr indent="0" marL="0">
              <a:buNone/>
            </a:pPr>
            <a:r>
              <a:rPr lang="en-US" sz="1700" b="1" dirty="0">
                <a:solidFill>
                  <a:srgbClr val="0D2046"/>
                </a:solidFill>
                <a:latin typeface="Cambria" pitchFamily="34" charset="0"/>
                <a:ea typeface="Cambria" pitchFamily="34" charset="-122"/>
                <a:cs typeface="Cambria" pitchFamily="34" charset="-120"/>
              </a:rPr>
              <a:t>Est-il libre jeudi ?</a:t>
            </a:r>
            <a:endParaRPr lang="en-US" sz="1700" dirty="0"/>
          </a:p>
        </p:txBody>
      </p:sp>
      <p:sp>
        <p:nvSpPr>
          <p:cNvPr id="13" name="Text 11"/>
          <p:cNvSpPr txBox="1"/>
          <p:nvPr/>
        </p:nvSpPr>
        <p:spPr>
          <a:xfrm>
            <a:off x="4572000" y="3383280"/>
            <a:ext cx="2880360" cy="731520"/>
          </a:xfrm>
          <a:prstGeom prst="rect">
            <a:avLst/>
          </a:prstGeom>
          <a:noFill/>
          <a:ln/>
        </p:spPr>
        <p:txBody>
          <a:bodyPr wrap="square" lIns="0" tIns="0" rIns="0" bIns="0" rtlCol="0" anchor="t"/>
          <a:lstStyle/>
          <a:p>
            <a:pPr indent="0" marL="0">
              <a:buNone/>
            </a:pPr>
            <a:r>
              <a:rPr lang="en-US" sz="1150" dirty="0">
                <a:solidFill>
                  <a:srgbClr val="66728A"/>
                </a:solidFill>
                <a:latin typeface="Calibri" pitchFamily="34" charset="0"/>
                <a:ea typeface="Calibri" pitchFamily="34" charset="-122"/>
                <a:cs typeface="Calibri" pitchFamily="34" charset="-120"/>
              </a:rPr>
              <a:t>Réserver un appareil pour un projet, sans risque de double réservation.</a:t>
            </a:r>
            <a:endParaRPr lang="en-US" sz="1150" dirty="0"/>
          </a:p>
        </p:txBody>
      </p:sp>
      <p:sp>
        <p:nvSpPr>
          <p:cNvPr id="14" name="Shape 12"/>
          <p:cNvSpPr/>
          <p:nvPr/>
        </p:nvSpPr>
        <p:spPr>
          <a:xfrm>
            <a:off x="8046720" y="1874520"/>
            <a:ext cx="3429000" cy="2286000"/>
          </a:xfrm>
          <a:prstGeom prst="roundRect">
            <a:avLst>
              <a:gd name="adj" fmla="val 3200"/>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5" name="Shape 13"/>
          <p:cNvSpPr/>
          <p:nvPr/>
        </p:nvSpPr>
        <p:spPr>
          <a:xfrm>
            <a:off x="8321040" y="2148840"/>
            <a:ext cx="502920" cy="502920"/>
          </a:xfrm>
          <a:prstGeom prst="ellipse">
            <a:avLst/>
          </a:prstGeom>
          <a:solidFill>
            <a:srgbClr val="7138D0"/>
          </a:solidFill>
          <a:ln/>
        </p:spPr>
      </p:sp>
      <p:sp>
        <p:nvSpPr>
          <p:cNvPr id="16" name="Text 14"/>
          <p:cNvSpPr txBox="1"/>
          <p:nvPr/>
        </p:nvSpPr>
        <p:spPr>
          <a:xfrm>
            <a:off x="8321040" y="2148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8321040" y="2788920"/>
            <a:ext cx="2880360" cy="640080"/>
          </a:xfrm>
          <a:prstGeom prst="rect">
            <a:avLst/>
          </a:prstGeom>
          <a:noFill/>
          <a:ln/>
        </p:spPr>
        <p:txBody>
          <a:bodyPr wrap="square" lIns="0" tIns="0" rIns="0" bIns="0" rtlCol="0" anchor="ctr"/>
          <a:lstStyle/>
          <a:p>
            <a:pPr indent="0" marL="0">
              <a:buNone/>
            </a:pPr>
            <a:r>
              <a:rPr lang="en-US" sz="1700" b="1" dirty="0">
                <a:solidFill>
                  <a:srgbClr val="0D2046"/>
                </a:solidFill>
                <a:latin typeface="Cambria" pitchFamily="34" charset="0"/>
                <a:ea typeface="Cambria" pitchFamily="34" charset="-122"/>
                <a:cs typeface="Cambria" pitchFamily="34" charset="-120"/>
              </a:rPr>
              <a:t>Qui a fait quoi ?</a:t>
            </a:r>
            <a:endParaRPr lang="en-US" sz="1700" dirty="0"/>
          </a:p>
        </p:txBody>
      </p:sp>
      <p:sp>
        <p:nvSpPr>
          <p:cNvPr id="18" name="Text 16"/>
          <p:cNvSpPr txBox="1"/>
          <p:nvPr/>
        </p:nvSpPr>
        <p:spPr>
          <a:xfrm>
            <a:off x="8321040" y="3383280"/>
            <a:ext cx="2880360" cy="731520"/>
          </a:xfrm>
          <a:prstGeom prst="rect">
            <a:avLst/>
          </a:prstGeom>
          <a:noFill/>
          <a:ln/>
        </p:spPr>
        <p:txBody>
          <a:bodyPr wrap="square" lIns="0" tIns="0" rIns="0" bIns="0" rtlCol="0" anchor="t"/>
          <a:lstStyle/>
          <a:p>
            <a:pPr indent="0" marL="0">
              <a:buNone/>
            </a:pPr>
            <a:r>
              <a:rPr lang="en-US" sz="1150" dirty="0">
                <a:solidFill>
                  <a:srgbClr val="66728A"/>
                </a:solidFill>
                <a:latin typeface="Calibri" pitchFamily="34" charset="0"/>
                <a:ea typeface="Calibri" pitchFamily="34" charset="-122"/>
                <a:cs typeface="Calibri" pitchFamily="34" charset="-120"/>
              </a:rPr>
              <a:t>Garder la trace des modifications, des réservations et de la vie des projets.</a:t>
            </a:r>
            <a:endParaRPr lang="en-US" sz="1150" dirty="0"/>
          </a:p>
        </p:txBody>
      </p:sp>
      <p:sp>
        <p:nvSpPr>
          <p:cNvPr id="19" name="Shape 17"/>
          <p:cNvSpPr/>
          <p:nvPr/>
        </p:nvSpPr>
        <p:spPr>
          <a:xfrm>
            <a:off x="548640" y="4526280"/>
            <a:ext cx="11094415" cy="1280160"/>
          </a:xfrm>
          <a:prstGeom prst="roundRect">
            <a:avLst>
              <a:gd name="adj" fmla="val 5714"/>
            </a:avLst>
          </a:prstGeom>
          <a:solidFill>
            <a:srgbClr val="0D2046"/>
          </a:solidFill>
          <a:ln/>
          <a:effectLst>
            <a:outerShdw sx="100000" sy="100000" kx="0" ky="0" algn="bl" rotWithShape="0" blurRad="127000" dist="38100" dir="5400000">
              <a:srgbClr val="1B2B4B">
                <a:alpha val="12000"/>
              </a:srgbClr>
            </a:outerShdw>
          </a:effectLst>
        </p:spPr>
      </p:sp>
      <p:sp>
        <p:nvSpPr>
          <p:cNvPr id="20" name="Text 18"/>
          <p:cNvSpPr txBox="1"/>
          <p:nvPr/>
        </p:nvSpPr>
        <p:spPr>
          <a:xfrm>
            <a:off x="914400" y="4526280"/>
            <a:ext cx="10362895" cy="12801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SUIVI réunit l'inventaire, les projets et les réservations </a:t>
            </a:r>
            <a:pPr indent="0" marL="0">
              <a:buNone/>
            </a:pPr>
            <a:r>
              <a:rPr lang="en-US" sz="1600" dirty="0">
                <a:solidFill>
                  <a:srgbClr val="C7D3EA"/>
                </a:solidFill>
                <a:latin typeface="Calibri" pitchFamily="34" charset="0"/>
                <a:ea typeface="Calibri" pitchFamily="34" charset="-122"/>
                <a:cs typeface="Calibri" pitchFamily="34" charset="-120"/>
              </a:rPr>
              <a:t>dans un seul outil, avec les bons droits pour chacun et une trace de tout.</a:t>
            </a:r>
            <a:endParaRPr lang="en-US" sz="1600" dirty="0"/>
          </a:p>
        </p:txBody>
      </p:sp>
      <p:sp>
        <p:nvSpPr>
          <p:cNvPr id="21" name="Text 19"/>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ÉQUIPE · NOM 1</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Quatre personnes, un rôle chacun</a:t>
            </a:r>
            <a:endParaRPr lang="en-US" sz="3000" dirty="0"/>
          </a:p>
        </p:txBody>
      </p:sp>
      <p:sp>
        <p:nvSpPr>
          <p:cNvPr id="4" name="Shape 2"/>
          <p:cNvSpPr/>
          <p:nvPr/>
        </p:nvSpPr>
        <p:spPr>
          <a:xfrm>
            <a:off x="548640" y="1874520"/>
            <a:ext cx="2542032" cy="3657600"/>
          </a:xfrm>
          <a:prstGeom prst="roundRect">
            <a:avLst>
              <a:gd name="adj" fmla="val 2878"/>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5" name="Shape 3"/>
          <p:cNvSpPr/>
          <p:nvPr/>
        </p:nvSpPr>
        <p:spPr>
          <a:xfrm>
            <a:off x="1476756" y="2194560"/>
            <a:ext cx="685800" cy="685800"/>
          </a:xfrm>
          <a:prstGeom prst="ellipse">
            <a:avLst/>
          </a:prstGeom>
          <a:solidFill>
            <a:srgbClr val="2864E8"/>
          </a:solidFill>
          <a:ln/>
        </p:spPr>
      </p:sp>
      <p:sp>
        <p:nvSpPr>
          <p:cNvPr id="6" name="Text 4"/>
          <p:cNvSpPr txBox="1"/>
          <p:nvPr/>
        </p:nvSpPr>
        <p:spPr>
          <a:xfrm>
            <a:off x="1476756" y="219456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685800" y="3063240"/>
            <a:ext cx="2267712" cy="365760"/>
          </a:xfrm>
          <a:prstGeom prst="rect">
            <a:avLst/>
          </a:prstGeom>
          <a:noFill/>
          <a:ln/>
        </p:spPr>
        <p:txBody>
          <a:bodyPr wrap="square" lIns="0" tIns="0" rIns="0" bIns="0" rtlCol="0" anchor="ctr"/>
          <a:lstStyle/>
          <a:p>
            <a:pPr algn="ctr" indent="0" marL="0">
              <a:buNone/>
            </a:pPr>
            <a:r>
              <a:rPr lang="en-US" sz="1600" b="1" dirty="0">
                <a:solidFill>
                  <a:srgbClr val="0D2046"/>
                </a:solidFill>
                <a:latin typeface="Cambria" pitchFamily="34" charset="0"/>
                <a:ea typeface="Cambria" pitchFamily="34" charset="-122"/>
                <a:cs typeface="Cambria" pitchFamily="34" charset="-120"/>
              </a:rPr>
              <a:t>Nom 1</a:t>
            </a:r>
            <a:endParaRPr lang="en-US" sz="1600" dirty="0"/>
          </a:p>
        </p:txBody>
      </p:sp>
      <p:sp>
        <p:nvSpPr>
          <p:cNvPr id="8" name="Text 6"/>
          <p:cNvSpPr txBox="1"/>
          <p:nvPr/>
        </p:nvSpPr>
        <p:spPr>
          <a:xfrm>
            <a:off x="685800" y="3474720"/>
            <a:ext cx="2267712" cy="320040"/>
          </a:xfrm>
          <a:prstGeom prst="rect">
            <a:avLst/>
          </a:prstGeom>
          <a:noFill/>
          <a:ln/>
        </p:spPr>
        <p:txBody>
          <a:bodyPr wrap="square" lIns="0" tIns="0" rIns="0" bIns="0" rtlCol="0" anchor="ctr"/>
          <a:lstStyle/>
          <a:p>
            <a:pPr algn="ctr" indent="0" marL="0">
              <a:buNone/>
            </a:pPr>
            <a:r>
              <a:rPr lang="en-US" sz="1050" i="1" dirty="0">
                <a:solidFill>
                  <a:srgbClr val="66728A"/>
                </a:solidFill>
                <a:latin typeface="Calibri" pitchFamily="34" charset="0"/>
                <a:ea typeface="Calibri" pitchFamily="34" charset="-122"/>
                <a:cs typeface="Calibri" pitchFamily="34" charset="-120"/>
              </a:rPr>
              <a:t>[Rôle dans le projet]</a:t>
            </a:r>
            <a:endParaRPr lang="en-US" sz="1050" dirty="0"/>
          </a:p>
        </p:txBody>
      </p:sp>
      <p:sp>
        <p:nvSpPr>
          <p:cNvPr id="9" name="Text 7"/>
          <p:cNvSpPr txBox="1"/>
          <p:nvPr/>
        </p:nvSpPr>
        <p:spPr>
          <a:xfrm>
            <a:off x="731520" y="3931920"/>
            <a:ext cx="2176272" cy="1005840"/>
          </a:xfrm>
          <a:prstGeom prst="rect">
            <a:avLst/>
          </a:prstGeom>
          <a:noFill/>
          <a:ln/>
        </p:spPr>
        <p:txBody>
          <a:bodyPr wrap="square" lIns="0" tIns="0" rIns="0" bIns="0" rtlCol="0" anchor="t"/>
          <a:lstStyle/>
          <a:p>
            <a:pPr algn="ctr" indent="0" marL="0">
              <a:buNone/>
            </a:pPr>
            <a:r>
              <a:rPr lang="en-US" sz="1000" dirty="0">
                <a:solidFill>
                  <a:srgbClr val="152033"/>
                </a:solidFill>
                <a:latin typeface="Calibri" pitchFamily="34" charset="0"/>
                <a:ea typeface="Calibri" pitchFamily="34" charset="-122"/>
                <a:cs typeface="Calibri" pitchFamily="34" charset="-120"/>
              </a:rPr>
              <a:t>[Une réalisation concrète, visible dans l'application]</a:t>
            </a:r>
            <a:endParaRPr lang="en-US" sz="1000" dirty="0"/>
          </a:p>
        </p:txBody>
      </p:sp>
      <p:sp>
        <p:nvSpPr>
          <p:cNvPr id="10" name="Shape 8"/>
          <p:cNvSpPr/>
          <p:nvPr/>
        </p:nvSpPr>
        <p:spPr>
          <a:xfrm>
            <a:off x="685800" y="5029200"/>
            <a:ext cx="2267712" cy="320040"/>
          </a:xfrm>
          <a:prstGeom prst="roundRect">
            <a:avLst>
              <a:gd name="adj" fmla="val 17143"/>
            </a:avLst>
          </a:prstGeom>
          <a:solidFill>
            <a:srgbClr val="2864E8"/>
          </a:solidFill>
          <a:ln/>
        </p:spPr>
      </p:sp>
      <p:sp>
        <p:nvSpPr>
          <p:cNvPr id="11" name="Text 9"/>
          <p:cNvSpPr txBox="1"/>
          <p:nvPr/>
        </p:nvSpPr>
        <p:spPr>
          <a:xfrm>
            <a:off x="685800" y="5029200"/>
            <a:ext cx="2267712"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Démo : acte 1, Gestionnaire</a:t>
            </a:r>
            <a:endParaRPr lang="en-US" sz="900" dirty="0"/>
          </a:p>
        </p:txBody>
      </p:sp>
      <p:sp>
        <p:nvSpPr>
          <p:cNvPr id="12" name="Shape 10"/>
          <p:cNvSpPr/>
          <p:nvPr/>
        </p:nvSpPr>
        <p:spPr>
          <a:xfrm>
            <a:off x="3346704" y="1874520"/>
            <a:ext cx="2542032" cy="3657600"/>
          </a:xfrm>
          <a:prstGeom prst="roundRect">
            <a:avLst>
              <a:gd name="adj" fmla="val 2878"/>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3" name="Shape 11"/>
          <p:cNvSpPr/>
          <p:nvPr/>
        </p:nvSpPr>
        <p:spPr>
          <a:xfrm>
            <a:off x="4274820" y="2194560"/>
            <a:ext cx="685800" cy="685800"/>
          </a:xfrm>
          <a:prstGeom prst="ellipse">
            <a:avLst/>
          </a:prstGeom>
          <a:solidFill>
            <a:srgbClr val="078451"/>
          </a:solidFill>
          <a:ln/>
        </p:spPr>
      </p:sp>
      <p:sp>
        <p:nvSpPr>
          <p:cNvPr id="14" name="Text 12"/>
          <p:cNvSpPr txBox="1"/>
          <p:nvPr/>
        </p:nvSpPr>
        <p:spPr>
          <a:xfrm>
            <a:off x="4274820" y="219456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3"/>
          <p:cNvSpPr txBox="1"/>
          <p:nvPr/>
        </p:nvSpPr>
        <p:spPr>
          <a:xfrm>
            <a:off x="3483864" y="3063240"/>
            <a:ext cx="2267712" cy="365760"/>
          </a:xfrm>
          <a:prstGeom prst="rect">
            <a:avLst/>
          </a:prstGeom>
          <a:noFill/>
          <a:ln/>
        </p:spPr>
        <p:txBody>
          <a:bodyPr wrap="square" lIns="0" tIns="0" rIns="0" bIns="0" rtlCol="0" anchor="ctr"/>
          <a:lstStyle/>
          <a:p>
            <a:pPr algn="ctr" indent="0" marL="0">
              <a:buNone/>
            </a:pPr>
            <a:r>
              <a:rPr lang="en-US" sz="1600" b="1" dirty="0">
                <a:solidFill>
                  <a:srgbClr val="0D2046"/>
                </a:solidFill>
                <a:latin typeface="Cambria" pitchFamily="34" charset="0"/>
                <a:ea typeface="Cambria" pitchFamily="34" charset="-122"/>
                <a:cs typeface="Cambria" pitchFamily="34" charset="-120"/>
              </a:rPr>
              <a:t>Nom 2</a:t>
            </a:r>
            <a:endParaRPr lang="en-US" sz="1600" dirty="0"/>
          </a:p>
        </p:txBody>
      </p:sp>
      <p:sp>
        <p:nvSpPr>
          <p:cNvPr id="16" name="Text 14"/>
          <p:cNvSpPr txBox="1"/>
          <p:nvPr/>
        </p:nvSpPr>
        <p:spPr>
          <a:xfrm>
            <a:off x="3483864" y="3474720"/>
            <a:ext cx="2267712" cy="320040"/>
          </a:xfrm>
          <a:prstGeom prst="rect">
            <a:avLst/>
          </a:prstGeom>
          <a:noFill/>
          <a:ln/>
        </p:spPr>
        <p:txBody>
          <a:bodyPr wrap="square" lIns="0" tIns="0" rIns="0" bIns="0" rtlCol="0" anchor="ctr"/>
          <a:lstStyle/>
          <a:p>
            <a:pPr algn="ctr" indent="0" marL="0">
              <a:buNone/>
            </a:pPr>
            <a:r>
              <a:rPr lang="en-US" sz="1050" i="1" dirty="0">
                <a:solidFill>
                  <a:srgbClr val="66728A"/>
                </a:solidFill>
                <a:latin typeface="Calibri" pitchFamily="34" charset="0"/>
                <a:ea typeface="Calibri" pitchFamily="34" charset="-122"/>
                <a:cs typeface="Calibri" pitchFamily="34" charset="-120"/>
              </a:rPr>
              <a:t>[Rôle dans le projet]</a:t>
            </a:r>
            <a:endParaRPr lang="en-US" sz="1050" dirty="0"/>
          </a:p>
        </p:txBody>
      </p:sp>
      <p:sp>
        <p:nvSpPr>
          <p:cNvPr id="17" name="Text 15"/>
          <p:cNvSpPr txBox="1"/>
          <p:nvPr/>
        </p:nvSpPr>
        <p:spPr>
          <a:xfrm>
            <a:off x="3529584" y="3931920"/>
            <a:ext cx="2176272" cy="1005840"/>
          </a:xfrm>
          <a:prstGeom prst="rect">
            <a:avLst/>
          </a:prstGeom>
          <a:noFill/>
          <a:ln/>
        </p:spPr>
        <p:txBody>
          <a:bodyPr wrap="square" lIns="0" tIns="0" rIns="0" bIns="0" rtlCol="0" anchor="t"/>
          <a:lstStyle/>
          <a:p>
            <a:pPr algn="ctr" indent="0" marL="0">
              <a:buNone/>
            </a:pPr>
            <a:r>
              <a:rPr lang="en-US" sz="1000" dirty="0">
                <a:solidFill>
                  <a:srgbClr val="152033"/>
                </a:solidFill>
                <a:latin typeface="Calibri" pitchFamily="34" charset="0"/>
                <a:ea typeface="Calibri" pitchFamily="34" charset="-122"/>
                <a:cs typeface="Calibri" pitchFamily="34" charset="-120"/>
              </a:rPr>
              <a:t>[Une réalisation concrète, visible dans l'application]</a:t>
            </a:r>
            <a:endParaRPr lang="en-US" sz="1000" dirty="0"/>
          </a:p>
        </p:txBody>
      </p:sp>
      <p:sp>
        <p:nvSpPr>
          <p:cNvPr id="18" name="Shape 16"/>
          <p:cNvSpPr/>
          <p:nvPr/>
        </p:nvSpPr>
        <p:spPr>
          <a:xfrm>
            <a:off x="3483864" y="5029200"/>
            <a:ext cx="2267712" cy="320040"/>
          </a:xfrm>
          <a:prstGeom prst="roundRect">
            <a:avLst>
              <a:gd name="adj" fmla="val 17143"/>
            </a:avLst>
          </a:prstGeom>
          <a:solidFill>
            <a:srgbClr val="078451"/>
          </a:solidFill>
          <a:ln/>
        </p:spPr>
      </p:sp>
      <p:sp>
        <p:nvSpPr>
          <p:cNvPr id="19" name="Text 17"/>
          <p:cNvSpPr txBox="1"/>
          <p:nvPr/>
        </p:nvSpPr>
        <p:spPr>
          <a:xfrm>
            <a:off x="3483864" y="5029200"/>
            <a:ext cx="2267712"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Démo : acte 2, Responsable</a:t>
            </a:r>
            <a:endParaRPr lang="en-US" sz="900" dirty="0"/>
          </a:p>
        </p:txBody>
      </p:sp>
      <p:sp>
        <p:nvSpPr>
          <p:cNvPr id="20" name="Shape 18"/>
          <p:cNvSpPr/>
          <p:nvPr/>
        </p:nvSpPr>
        <p:spPr>
          <a:xfrm>
            <a:off x="6144768" y="1874520"/>
            <a:ext cx="2542032" cy="3657600"/>
          </a:xfrm>
          <a:prstGeom prst="roundRect">
            <a:avLst>
              <a:gd name="adj" fmla="val 2878"/>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21" name="Shape 19"/>
          <p:cNvSpPr/>
          <p:nvPr/>
        </p:nvSpPr>
        <p:spPr>
          <a:xfrm>
            <a:off x="7072884" y="2194560"/>
            <a:ext cx="685800" cy="685800"/>
          </a:xfrm>
          <a:prstGeom prst="ellipse">
            <a:avLst/>
          </a:prstGeom>
          <a:solidFill>
            <a:srgbClr val="7138D0"/>
          </a:solidFill>
          <a:ln/>
        </p:spPr>
      </p:sp>
      <p:sp>
        <p:nvSpPr>
          <p:cNvPr id="22" name="Text 20"/>
          <p:cNvSpPr txBox="1"/>
          <p:nvPr/>
        </p:nvSpPr>
        <p:spPr>
          <a:xfrm>
            <a:off x="7072884" y="219456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3" name="Text 21"/>
          <p:cNvSpPr txBox="1"/>
          <p:nvPr/>
        </p:nvSpPr>
        <p:spPr>
          <a:xfrm>
            <a:off x="6281928" y="3063240"/>
            <a:ext cx="2267712" cy="365760"/>
          </a:xfrm>
          <a:prstGeom prst="rect">
            <a:avLst/>
          </a:prstGeom>
          <a:noFill/>
          <a:ln/>
        </p:spPr>
        <p:txBody>
          <a:bodyPr wrap="square" lIns="0" tIns="0" rIns="0" bIns="0" rtlCol="0" anchor="ctr"/>
          <a:lstStyle/>
          <a:p>
            <a:pPr algn="ctr" indent="0" marL="0">
              <a:buNone/>
            </a:pPr>
            <a:r>
              <a:rPr lang="en-US" sz="1600" b="1" dirty="0">
                <a:solidFill>
                  <a:srgbClr val="0D2046"/>
                </a:solidFill>
                <a:latin typeface="Cambria" pitchFamily="34" charset="0"/>
                <a:ea typeface="Cambria" pitchFamily="34" charset="-122"/>
                <a:cs typeface="Cambria" pitchFamily="34" charset="-120"/>
              </a:rPr>
              <a:t>Nom 3</a:t>
            </a:r>
            <a:endParaRPr lang="en-US" sz="1600" dirty="0"/>
          </a:p>
        </p:txBody>
      </p:sp>
      <p:sp>
        <p:nvSpPr>
          <p:cNvPr id="24" name="Text 22"/>
          <p:cNvSpPr txBox="1"/>
          <p:nvPr/>
        </p:nvSpPr>
        <p:spPr>
          <a:xfrm>
            <a:off x="6281928" y="3474720"/>
            <a:ext cx="2267712" cy="320040"/>
          </a:xfrm>
          <a:prstGeom prst="rect">
            <a:avLst/>
          </a:prstGeom>
          <a:noFill/>
          <a:ln/>
        </p:spPr>
        <p:txBody>
          <a:bodyPr wrap="square" lIns="0" tIns="0" rIns="0" bIns="0" rtlCol="0" anchor="ctr"/>
          <a:lstStyle/>
          <a:p>
            <a:pPr algn="ctr" indent="0" marL="0">
              <a:buNone/>
            </a:pPr>
            <a:r>
              <a:rPr lang="en-US" sz="1050" i="1" dirty="0">
                <a:solidFill>
                  <a:srgbClr val="66728A"/>
                </a:solidFill>
                <a:latin typeface="Calibri" pitchFamily="34" charset="0"/>
                <a:ea typeface="Calibri" pitchFamily="34" charset="-122"/>
                <a:cs typeface="Calibri" pitchFamily="34" charset="-120"/>
              </a:rPr>
              <a:t>[Rôle dans le projet]</a:t>
            </a:r>
            <a:endParaRPr lang="en-US" sz="1050" dirty="0"/>
          </a:p>
        </p:txBody>
      </p:sp>
      <p:sp>
        <p:nvSpPr>
          <p:cNvPr id="25" name="Text 23"/>
          <p:cNvSpPr txBox="1"/>
          <p:nvPr/>
        </p:nvSpPr>
        <p:spPr>
          <a:xfrm>
            <a:off x="6327648" y="3931920"/>
            <a:ext cx="2176272" cy="1005840"/>
          </a:xfrm>
          <a:prstGeom prst="rect">
            <a:avLst/>
          </a:prstGeom>
          <a:noFill/>
          <a:ln/>
        </p:spPr>
        <p:txBody>
          <a:bodyPr wrap="square" lIns="0" tIns="0" rIns="0" bIns="0" rtlCol="0" anchor="t"/>
          <a:lstStyle/>
          <a:p>
            <a:pPr algn="ctr" indent="0" marL="0">
              <a:buNone/>
            </a:pPr>
            <a:r>
              <a:rPr lang="en-US" sz="1000" dirty="0">
                <a:solidFill>
                  <a:srgbClr val="152033"/>
                </a:solidFill>
                <a:latin typeface="Calibri" pitchFamily="34" charset="0"/>
                <a:ea typeface="Calibri" pitchFamily="34" charset="-122"/>
                <a:cs typeface="Calibri" pitchFamily="34" charset="-120"/>
              </a:rPr>
              <a:t>[Une réalisation concrète, visible dans l'application]</a:t>
            </a:r>
            <a:endParaRPr lang="en-US" sz="1000" dirty="0"/>
          </a:p>
        </p:txBody>
      </p:sp>
      <p:sp>
        <p:nvSpPr>
          <p:cNvPr id="26" name="Shape 24"/>
          <p:cNvSpPr/>
          <p:nvPr/>
        </p:nvSpPr>
        <p:spPr>
          <a:xfrm>
            <a:off x="6281928" y="5029200"/>
            <a:ext cx="2267712" cy="320040"/>
          </a:xfrm>
          <a:prstGeom prst="roundRect">
            <a:avLst>
              <a:gd name="adj" fmla="val 17143"/>
            </a:avLst>
          </a:prstGeom>
          <a:solidFill>
            <a:srgbClr val="7138D0"/>
          </a:solidFill>
          <a:ln/>
        </p:spPr>
      </p:sp>
      <p:sp>
        <p:nvSpPr>
          <p:cNvPr id="27" name="Text 25"/>
          <p:cNvSpPr txBox="1"/>
          <p:nvPr/>
        </p:nvSpPr>
        <p:spPr>
          <a:xfrm>
            <a:off x="6281928" y="5029200"/>
            <a:ext cx="2267712"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Démo : acte 3, Membre</a:t>
            </a:r>
            <a:endParaRPr lang="en-US" sz="900" dirty="0"/>
          </a:p>
        </p:txBody>
      </p:sp>
      <p:sp>
        <p:nvSpPr>
          <p:cNvPr id="28" name="Shape 26"/>
          <p:cNvSpPr/>
          <p:nvPr/>
        </p:nvSpPr>
        <p:spPr>
          <a:xfrm>
            <a:off x="8942832" y="1874520"/>
            <a:ext cx="2542032" cy="3657600"/>
          </a:xfrm>
          <a:prstGeom prst="roundRect">
            <a:avLst>
              <a:gd name="adj" fmla="val 2878"/>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29" name="Shape 27"/>
          <p:cNvSpPr/>
          <p:nvPr/>
        </p:nvSpPr>
        <p:spPr>
          <a:xfrm>
            <a:off x="9870948" y="2194560"/>
            <a:ext cx="685800" cy="685800"/>
          </a:xfrm>
          <a:prstGeom prst="ellipse">
            <a:avLst/>
          </a:prstGeom>
          <a:solidFill>
            <a:srgbClr val="9B5A08"/>
          </a:solidFill>
          <a:ln/>
        </p:spPr>
      </p:sp>
      <p:sp>
        <p:nvSpPr>
          <p:cNvPr id="30" name="Text 28"/>
          <p:cNvSpPr txBox="1"/>
          <p:nvPr/>
        </p:nvSpPr>
        <p:spPr>
          <a:xfrm>
            <a:off x="9870948" y="219456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1" name="Text 29"/>
          <p:cNvSpPr txBox="1"/>
          <p:nvPr/>
        </p:nvSpPr>
        <p:spPr>
          <a:xfrm>
            <a:off x="9079992" y="3063240"/>
            <a:ext cx="2267712" cy="365760"/>
          </a:xfrm>
          <a:prstGeom prst="rect">
            <a:avLst/>
          </a:prstGeom>
          <a:noFill/>
          <a:ln/>
        </p:spPr>
        <p:txBody>
          <a:bodyPr wrap="square" lIns="0" tIns="0" rIns="0" bIns="0" rtlCol="0" anchor="ctr"/>
          <a:lstStyle/>
          <a:p>
            <a:pPr algn="ctr" indent="0" marL="0">
              <a:buNone/>
            </a:pPr>
            <a:r>
              <a:rPr lang="en-US" sz="1600" b="1" dirty="0">
                <a:solidFill>
                  <a:srgbClr val="0D2046"/>
                </a:solidFill>
                <a:latin typeface="Cambria" pitchFamily="34" charset="0"/>
                <a:ea typeface="Cambria" pitchFamily="34" charset="-122"/>
                <a:cs typeface="Cambria" pitchFamily="34" charset="-120"/>
              </a:rPr>
              <a:t>Nom 4</a:t>
            </a:r>
            <a:endParaRPr lang="en-US" sz="1600" dirty="0"/>
          </a:p>
        </p:txBody>
      </p:sp>
      <p:sp>
        <p:nvSpPr>
          <p:cNvPr id="32" name="Text 30"/>
          <p:cNvSpPr txBox="1"/>
          <p:nvPr/>
        </p:nvSpPr>
        <p:spPr>
          <a:xfrm>
            <a:off x="9079992" y="3474720"/>
            <a:ext cx="2267712" cy="320040"/>
          </a:xfrm>
          <a:prstGeom prst="rect">
            <a:avLst/>
          </a:prstGeom>
          <a:noFill/>
          <a:ln/>
        </p:spPr>
        <p:txBody>
          <a:bodyPr wrap="square" lIns="0" tIns="0" rIns="0" bIns="0" rtlCol="0" anchor="ctr"/>
          <a:lstStyle/>
          <a:p>
            <a:pPr algn="ctr" indent="0" marL="0">
              <a:buNone/>
            </a:pPr>
            <a:r>
              <a:rPr lang="en-US" sz="1050" i="1" dirty="0">
                <a:solidFill>
                  <a:srgbClr val="66728A"/>
                </a:solidFill>
                <a:latin typeface="Calibri" pitchFamily="34" charset="0"/>
                <a:ea typeface="Calibri" pitchFamily="34" charset="-122"/>
                <a:cs typeface="Calibri" pitchFamily="34" charset="-120"/>
              </a:rPr>
              <a:t>[Rôle dans le projet]</a:t>
            </a:r>
            <a:endParaRPr lang="en-US" sz="1050" dirty="0"/>
          </a:p>
        </p:txBody>
      </p:sp>
      <p:sp>
        <p:nvSpPr>
          <p:cNvPr id="33" name="Text 31"/>
          <p:cNvSpPr txBox="1"/>
          <p:nvPr/>
        </p:nvSpPr>
        <p:spPr>
          <a:xfrm>
            <a:off x="9125712" y="3931920"/>
            <a:ext cx="2176272" cy="1005840"/>
          </a:xfrm>
          <a:prstGeom prst="rect">
            <a:avLst/>
          </a:prstGeom>
          <a:noFill/>
          <a:ln/>
        </p:spPr>
        <p:txBody>
          <a:bodyPr wrap="square" lIns="0" tIns="0" rIns="0" bIns="0" rtlCol="0" anchor="t"/>
          <a:lstStyle/>
          <a:p>
            <a:pPr algn="ctr" indent="0" marL="0">
              <a:buNone/>
            </a:pPr>
            <a:r>
              <a:rPr lang="en-US" sz="1000" dirty="0">
                <a:solidFill>
                  <a:srgbClr val="152033"/>
                </a:solidFill>
                <a:latin typeface="Calibri" pitchFamily="34" charset="0"/>
                <a:ea typeface="Calibri" pitchFamily="34" charset="-122"/>
                <a:cs typeface="Calibri" pitchFamily="34" charset="-120"/>
              </a:rPr>
              <a:t>[Une réalisation concrète, visible dans l'application]</a:t>
            </a:r>
            <a:endParaRPr lang="en-US" sz="1000" dirty="0"/>
          </a:p>
        </p:txBody>
      </p:sp>
      <p:sp>
        <p:nvSpPr>
          <p:cNvPr id="34" name="Shape 32"/>
          <p:cNvSpPr/>
          <p:nvPr/>
        </p:nvSpPr>
        <p:spPr>
          <a:xfrm>
            <a:off x="9079992" y="5029200"/>
            <a:ext cx="2267712" cy="320040"/>
          </a:xfrm>
          <a:prstGeom prst="roundRect">
            <a:avLst>
              <a:gd name="adj" fmla="val 17143"/>
            </a:avLst>
          </a:prstGeom>
          <a:solidFill>
            <a:srgbClr val="9B5A08"/>
          </a:solidFill>
          <a:ln/>
        </p:spPr>
      </p:sp>
      <p:sp>
        <p:nvSpPr>
          <p:cNvPr id="35" name="Text 33"/>
          <p:cNvSpPr txBox="1"/>
          <p:nvPr/>
        </p:nvSpPr>
        <p:spPr>
          <a:xfrm>
            <a:off x="9079992" y="5029200"/>
            <a:ext cx="2267712"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Démo : acte 4, Administrateur</a:t>
            </a:r>
            <a:endParaRPr lang="en-US" sz="900" dirty="0"/>
          </a:p>
        </p:txBody>
      </p:sp>
      <p:sp>
        <p:nvSpPr>
          <p:cNvPr id="36" name="Text 34"/>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37" name="Text 3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LES PROFILS · NOM 1</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Trois profils, trois façons d'utiliser SUIVI</a:t>
            </a:r>
            <a:endParaRPr lang="en-US" sz="3000" dirty="0"/>
          </a:p>
        </p:txBody>
      </p:sp>
      <p:sp>
        <p:nvSpPr>
          <p:cNvPr id="4" name="Shape 2"/>
          <p:cNvSpPr/>
          <p:nvPr/>
        </p:nvSpPr>
        <p:spPr>
          <a:xfrm>
            <a:off x="548640" y="1828800"/>
            <a:ext cx="3429000" cy="3657600"/>
          </a:xfrm>
          <a:prstGeom prst="roundRect">
            <a:avLst>
              <a:gd name="adj" fmla="val 2133"/>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5" name="Shape 3"/>
          <p:cNvSpPr/>
          <p:nvPr/>
        </p:nvSpPr>
        <p:spPr>
          <a:xfrm>
            <a:off x="548640" y="1828800"/>
            <a:ext cx="3429000" cy="777240"/>
          </a:xfrm>
          <a:prstGeom prst="roundRect">
            <a:avLst>
              <a:gd name="adj" fmla="val 9412"/>
            </a:avLst>
          </a:prstGeom>
          <a:solidFill>
            <a:srgbClr val="2864E8"/>
          </a:solidFill>
          <a:ln/>
        </p:spPr>
      </p:sp>
      <p:sp>
        <p:nvSpPr>
          <p:cNvPr id="6" name="Shape 4"/>
          <p:cNvSpPr/>
          <p:nvPr/>
        </p:nvSpPr>
        <p:spPr>
          <a:xfrm>
            <a:off x="548640" y="2194560"/>
            <a:ext cx="3429000" cy="411480"/>
          </a:xfrm>
          <a:prstGeom prst="rect">
            <a:avLst/>
          </a:prstGeom>
          <a:solidFill>
            <a:srgbClr val="2864E8"/>
          </a:solidFill>
          <a:ln/>
        </p:spPr>
      </p:sp>
      <p:sp>
        <p:nvSpPr>
          <p:cNvPr id="7" name="Text 5"/>
          <p:cNvSpPr txBox="1"/>
          <p:nvPr/>
        </p:nvSpPr>
        <p:spPr>
          <a:xfrm>
            <a:off x="822960" y="1938528"/>
            <a:ext cx="2880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Administrateur</a:t>
            </a:r>
            <a:endParaRPr lang="en-US" sz="1700" dirty="0"/>
          </a:p>
        </p:txBody>
      </p:sp>
      <p:sp>
        <p:nvSpPr>
          <p:cNvPr id="8" name="Text 6"/>
          <p:cNvSpPr txBox="1"/>
          <p:nvPr/>
        </p:nvSpPr>
        <p:spPr>
          <a:xfrm>
            <a:off x="822960" y="2286000"/>
            <a:ext cx="288036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Un seul, compte prédéfini</a:t>
            </a:r>
            <a:endParaRPr lang="en-US" sz="1050" dirty="0"/>
          </a:p>
        </p:txBody>
      </p:sp>
      <p:sp>
        <p:nvSpPr>
          <p:cNvPr id="9" name="Text 7"/>
          <p:cNvSpPr txBox="1"/>
          <p:nvPr/>
        </p:nvSpPr>
        <p:spPr>
          <a:xfrm>
            <a:off x="822960" y="2834640"/>
            <a:ext cx="2880360" cy="237744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150" dirty="0">
                <a:solidFill>
                  <a:srgbClr val="152033"/>
                </a:solidFill>
                <a:latin typeface="Calibri" pitchFamily="34" charset="0"/>
                <a:ea typeface="Calibri" pitchFamily="34" charset="-122"/>
                <a:cs typeface="Calibri" pitchFamily="34" charset="-120"/>
              </a:rPr>
              <a:t>Gère toutes les données et tous les projets</a:t>
            </a:r>
            <a:endParaRPr lang="en-US" sz="1150" dirty="0"/>
          </a:p>
          <a:p>
            <a:pPr marL="177800" indent="-177800">
              <a:lnSpc>
                <a:spcPct val="110000"/>
              </a:lnSpc>
              <a:spcAft>
                <a:spcPts val="1000"/>
              </a:spcAft>
              <a:buSzPct val="100000"/>
              <a:buChar char="▪"/>
            </a:pPr>
            <a:r>
              <a:rPr lang="en-US" sz="1150" dirty="0">
                <a:solidFill>
                  <a:srgbClr val="152033"/>
                </a:solidFill>
                <a:latin typeface="Calibri" pitchFamily="34" charset="0"/>
                <a:ea typeface="Calibri" pitchFamily="34" charset="-122"/>
                <a:cs typeface="Calibri" pitchFamily="34" charset="-120"/>
              </a:rPr>
              <a:t>Voit les archives et les historiques</a:t>
            </a:r>
            <a:endParaRPr lang="en-US" sz="1150" dirty="0"/>
          </a:p>
          <a:p>
            <a:pPr marL="177800" indent="-177800">
              <a:lnSpc>
                <a:spcPct val="110000"/>
              </a:lnSpc>
              <a:spcAft>
                <a:spcPts val="1000"/>
              </a:spcAft>
              <a:buSzPct val="100000"/>
              <a:buChar char="▪"/>
            </a:pPr>
            <a:r>
              <a:rPr lang="en-US" sz="1150" dirty="0">
                <a:solidFill>
                  <a:srgbClr val="152033"/>
                </a:solidFill>
                <a:latin typeface="Calibri" pitchFamily="34" charset="0"/>
                <a:ea typeface="Calibri" pitchFamily="34" charset="-122"/>
                <a:cs typeface="Calibri" pitchFamily="34" charset="-120"/>
              </a:rPr>
              <a:t>Crée, modifie et désactive les comptes</a:t>
            </a:r>
            <a:endParaRPr lang="en-US" sz="1150" dirty="0"/>
          </a:p>
          <a:p>
            <a:pPr marL="177800" indent="-177800">
              <a:lnSpc>
                <a:spcPct val="110000"/>
              </a:lnSpc>
              <a:spcAft>
                <a:spcPts val="1000"/>
              </a:spcAft>
              <a:buSzPct val="100000"/>
              <a:buChar char="▪"/>
            </a:pPr>
            <a:r>
              <a:rPr lang="en-US" sz="1150" dirty="0">
                <a:solidFill>
                  <a:srgbClr val="152033"/>
                </a:solidFill>
                <a:latin typeface="Calibri" pitchFamily="34" charset="0"/>
                <a:ea typeface="Calibri" pitchFamily="34" charset="-122"/>
                <a:cs typeface="Calibri" pitchFamily="34" charset="-120"/>
              </a:rPr>
              <a:t>Change le rôle de n'importe quel compte</a:t>
            </a:r>
            <a:endParaRPr lang="en-US" sz="1150" dirty="0"/>
          </a:p>
        </p:txBody>
      </p:sp>
      <p:sp>
        <p:nvSpPr>
          <p:cNvPr id="10" name="Shape 8"/>
          <p:cNvSpPr/>
          <p:nvPr/>
        </p:nvSpPr>
        <p:spPr>
          <a:xfrm>
            <a:off x="4297680" y="1828800"/>
            <a:ext cx="3429000" cy="3657600"/>
          </a:xfrm>
          <a:prstGeom prst="roundRect">
            <a:avLst>
              <a:gd name="adj" fmla="val 2133"/>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1" name="Shape 9"/>
          <p:cNvSpPr/>
          <p:nvPr/>
        </p:nvSpPr>
        <p:spPr>
          <a:xfrm>
            <a:off x="4297680" y="1828800"/>
            <a:ext cx="3429000" cy="777240"/>
          </a:xfrm>
          <a:prstGeom prst="roundRect">
            <a:avLst>
              <a:gd name="adj" fmla="val 9412"/>
            </a:avLst>
          </a:prstGeom>
          <a:solidFill>
            <a:srgbClr val="9B5A08"/>
          </a:solidFill>
          <a:ln/>
        </p:spPr>
      </p:sp>
      <p:sp>
        <p:nvSpPr>
          <p:cNvPr id="12" name="Shape 10"/>
          <p:cNvSpPr/>
          <p:nvPr/>
        </p:nvSpPr>
        <p:spPr>
          <a:xfrm>
            <a:off x="4297680" y="2194560"/>
            <a:ext cx="3429000" cy="411480"/>
          </a:xfrm>
          <a:prstGeom prst="rect">
            <a:avLst/>
          </a:prstGeom>
          <a:solidFill>
            <a:srgbClr val="9B5A08"/>
          </a:solidFill>
          <a:ln/>
        </p:spPr>
      </p:sp>
      <p:sp>
        <p:nvSpPr>
          <p:cNvPr id="13" name="Text 11"/>
          <p:cNvSpPr txBox="1"/>
          <p:nvPr/>
        </p:nvSpPr>
        <p:spPr>
          <a:xfrm>
            <a:off x="4572000" y="1938528"/>
            <a:ext cx="2880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Gestionnaire</a:t>
            </a:r>
            <a:endParaRPr lang="en-US" sz="1700" dirty="0"/>
          </a:p>
        </p:txBody>
      </p:sp>
      <p:sp>
        <p:nvSpPr>
          <p:cNvPr id="14" name="Text 12"/>
          <p:cNvSpPr txBox="1"/>
          <p:nvPr/>
        </p:nvSpPr>
        <p:spPr>
          <a:xfrm>
            <a:off x="4572000" y="2286000"/>
            <a:ext cx="288036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Zéro ou un</a:t>
            </a:r>
            <a:endParaRPr lang="en-US" sz="1050" dirty="0"/>
          </a:p>
        </p:txBody>
      </p:sp>
      <p:sp>
        <p:nvSpPr>
          <p:cNvPr id="15" name="Text 13"/>
          <p:cNvSpPr txBox="1"/>
          <p:nvPr/>
        </p:nvSpPr>
        <p:spPr>
          <a:xfrm>
            <a:off x="4572000" y="2834640"/>
            <a:ext cx="2880360" cy="237744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150" dirty="0">
                <a:solidFill>
                  <a:srgbClr val="152033"/>
                </a:solidFill>
                <a:latin typeface="Calibri" pitchFamily="34" charset="0"/>
                <a:ea typeface="Calibri" pitchFamily="34" charset="-122"/>
                <a:cs typeface="Calibri" pitchFamily="34" charset="-120"/>
              </a:rPr>
              <a:t>Tient l'inventaire et les catégories</a:t>
            </a:r>
            <a:endParaRPr lang="en-US" sz="1150" dirty="0"/>
          </a:p>
          <a:p>
            <a:pPr marL="177800" indent="-177800">
              <a:lnSpc>
                <a:spcPct val="110000"/>
              </a:lnSpc>
              <a:spcAft>
                <a:spcPts val="1000"/>
              </a:spcAft>
              <a:buSzPct val="100000"/>
              <a:buChar char="▪"/>
            </a:pPr>
            <a:r>
              <a:rPr lang="en-US" sz="1150" dirty="0">
                <a:solidFill>
                  <a:srgbClr val="152033"/>
                </a:solidFill>
                <a:latin typeface="Calibri" pitchFamily="34" charset="0"/>
                <a:ea typeface="Calibri" pitchFamily="34" charset="-122"/>
                <a:cs typeface="Calibri" pitchFamily="34" charset="-120"/>
              </a:rPr>
              <a:t>Exporte l'inventaire en Excel ou PDF</a:t>
            </a:r>
            <a:endParaRPr lang="en-US" sz="1150" dirty="0"/>
          </a:p>
          <a:p>
            <a:pPr marL="177800" indent="-177800">
              <a:lnSpc>
                <a:spcPct val="110000"/>
              </a:lnSpc>
              <a:spcAft>
                <a:spcPts val="1000"/>
              </a:spcAft>
              <a:buSzPct val="100000"/>
              <a:buChar char="▪"/>
            </a:pPr>
            <a:r>
              <a:rPr lang="en-US" sz="1150" dirty="0">
                <a:solidFill>
                  <a:srgbClr val="152033"/>
                </a:solidFill>
                <a:latin typeface="Calibri" pitchFamily="34" charset="0"/>
                <a:ea typeface="Calibri" pitchFamily="34" charset="-122"/>
                <a:cs typeface="Calibri" pitchFamily="34" charset="-120"/>
              </a:rPr>
              <a:t>Traite les demandes de réapprovisionnement</a:t>
            </a:r>
            <a:endParaRPr lang="en-US" sz="1150" dirty="0"/>
          </a:p>
          <a:p>
            <a:pPr marL="177800" indent="-177800">
              <a:lnSpc>
                <a:spcPct val="110000"/>
              </a:lnSpc>
              <a:spcAft>
                <a:spcPts val="1000"/>
              </a:spcAft>
              <a:buSzPct val="100000"/>
              <a:buChar char="▪"/>
            </a:pPr>
            <a:r>
              <a:rPr lang="en-US" sz="1150" dirty="0">
                <a:solidFill>
                  <a:srgbClr val="152033"/>
                </a:solidFill>
                <a:latin typeface="Calibri" pitchFamily="34" charset="0"/>
                <a:ea typeface="Calibri" pitchFamily="34" charset="-122"/>
                <a:cs typeface="Calibri" pitchFamily="34" charset="-120"/>
              </a:rPr>
              <a:t>Aucun accès aux projets</a:t>
            </a:r>
            <a:endParaRPr lang="en-US" sz="1150" dirty="0"/>
          </a:p>
        </p:txBody>
      </p:sp>
      <p:sp>
        <p:nvSpPr>
          <p:cNvPr id="16" name="Shape 14"/>
          <p:cNvSpPr/>
          <p:nvPr/>
        </p:nvSpPr>
        <p:spPr>
          <a:xfrm>
            <a:off x="8046720" y="1828800"/>
            <a:ext cx="3429000" cy="3657600"/>
          </a:xfrm>
          <a:prstGeom prst="roundRect">
            <a:avLst>
              <a:gd name="adj" fmla="val 2133"/>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7" name="Shape 15"/>
          <p:cNvSpPr/>
          <p:nvPr/>
        </p:nvSpPr>
        <p:spPr>
          <a:xfrm>
            <a:off x="8046720" y="1828800"/>
            <a:ext cx="3429000" cy="777240"/>
          </a:xfrm>
          <a:prstGeom prst="roundRect">
            <a:avLst>
              <a:gd name="adj" fmla="val 9412"/>
            </a:avLst>
          </a:prstGeom>
          <a:solidFill>
            <a:srgbClr val="078451"/>
          </a:solidFill>
          <a:ln/>
        </p:spPr>
      </p:sp>
      <p:sp>
        <p:nvSpPr>
          <p:cNvPr id="18" name="Shape 16"/>
          <p:cNvSpPr/>
          <p:nvPr/>
        </p:nvSpPr>
        <p:spPr>
          <a:xfrm>
            <a:off x="8046720" y="2194560"/>
            <a:ext cx="3429000" cy="411480"/>
          </a:xfrm>
          <a:prstGeom prst="rect">
            <a:avLst/>
          </a:prstGeom>
          <a:solidFill>
            <a:srgbClr val="078451"/>
          </a:solidFill>
          <a:ln/>
        </p:spPr>
      </p:sp>
      <p:sp>
        <p:nvSpPr>
          <p:cNvPr id="19" name="Text 17"/>
          <p:cNvSpPr txBox="1"/>
          <p:nvPr/>
        </p:nvSpPr>
        <p:spPr>
          <a:xfrm>
            <a:off x="8321040" y="1938528"/>
            <a:ext cx="2880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Utilisateur</a:t>
            </a:r>
            <a:endParaRPr lang="en-US" sz="1700" dirty="0"/>
          </a:p>
        </p:txBody>
      </p:sp>
      <p:sp>
        <p:nvSpPr>
          <p:cNvPr id="20" name="Text 18"/>
          <p:cNvSpPr txBox="1"/>
          <p:nvPr/>
        </p:nvSpPr>
        <p:spPr>
          <a:xfrm>
            <a:off x="8321040" y="2286000"/>
            <a:ext cx="288036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Créé à sa première connexion</a:t>
            </a:r>
            <a:endParaRPr lang="en-US" sz="1050" dirty="0"/>
          </a:p>
        </p:txBody>
      </p:sp>
      <p:sp>
        <p:nvSpPr>
          <p:cNvPr id="21" name="Text 19"/>
          <p:cNvSpPr txBox="1"/>
          <p:nvPr/>
        </p:nvSpPr>
        <p:spPr>
          <a:xfrm>
            <a:off x="8321040" y="2834640"/>
            <a:ext cx="2880360" cy="237744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150" dirty="0">
                <a:solidFill>
                  <a:srgbClr val="152033"/>
                </a:solidFill>
                <a:latin typeface="Calibri" pitchFamily="34" charset="0"/>
                <a:ea typeface="Calibri" pitchFamily="34" charset="-122"/>
                <a:cs typeface="Calibri" pitchFamily="34" charset="-120"/>
              </a:rPr>
              <a:t>Consulte l'inventaire actif</a:t>
            </a:r>
            <a:endParaRPr lang="en-US" sz="1150" dirty="0"/>
          </a:p>
          <a:p>
            <a:pPr marL="177800" indent="-177800">
              <a:lnSpc>
                <a:spcPct val="110000"/>
              </a:lnSpc>
              <a:spcAft>
                <a:spcPts val="1000"/>
              </a:spcAft>
              <a:buSzPct val="100000"/>
              <a:buChar char="▪"/>
            </a:pPr>
            <a:r>
              <a:rPr lang="en-US" sz="1150" dirty="0">
                <a:solidFill>
                  <a:srgbClr val="152033"/>
                </a:solidFill>
                <a:latin typeface="Calibri" pitchFamily="34" charset="0"/>
                <a:ea typeface="Calibri" pitchFamily="34" charset="-122"/>
                <a:cs typeface="Calibri" pitchFamily="34" charset="-120"/>
              </a:rPr>
              <a:t>Crée des projets, réserve du matériel</a:t>
            </a:r>
            <a:endParaRPr lang="en-US" sz="1150" dirty="0"/>
          </a:p>
          <a:p>
            <a:pPr marL="177800" indent="-177800">
              <a:lnSpc>
                <a:spcPct val="110000"/>
              </a:lnSpc>
              <a:spcAft>
                <a:spcPts val="1000"/>
              </a:spcAft>
              <a:buSzPct val="100000"/>
              <a:buChar char="▪"/>
            </a:pPr>
            <a:r>
              <a:rPr lang="en-US" sz="1150" dirty="0">
                <a:solidFill>
                  <a:srgbClr val="152033"/>
                </a:solidFill>
                <a:latin typeface="Calibri" pitchFamily="34" charset="0"/>
                <a:ea typeface="Calibri" pitchFamily="34" charset="-122"/>
                <a:cs typeface="Calibri" pitchFamily="34" charset="-120"/>
              </a:rPr>
              <a:t>Signale une rupture de stock</a:t>
            </a:r>
            <a:endParaRPr lang="en-US" sz="1150" dirty="0"/>
          </a:p>
          <a:p>
            <a:pPr marL="177800" indent="-177800">
              <a:lnSpc>
                <a:spcPct val="110000"/>
              </a:lnSpc>
              <a:spcAft>
                <a:spcPts val="1000"/>
              </a:spcAft>
              <a:buSzPct val="100000"/>
              <a:buChar char="▪"/>
            </a:pPr>
            <a:r>
              <a:rPr lang="en-US" sz="1150" dirty="0">
                <a:solidFill>
                  <a:srgbClr val="152033"/>
                </a:solidFill>
                <a:latin typeface="Calibri" pitchFamily="34" charset="0"/>
                <a:ea typeface="Calibri" pitchFamily="34" charset="-122"/>
                <a:cs typeface="Calibri" pitchFamily="34" charset="-120"/>
              </a:rPr>
              <a:t>Selon le projet : responsable, membre ou simple</a:t>
            </a:r>
            <a:endParaRPr lang="en-US" sz="1150" dirty="0"/>
          </a:p>
        </p:txBody>
      </p:sp>
      <p:sp>
        <p:nvSpPr>
          <p:cNvPr id="22" name="Text 20"/>
          <p:cNvSpPr txBox="1"/>
          <p:nvPr/>
        </p:nvSpPr>
        <p:spPr>
          <a:xfrm>
            <a:off x="548640" y="5623560"/>
            <a:ext cx="11094415" cy="365760"/>
          </a:xfrm>
          <a:prstGeom prst="rect">
            <a:avLst/>
          </a:prstGeom>
          <a:noFill/>
          <a:ln/>
        </p:spPr>
        <p:txBody>
          <a:bodyPr wrap="square" lIns="0" tIns="0" rIns="0" bIns="0" rtlCol="0" anchor="ctr"/>
          <a:lstStyle/>
          <a:p>
            <a:pPr indent="0" marL="0">
              <a:buNone/>
            </a:pPr>
            <a:r>
              <a:rPr lang="en-US" sz="1250" b="1" dirty="0">
                <a:solidFill>
                  <a:srgbClr val="0D2046"/>
                </a:solidFill>
                <a:latin typeface="Calibri" pitchFamily="34" charset="0"/>
                <a:ea typeface="Calibri" pitchFamily="34" charset="-122"/>
                <a:cs typeface="Calibri" pitchFamily="34" charset="-120"/>
              </a:rPr>
              <a:t>Les droits sont vérifiés par l'API à chaque requête</a:t>
            </a:r>
            <a:pPr indent="0" marL="0">
              <a:buNone/>
            </a:pPr>
            <a:r>
              <a:rPr lang="en-US" sz="1250" dirty="0">
                <a:solidFill>
                  <a:srgbClr val="66728A"/>
                </a:solidFill>
                <a:latin typeface="Calibri" pitchFamily="34" charset="0"/>
                <a:ea typeface="Calibri" pitchFamily="34" charset="-122"/>
                <a:cs typeface="Calibri" pitchFamily="34" charset="-120"/>
              </a:rPr>
              <a:t> : cacher un bouton ne suffit pas.</a:t>
            </a:r>
            <a:endParaRPr lang="en-US" sz="1250" dirty="0"/>
          </a:p>
        </p:txBody>
      </p:sp>
      <p:sp>
        <p:nvSpPr>
          <p:cNvPr id="23" name="Text 21"/>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24" name="Text 2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TECHNOLOGIES · NOM 2</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Chaque choix répond à un besoin</a:t>
            </a:r>
            <a:endParaRPr lang="en-US" sz="3000" dirty="0"/>
          </a:p>
        </p:txBody>
      </p:sp>
      <p:sp>
        <p:nvSpPr>
          <p:cNvPr id="4" name="Shape 2"/>
          <p:cNvSpPr/>
          <p:nvPr/>
        </p:nvSpPr>
        <p:spPr>
          <a:xfrm>
            <a:off x="548640" y="1828800"/>
            <a:ext cx="5410048" cy="1261872"/>
          </a:xfrm>
          <a:prstGeom prst="roundRect">
            <a:avLst>
              <a:gd name="adj" fmla="val 5797"/>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5" name="Shape 3"/>
          <p:cNvSpPr/>
          <p:nvPr/>
        </p:nvSpPr>
        <p:spPr>
          <a:xfrm>
            <a:off x="749808" y="2029968"/>
            <a:ext cx="475488" cy="475488"/>
          </a:xfrm>
          <a:prstGeom prst="ellipse">
            <a:avLst/>
          </a:prstGeom>
          <a:solidFill>
            <a:srgbClr val="2864E8"/>
          </a:solidFill>
          <a:ln/>
        </p:spPr>
      </p:sp>
      <p:sp>
        <p:nvSpPr>
          <p:cNvPr id="6" name="Text 4"/>
          <p:cNvSpPr txBox="1"/>
          <p:nvPr/>
        </p:nvSpPr>
        <p:spPr>
          <a:xfrm>
            <a:off x="749808" y="20299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89888" y="1975104"/>
            <a:ext cx="4367632" cy="274320"/>
          </a:xfrm>
          <a:prstGeom prst="rect">
            <a:avLst/>
          </a:prstGeom>
          <a:noFill/>
          <a:ln/>
        </p:spPr>
        <p:txBody>
          <a:bodyPr wrap="square" lIns="0" tIns="0" rIns="0" bIns="0" rtlCol="0" anchor="ctr"/>
          <a:lstStyle/>
          <a:p>
            <a:pPr indent="0" marL="0">
              <a:buNone/>
            </a:pPr>
            <a:r>
              <a:rPr lang="en-US" sz="950" b="1" spc="100" kern="0" dirty="0">
                <a:solidFill>
                  <a:srgbClr val="2864E8"/>
                </a:solidFill>
                <a:latin typeface="Calibri" pitchFamily="34" charset="0"/>
                <a:ea typeface="Calibri" pitchFamily="34" charset="-122"/>
                <a:cs typeface="Calibri" pitchFamily="34" charset="-120"/>
              </a:rPr>
              <a:t>INTERFACE</a:t>
            </a:r>
            <a:endParaRPr lang="en-US" sz="950" dirty="0"/>
          </a:p>
        </p:txBody>
      </p:sp>
      <p:sp>
        <p:nvSpPr>
          <p:cNvPr id="8" name="Text 6"/>
          <p:cNvSpPr txBox="1"/>
          <p:nvPr/>
        </p:nvSpPr>
        <p:spPr>
          <a:xfrm>
            <a:off x="1389888" y="2212848"/>
            <a:ext cx="4367632" cy="320040"/>
          </a:xfrm>
          <a:prstGeom prst="rect">
            <a:avLst/>
          </a:prstGeom>
          <a:noFill/>
          <a:ln/>
        </p:spPr>
        <p:txBody>
          <a:bodyPr wrap="square" lIns="0" tIns="0" rIns="0" bIns="0" rtlCol="0" anchor="ctr"/>
          <a:lstStyle/>
          <a:p>
            <a:pPr indent="0" marL="0">
              <a:buNone/>
            </a:pPr>
            <a:r>
              <a:rPr lang="en-US" sz="1450" b="1" dirty="0">
                <a:solidFill>
                  <a:srgbClr val="0D2046"/>
                </a:solidFill>
                <a:latin typeface="Cambria" pitchFamily="34" charset="0"/>
                <a:ea typeface="Cambria" pitchFamily="34" charset="-122"/>
                <a:cs typeface="Cambria" pitchFamily="34" charset="-120"/>
              </a:rPr>
              <a:t>Vue 3 + Vite</a:t>
            </a:r>
            <a:endParaRPr lang="en-US" sz="1450" dirty="0"/>
          </a:p>
        </p:txBody>
      </p:sp>
      <p:sp>
        <p:nvSpPr>
          <p:cNvPr id="9" name="Text 7"/>
          <p:cNvSpPr txBox="1"/>
          <p:nvPr/>
        </p:nvSpPr>
        <p:spPr>
          <a:xfrm>
            <a:off x="1389888" y="2542032"/>
            <a:ext cx="4367632" cy="502920"/>
          </a:xfrm>
          <a:prstGeom prst="rect">
            <a:avLst/>
          </a:prstGeom>
          <a:noFill/>
          <a:ln/>
        </p:spPr>
        <p:txBody>
          <a:bodyPr wrap="square" lIns="0" tIns="0" rIns="0" bIns="0" rtlCol="0" anchor="t"/>
          <a:lstStyle/>
          <a:p>
            <a:pPr indent="0" marL="0">
              <a:buNone/>
            </a:pPr>
            <a:r>
              <a:rPr lang="en-US" sz="1000" dirty="0">
                <a:solidFill>
                  <a:srgbClr val="66728A"/>
                </a:solidFill>
                <a:latin typeface="Calibri" pitchFamily="34" charset="0"/>
                <a:ea typeface="Calibri" pitchFamily="34" charset="-122"/>
                <a:cs typeface="Calibri" pitchFamily="34" charset="-120"/>
              </a:rPr>
              <a:t>Tableaux, Kanban, pages dédiées : des écrans qui changent selon le profil.</a:t>
            </a:r>
            <a:endParaRPr lang="en-US" sz="1000" dirty="0"/>
          </a:p>
        </p:txBody>
      </p:sp>
      <p:sp>
        <p:nvSpPr>
          <p:cNvPr id="10" name="Shape 8"/>
          <p:cNvSpPr/>
          <p:nvPr/>
        </p:nvSpPr>
        <p:spPr>
          <a:xfrm>
            <a:off x="6233008" y="1828800"/>
            <a:ext cx="5410048" cy="1261872"/>
          </a:xfrm>
          <a:prstGeom prst="roundRect">
            <a:avLst>
              <a:gd name="adj" fmla="val 5797"/>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1" name="Shape 9"/>
          <p:cNvSpPr/>
          <p:nvPr/>
        </p:nvSpPr>
        <p:spPr>
          <a:xfrm>
            <a:off x="6434176" y="2029968"/>
            <a:ext cx="475488" cy="475488"/>
          </a:xfrm>
          <a:prstGeom prst="ellipse">
            <a:avLst/>
          </a:prstGeom>
          <a:solidFill>
            <a:srgbClr val="078451"/>
          </a:solidFill>
          <a:ln/>
        </p:spPr>
      </p:sp>
      <p:sp>
        <p:nvSpPr>
          <p:cNvPr id="12" name="Text 10"/>
          <p:cNvSpPr txBox="1"/>
          <p:nvPr/>
        </p:nvSpPr>
        <p:spPr>
          <a:xfrm>
            <a:off x="6434176" y="20299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7074256" y="1975104"/>
            <a:ext cx="4367632" cy="274320"/>
          </a:xfrm>
          <a:prstGeom prst="rect">
            <a:avLst/>
          </a:prstGeom>
          <a:noFill/>
          <a:ln/>
        </p:spPr>
        <p:txBody>
          <a:bodyPr wrap="square" lIns="0" tIns="0" rIns="0" bIns="0" rtlCol="0" anchor="ctr"/>
          <a:lstStyle/>
          <a:p>
            <a:pPr indent="0" marL="0">
              <a:buNone/>
            </a:pPr>
            <a:r>
              <a:rPr lang="en-US" sz="950" b="1" spc="100" kern="0" dirty="0">
                <a:solidFill>
                  <a:srgbClr val="078451"/>
                </a:solidFill>
                <a:latin typeface="Calibri" pitchFamily="34" charset="0"/>
                <a:ea typeface="Calibri" pitchFamily="34" charset="-122"/>
                <a:cs typeface="Calibri" pitchFamily="34" charset="-120"/>
              </a:rPr>
              <a:t>API</a:t>
            </a:r>
            <a:endParaRPr lang="en-US" sz="950" dirty="0"/>
          </a:p>
        </p:txBody>
      </p:sp>
      <p:sp>
        <p:nvSpPr>
          <p:cNvPr id="14" name="Text 12"/>
          <p:cNvSpPr txBox="1"/>
          <p:nvPr/>
        </p:nvSpPr>
        <p:spPr>
          <a:xfrm>
            <a:off x="7074256" y="2212848"/>
            <a:ext cx="4367632" cy="320040"/>
          </a:xfrm>
          <a:prstGeom prst="rect">
            <a:avLst/>
          </a:prstGeom>
          <a:noFill/>
          <a:ln/>
        </p:spPr>
        <p:txBody>
          <a:bodyPr wrap="square" lIns="0" tIns="0" rIns="0" bIns="0" rtlCol="0" anchor="ctr"/>
          <a:lstStyle/>
          <a:p>
            <a:pPr indent="0" marL="0">
              <a:buNone/>
            </a:pPr>
            <a:r>
              <a:rPr lang="en-US" sz="1450" b="1" dirty="0">
                <a:solidFill>
                  <a:srgbClr val="0D2046"/>
                </a:solidFill>
                <a:latin typeface="Cambria" pitchFamily="34" charset="0"/>
                <a:ea typeface="Cambria" pitchFamily="34" charset="-122"/>
                <a:cs typeface="Cambria" pitchFamily="34" charset="-120"/>
              </a:rPr>
              <a:t>Express 5 · Node.js 24</a:t>
            </a:r>
            <a:endParaRPr lang="en-US" sz="1450" dirty="0"/>
          </a:p>
        </p:txBody>
      </p:sp>
      <p:sp>
        <p:nvSpPr>
          <p:cNvPr id="15" name="Text 13"/>
          <p:cNvSpPr txBox="1"/>
          <p:nvPr/>
        </p:nvSpPr>
        <p:spPr>
          <a:xfrm>
            <a:off x="7074256" y="2542032"/>
            <a:ext cx="4367632" cy="502920"/>
          </a:xfrm>
          <a:prstGeom prst="rect">
            <a:avLst/>
          </a:prstGeom>
          <a:noFill/>
          <a:ln/>
        </p:spPr>
        <p:txBody>
          <a:bodyPr wrap="square" lIns="0" tIns="0" rIns="0" bIns="0" rtlCol="0" anchor="t"/>
          <a:lstStyle/>
          <a:p>
            <a:pPr indent="0" marL="0">
              <a:buNone/>
            </a:pPr>
            <a:r>
              <a:rPr lang="en-US" sz="1000" dirty="0">
                <a:solidFill>
                  <a:srgbClr val="66728A"/>
                </a:solidFill>
                <a:latin typeface="Calibri" pitchFamily="34" charset="0"/>
                <a:ea typeface="Calibri" pitchFamily="34" charset="-122"/>
                <a:cs typeface="Calibri" pitchFamily="34" charset="-120"/>
              </a:rPr>
              <a:t>Un seul endroit où tous les droits sont vérifiés.</a:t>
            </a:r>
            <a:endParaRPr lang="en-US" sz="1000" dirty="0"/>
          </a:p>
        </p:txBody>
      </p:sp>
      <p:sp>
        <p:nvSpPr>
          <p:cNvPr id="16" name="Shape 14"/>
          <p:cNvSpPr/>
          <p:nvPr/>
        </p:nvSpPr>
        <p:spPr>
          <a:xfrm>
            <a:off x="548640" y="3255264"/>
            <a:ext cx="5410048" cy="1261872"/>
          </a:xfrm>
          <a:prstGeom prst="roundRect">
            <a:avLst>
              <a:gd name="adj" fmla="val 5797"/>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7" name="Shape 15"/>
          <p:cNvSpPr/>
          <p:nvPr/>
        </p:nvSpPr>
        <p:spPr>
          <a:xfrm>
            <a:off x="749808" y="3456432"/>
            <a:ext cx="475488" cy="475488"/>
          </a:xfrm>
          <a:prstGeom prst="ellipse">
            <a:avLst/>
          </a:prstGeom>
          <a:solidFill>
            <a:srgbClr val="7138D0"/>
          </a:solidFill>
          <a:ln/>
        </p:spPr>
      </p:sp>
      <p:sp>
        <p:nvSpPr>
          <p:cNvPr id="18" name="Text 16"/>
          <p:cNvSpPr txBox="1"/>
          <p:nvPr/>
        </p:nvSpPr>
        <p:spPr>
          <a:xfrm>
            <a:off x="749808" y="345643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389888" y="3401568"/>
            <a:ext cx="4367632" cy="274320"/>
          </a:xfrm>
          <a:prstGeom prst="rect">
            <a:avLst/>
          </a:prstGeom>
          <a:noFill/>
          <a:ln/>
        </p:spPr>
        <p:txBody>
          <a:bodyPr wrap="square" lIns="0" tIns="0" rIns="0" bIns="0" rtlCol="0" anchor="ctr"/>
          <a:lstStyle/>
          <a:p>
            <a:pPr indent="0" marL="0">
              <a:buNone/>
            </a:pPr>
            <a:r>
              <a:rPr lang="en-US" sz="950" b="1" spc="100" kern="0" dirty="0">
                <a:solidFill>
                  <a:srgbClr val="7138D0"/>
                </a:solidFill>
                <a:latin typeface="Calibri" pitchFamily="34" charset="0"/>
                <a:ea typeface="Calibri" pitchFamily="34" charset="-122"/>
                <a:cs typeface="Calibri" pitchFamily="34" charset="-120"/>
              </a:rPr>
              <a:t>DONNÉES</a:t>
            </a:r>
            <a:endParaRPr lang="en-US" sz="950" dirty="0"/>
          </a:p>
        </p:txBody>
      </p:sp>
      <p:sp>
        <p:nvSpPr>
          <p:cNvPr id="20" name="Text 18"/>
          <p:cNvSpPr txBox="1"/>
          <p:nvPr/>
        </p:nvSpPr>
        <p:spPr>
          <a:xfrm>
            <a:off x="1389888" y="3639312"/>
            <a:ext cx="4367632" cy="320040"/>
          </a:xfrm>
          <a:prstGeom prst="rect">
            <a:avLst/>
          </a:prstGeom>
          <a:noFill/>
          <a:ln/>
        </p:spPr>
        <p:txBody>
          <a:bodyPr wrap="square" lIns="0" tIns="0" rIns="0" bIns="0" rtlCol="0" anchor="ctr"/>
          <a:lstStyle/>
          <a:p>
            <a:pPr indent="0" marL="0">
              <a:buNone/>
            </a:pPr>
            <a:r>
              <a:rPr lang="en-US" sz="1450" b="1" dirty="0">
                <a:solidFill>
                  <a:srgbClr val="0D2046"/>
                </a:solidFill>
                <a:latin typeface="Cambria" pitchFamily="34" charset="0"/>
                <a:ea typeface="Cambria" pitchFamily="34" charset="-122"/>
                <a:cs typeface="Cambria" pitchFamily="34" charset="-120"/>
              </a:rPr>
              <a:t>PostgreSQL 17</a:t>
            </a:r>
            <a:endParaRPr lang="en-US" sz="1450" dirty="0"/>
          </a:p>
        </p:txBody>
      </p:sp>
      <p:sp>
        <p:nvSpPr>
          <p:cNvPr id="21" name="Text 19"/>
          <p:cNvSpPr txBox="1"/>
          <p:nvPr/>
        </p:nvSpPr>
        <p:spPr>
          <a:xfrm>
            <a:off x="1389888" y="3968496"/>
            <a:ext cx="4367632" cy="502920"/>
          </a:xfrm>
          <a:prstGeom prst="rect">
            <a:avLst/>
          </a:prstGeom>
          <a:noFill/>
          <a:ln/>
        </p:spPr>
        <p:txBody>
          <a:bodyPr wrap="square" lIns="0" tIns="0" rIns="0" bIns="0" rtlCol="0" anchor="t"/>
          <a:lstStyle/>
          <a:p>
            <a:pPr indent="0" marL="0">
              <a:buNone/>
            </a:pPr>
            <a:r>
              <a:rPr lang="en-US" sz="1000" dirty="0">
                <a:solidFill>
                  <a:srgbClr val="66728A"/>
                </a:solidFill>
                <a:latin typeface="Calibri" pitchFamily="34" charset="0"/>
                <a:ea typeface="Calibri" pitchFamily="34" charset="-122"/>
                <a:cs typeface="Calibri" pitchFamily="34" charset="-120"/>
              </a:rPr>
              <a:t>Des données très liées, et une base qui bloque elle-même les doubles réservations.</a:t>
            </a:r>
            <a:endParaRPr lang="en-US" sz="1000" dirty="0"/>
          </a:p>
        </p:txBody>
      </p:sp>
      <p:sp>
        <p:nvSpPr>
          <p:cNvPr id="22" name="Shape 20"/>
          <p:cNvSpPr/>
          <p:nvPr/>
        </p:nvSpPr>
        <p:spPr>
          <a:xfrm>
            <a:off x="6233008" y="3255264"/>
            <a:ext cx="5410048" cy="1261872"/>
          </a:xfrm>
          <a:prstGeom prst="roundRect">
            <a:avLst>
              <a:gd name="adj" fmla="val 5797"/>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23" name="Shape 21"/>
          <p:cNvSpPr/>
          <p:nvPr/>
        </p:nvSpPr>
        <p:spPr>
          <a:xfrm>
            <a:off x="6434176" y="3456432"/>
            <a:ext cx="475488" cy="475488"/>
          </a:xfrm>
          <a:prstGeom prst="ellipse">
            <a:avLst/>
          </a:prstGeom>
          <a:solidFill>
            <a:srgbClr val="9B5A08"/>
          </a:solidFill>
          <a:ln/>
        </p:spPr>
      </p:sp>
      <p:sp>
        <p:nvSpPr>
          <p:cNvPr id="24" name="Text 22"/>
          <p:cNvSpPr txBox="1"/>
          <p:nvPr/>
        </p:nvSpPr>
        <p:spPr>
          <a:xfrm>
            <a:off x="6434176" y="345643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7074256" y="3401568"/>
            <a:ext cx="4367632" cy="274320"/>
          </a:xfrm>
          <a:prstGeom prst="rect">
            <a:avLst/>
          </a:prstGeom>
          <a:noFill/>
          <a:ln/>
        </p:spPr>
        <p:txBody>
          <a:bodyPr wrap="square" lIns="0" tIns="0" rIns="0" bIns="0" rtlCol="0" anchor="ctr"/>
          <a:lstStyle/>
          <a:p>
            <a:pPr indent="0" marL="0">
              <a:buNone/>
            </a:pPr>
            <a:r>
              <a:rPr lang="en-US" sz="950" b="1" spc="100" kern="0" dirty="0">
                <a:solidFill>
                  <a:srgbClr val="9B5A08"/>
                </a:solidFill>
                <a:latin typeface="Calibri" pitchFamily="34" charset="0"/>
                <a:ea typeface="Calibri" pitchFamily="34" charset="-122"/>
                <a:cs typeface="Calibri" pitchFamily="34" charset="-120"/>
              </a:rPr>
              <a:t>ACCÈS AUX DONNÉES</a:t>
            </a:r>
            <a:endParaRPr lang="en-US" sz="950" dirty="0"/>
          </a:p>
        </p:txBody>
      </p:sp>
      <p:sp>
        <p:nvSpPr>
          <p:cNvPr id="26" name="Text 24"/>
          <p:cNvSpPr txBox="1"/>
          <p:nvPr/>
        </p:nvSpPr>
        <p:spPr>
          <a:xfrm>
            <a:off x="7074256" y="3639312"/>
            <a:ext cx="4367632" cy="320040"/>
          </a:xfrm>
          <a:prstGeom prst="rect">
            <a:avLst/>
          </a:prstGeom>
          <a:noFill/>
          <a:ln/>
        </p:spPr>
        <p:txBody>
          <a:bodyPr wrap="square" lIns="0" tIns="0" rIns="0" bIns="0" rtlCol="0" anchor="ctr"/>
          <a:lstStyle/>
          <a:p>
            <a:pPr indent="0" marL="0">
              <a:buNone/>
            </a:pPr>
            <a:r>
              <a:rPr lang="en-US" sz="1450" b="1" dirty="0">
                <a:solidFill>
                  <a:srgbClr val="0D2046"/>
                </a:solidFill>
                <a:latin typeface="Cambria" pitchFamily="34" charset="0"/>
                <a:ea typeface="Cambria" pitchFamily="34" charset="-122"/>
                <a:cs typeface="Cambria" pitchFamily="34" charset="-120"/>
              </a:rPr>
              <a:t>Prisma 7</a:t>
            </a:r>
            <a:endParaRPr lang="en-US" sz="1450" dirty="0"/>
          </a:p>
        </p:txBody>
      </p:sp>
      <p:sp>
        <p:nvSpPr>
          <p:cNvPr id="27" name="Text 25"/>
          <p:cNvSpPr txBox="1"/>
          <p:nvPr/>
        </p:nvSpPr>
        <p:spPr>
          <a:xfrm>
            <a:off x="7074256" y="3968496"/>
            <a:ext cx="4367632" cy="502920"/>
          </a:xfrm>
          <a:prstGeom prst="rect">
            <a:avLst/>
          </a:prstGeom>
          <a:noFill/>
          <a:ln/>
        </p:spPr>
        <p:txBody>
          <a:bodyPr wrap="square" lIns="0" tIns="0" rIns="0" bIns="0" rtlCol="0" anchor="t"/>
          <a:lstStyle/>
          <a:p>
            <a:pPr indent="0" marL="0">
              <a:buNone/>
            </a:pPr>
            <a:r>
              <a:rPr lang="en-US" sz="1000" dirty="0">
                <a:solidFill>
                  <a:srgbClr val="66728A"/>
                </a:solidFill>
                <a:latin typeface="Calibri" pitchFamily="34" charset="0"/>
                <a:ea typeface="Calibri" pitchFamily="34" charset="-122"/>
                <a:cs typeface="Calibri" pitchFamily="34" charset="-120"/>
              </a:rPr>
              <a:t>Un modèle central, des migrations versionnées, des transactions.</a:t>
            </a:r>
            <a:endParaRPr lang="en-US" sz="1000" dirty="0"/>
          </a:p>
        </p:txBody>
      </p:sp>
      <p:sp>
        <p:nvSpPr>
          <p:cNvPr id="28" name="Shape 26"/>
          <p:cNvSpPr/>
          <p:nvPr/>
        </p:nvSpPr>
        <p:spPr>
          <a:xfrm>
            <a:off x="548640" y="4681728"/>
            <a:ext cx="5410048" cy="1261872"/>
          </a:xfrm>
          <a:prstGeom prst="roundRect">
            <a:avLst>
              <a:gd name="adj" fmla="val 5797"/>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29" name="Shape 27"/>
          <p:cNvSpPr/>
          <p:nvPr/>
        </p:nvSpPr>
        <p:spPr>
          <a:xfrm>
            <a:off x="749808" y="4882896"/>
            <a:ext cx="475488" cy="475488"/>
          </a:xfrm>
          <a:prstGeom prst="ellipse">
            <a:avLst/>
          </a:prstGeom>
          <a:solidFill>
            <a:srgbClr val="C42B1C"/>
          </a:solidFill>
          <a:ln/>
        </p:spPr>
      </p:sp>
      <p:sp>
        <p:nvSpPr>
          <p:cNvPr id="30" name="Text 28"/>
          <p:cNvSpPr txBox="1"/>
          <p:nvPr/>
        </p:nvSpPr>
        <p:spPr>
          <a:xfrm>
            <a:off x="749808" y="488289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txBox="1"/>
          <p:nvPr/>
        </p:nvSpPr>
        <p:spPr>
          <a:xfrm>
            <a:off x="1389888" y="4828032"/>
            <a:ext cx="4367632" cy="274320"/>
          </a:xfrm>
          <a:prstGeom prst="rect">
            <a:avLst/>
          </a:prstGeom>
          <a:noFill/>
          <a:ln/>
        </p:spPr>
        <p:txBody>
          <a:bodyPr wrap="square" lIns="0" tIns="0" rIns="0" bIns="0" rtlCol="0" anchor="ctr"/>
          <a:lstStyle/>
          <a:p>
            <a:pPr indent="0" marL="0">
              <a:buNone/>
            </a:pPr>
            <a:r>
              <a:rPr lang="en-US" sz="950" b="1" spc="100" kern="0" dirty="0">
                <a:solidFill>
                  <a:srgbClr val="C42B1C"/>
                </a:solidFill>
                <a:latin typeface="Calibri" pitchFamily="34" charset="0"/>
                <a:ea typeface="Calibri" pitchFamily="34" charset="-122"/>
                <a:cs typeface="Calibri" pitchFamily="34" charset="-120"/>
              </a:rPr>
              <a:t>FICHIERS</a:t>
            </a:r>
            <a:endParaRPr lang="en-US" sz="950" dirty="0"/>
          </a:p>
        </p:txBody>
      </p:sp>
      <p:sp>
        <p:nvSpPr>
          <p:cNvPr id="32" name="Text 30"/>
          <p:cNvSpPr txBox="1"/>
          <p:nvPr/>
        </p:nvSpPr>
        <p:spPr>
          <a:xfrm>
            <a:off x="1389888" y="5065776"/>
            <a:ext cx="4367632" cy="320040"/>
          </a:xfrm>
          <a:prstGeom prst="rect">
            <a:avLst/>
          </a:prstGeom>
          <a:noFill/>
          <a:ln/>
        </p:spPr>
        <p:txBody>
          <a:bodyPr wrap="square" lIns="0" tIns="0" rIns="0" bIns="0" rtlCol="0" anchor="ctr"/>
          <a:lstStyle/>
          <a:p>
            <a:pPr indent="0" marL="0">
              <a:buNone/>
            </a:pPr>
            <a:r>
              <a:rPr lang="en-US" sz="1450" b="1" dirty="0">
                <a:solidFill>
                  <a:srgbClr val="0D2046"/>
                </a:solidFill>
                <a:latin typeface="Cambria" pitchFamily="34" charset="0"/>
                <a:ea typeface="Cambria" pitchFamily="34" charset="-122"/>
                <a:cs typeface="Cambria" pitchFamily="34" charset="-120"/>
              </a:rPr>
              <a:t>Stockage S3 privé</a:t>
            </a:r>
            <a:endParaRPr lang="en-US" sz="1450" dirty="0"/>
          </a:p>
        </p:txBody>
      </p:sp>
      <p:sp>
        <p:nvSpPr>
          <p:cNvPr id="33" name="Text 31"/>
          <p:cNvSpPr txBox="1"/>
          <p:nvPr/>
        </p:nvSpPr>
        <p:spPr>
          <a:xfrm>
            <a:off x="1389888" y="5394960"/>
            <a:ext cx="4367632" cy="502920"/>
          </a:xfrm>
          <a:prstGeom prst="rect">
            <a:avLst/>
          </a:prstGeom>
          <a:noFill/>
          <a:ln/>
        </p:spPr>
        <p:txBody>
          <a:bodyPr wrap="square" lIns="0" tIns="0" rIns="0" bIns="0" rtlCol="0" anchor="t"/>
          <a:lstStyle/>
          <a:p>
            <a:pPr indent="0" marL="0">
              <a:buNone/>
            </a:pPr>
            <a:r>
              <a:rPr lang="en-US" sz="1000" dirty="0">
                <a:solidFill>
                  <a:srgbClr val="66728A"/>
                </a:solidFill>
                <a:latin typeface="Calibri" pitchFamily="34" charset="0"/>
                <a:ea typeface="Calibri" pitchFamily="34" charset="-122"/>
                <a:cs typeface="Calibri" pitchFamily="34" charset="-120"/>
              </a:rPr>
              <a:t>Les factures restent hors de la base, dans un espace privé.</a:t>
            </a:r>
            <a:endParaRPr lang="en-US" sz="1000" dirty="0"/>
          </a:p>
        </p:txBody>
      </p:sp>
      <p:sp>
        <p:nvSpPr>
          <p:cNvPr id="34" name="Shape 32"/>
          <p:cNvSpPr/>
          <p:nvPr/>
        </p:nvSpPr>
        <p:spPr>
          <a:xfrm>
            <a:off x="6233008" y="4681728"/>
            <a:ext cx="5410048" cy="1261872"/>
          </a:xfrm>
          <a:prstGeom prst="roundRect">
            <a:avLst>
              <a:gd name="adj" fmla="val 5797"/>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35" name="Shape 33"/>
          <p:cNvSpPr/>
          <p:nvPr/>
        </p:nvSpPr>
        <p:spPr>
          <a:xfrm>
            <a:off x="6434176" y="4882896"/>
            <a:ext cx="475488" cy="475488"/>
          </a:xfrm>
          <a:prstGeom prst="ellipse">
            <a:avLst/>
          </a:prstGeom>
          <a:solidFill>
            <a:srgbClr val="0D2046"/>
          </a:solidFill>
          <a:ln/>
        </p:spPr>
      </p:sp>
      <p:sp>
        <p:nvSpPr>
          <p:cNvPr id="36" name="Text 34"/>
          <p:cNvSpPr txBox="1"/>
          <p:nvPr/>
        </p:nvSpPr>
        <p:spPr>
          <a:xfrm>
            <a:off x="6434176" y="488289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5"/>
          <p:cNvSpPr txBox="1"/>
          <p:nvPr/>
        </p:nvSpPr>
        <p:spPr>
          <a:xfrm>
            <a:off x="7074256" y="4828032"/>
            <a:ext cx="4367632" cy="274320"/>
          </a:xfrm>
          <a:prstGeom prst="rect">
            <a:avLst/>
          </a:prstGeom>
          <a:noFill/>
          <a:ln/>
        </p:spPr>
        <p:txBody>
          <a:bodyPr wrap="square" lIns="0" tIns="0" rIns="0" bIns="0" rtlCol="0" anchor="ctr"/>
          <a:lstStyle/>
          <a:p>
            <a:pPr indent="0" marL="0">
              <a:buNone/>
            </a:pPr>
            <a:r>
              <a:rPr lang="en-US" sz="950" b="1" spc="100" kern="0" dirty="0">
                <a:solidFill>
                  <a:srgbClr val="0D2046"/>
                </a:solidFill>
                <a:latin typeface="Calibri" pitchFamily="34" charset="0"/>
                <a:ea typeface="Calibri" pitchFamily="34" charset="-122"/>
                <a:cs typeface="Calibri" pitchFamily="34" charset="-120"/>
              </a:rPr>
              <a:t>DÉPLOIEMENT</a:t>
            </a:r>
            <a:endParaRPr lang="en-US" sz="950" dirty="0"/>
          </a:p>
        </p:txBody>
      </p:sp>
      <p:sp>
        <p:nvSpPr>
          <p:cNvPr id="38" name="Text 36"/>
          <p:cNvSpPr txBox="1"/>
          <p:nvPr/>
        </p:nvSpPr>
        <p:spPr>
          <a:xfrm>
            <a:off x="7074256" y="5065776"/>
            <a:ext cx="4367632" cy="320040"/>
          </a:xfrm>
          <a:prstGeom prst="rect">
            <a:avLst/>
          </a:prstGeom>
          <a:noFill/>
          <a:ln/>
        </p:spPr>
        <p:txBody>
          <a:bodyPr wrap="square" lIns="0" tIns="0" rIns="0" bIns="0" rtlCol="0" anchor="ctr"/>
          <a:lstStyle/>
          <a:p>
            <a:pPr indent="0" marL="0">
              <a:buNone/>
            </a:pPr>
            <a:r>
              <a:rPr lang="en-US" sz="1450" b="1" dirty="0">
                <a:solidFill>
                  <a:srgbClr val="0D2046"/>
                </a:solidFill>
                <a:latin typeface="Cambria" pitchFamily="34" charset="0"/>
                <a:ea typeface="Cambria" pitchFamily="34" charset="-122"/>
                <a:cs typeface="Cambria" pitchFamily="34" charset="-120"/>
              </a:rPr>
              <a:t>Docker Compose + Nginx</a:t>
            </a:r>
            <a:endParaRPr lang="en-US" sz="1450" dirty="0"/>
          </a:p>
        </p:txBody>
      </p:sp>
      <p:sp>
        <p:nvSpPr>
          <p:cNvPr id="39" name="Text 37"/>
          <p:cNvSpPr txBox="1"/>
          <p:nvPr/>
        </p:nvSpPr>
        <p:spPr>
          <a:xfrm>
            <a:off x="7074256" y="5394960"/>
            <a:ext cx="4367632" cy="502920"/>
          </a:xfrm>
          <a:prstGeom prst="rect">
            <a:avLst/>
          </a:prstGeom>
          <a:noFill/>
          <a:ln/>
        </p:spPr>
        <p:txBody>
          <a:bodyPr wrap="square" lIns="0" tIns="0" rIns="0" bIns="0" rtlCol="0" anchor="t"/>
          <a:lstStyle/>
          <a:p>
            <a:pPr indent="0" marL="0">
              <a:buNone/>
            </a:pPr>
            <a:r>
              <a:rPr lang="en-US" sz="1000" dirty="0">
                <a:solidFill>
                  <a:srgbClr val="66728A"/>
                </a:solidFill>
                <a:latin typeface="Calibri" pitchFamily="34" charset="0"/>
                <a:ea typeface="Calibri" pitchFamily="34" charset="-122"/>
                <a:cs typeface="Calibri" pitchFamily="34" charset="-120"/>
              </a:rPr>
              <a:t>Toute l'application démarre en une commande.</a:t>
            </a:r>
            <a:endParaRPr lang="en-US" sz="1000" dirty="0"/>
          </a:p>
        </p:txBody>
      </p:sp>
      <p:sp>
        <p:nvSpPr>
          <p:cNvPr id="40" name="Text 38"/>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41" name="Text 3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046"/>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8FB0FF"/>
                </a:solidFill>
                <a:latin typeface="Calibri" pitchFamily="34" charset="0"/>
                <a:ea typeface="Calibri" pitchFamily="34" charset="-122"/>
                <a:cs typeface="Calibri" pitchFamily="34" charset="-120"/>
              </a:rPr>
              <a:t>ARCHITECTURE · NOM 2</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Une porte d'entrée, des droits vérifiés</a:t>
            </a:r>
            <a:endParaRPr lang="en-US" sz="3000" dirty="0"/>
          </a:p>
        </p:txBody>
      </p:sp>
      <p:sp>
        <p:nvSpPr>
          <p:cNvPr id="4" name="Shape 2"/>
          <p:cNvSpPr/>
          <p:nvPr/>
        </p:nvSpPr>
        <p:spPr>
          <a:xfrm>
            <a:off x="548640" y="1874520"/>
            <a:ext cx="1783080" cy="868680"/>
          </a:xfrm>
          <a:prstGeom prst="roundRect">
            <a:avLst>
              <a:gd name="adj" fmla="val 7368"/>
            </a:avLst>
          </a:prstGeom>
          <a:solidFill>
            <a:srgbClr val="16305E"/>
          </a:solidFill>
          <a:ln w="19050">
            <a:solidFill>
              <a:srgbClr val="2864E8"/>
            </a:solidFill>
            <a:prstDash val="solid"/>
          </a:ln>
        </p:spPr>
      </p:sp>
      <p:sp>
        <p:nvSpPr>
          <p:cNvPr id="5" name="Text 3"/>
          <p:cNvSpPr txBox="1"/>
          <p:nvPr/>
        </p:nvSpPr>
        <p:spPr>
          <a:xfrm>
            <a:off x="658368" y="1947672"/>
            <a:ext cx="1563624"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Navigateur</a:t>
            </a:r>
            <a:endParaRPr lang="en-US" sz="1150" dirty="0"/>
          </a:p>
        </p:txBody>
      </p:sp>
      <p:sp>
        <p:nvSpPr>
          <p:cNvPr id="6" name="Text 4"/>
          <p:cNvSpPr txBox="1"/>
          <p:nvPr/>
        </p:nvSpPr>
        <p:spPr>
          <a:xfrm>
            <a:off x="640080" y="2377440"/>
            <a:ext cx="1600200" cy="320040"/>
          </a:xfrm>
          <a:prstGeom prst="rect">
            <a:avLst/>
          </a:prstGeom>
          <a:noFill/>
          <a:ln/>
        </p:spPr>
        <p:txBody>
          <a:bodyPr wrap="square" lIns="0" tIns="0" rIns="0" bIns="0" rtlCol="0" anchor="t"/>
          <a:lstStyle/>
          <a:p>
            <a:pPr algn="ctr" indent="0" marL="0">
              <a:buNone/>
            </a:pPr>
            <a:r>
              <a:rPr lang="en-US" sz="850" dirty="0">
                <a:solidFill>
                  <a:srgbClr val="9FB4DC"/>
                </a:solidFill>
                <a:latin typeface="Calibri" pitchFamily="34" charset="0"/>
                <a:ea typeface="Calibri" pitchFamily="34" charset="-122"/>
                <a:cs typeface="Calibri" pitchFamily="34" charset="-120"/>
              </a:rPr>
              <a:t>Interface Vue</a:t>
            </a:r>
            <a:endParaRPr lang="en-US" sz="850" dirty="0"/>
          </a:p>
        </p:txBody>
      </p:sp>
      <p:sp>
        <p:nvSpPr>
          <p:cNvPr id="7" name="Shape 5"/>
          <p:cNvSpPr/>
          <p:nvPr/>
        </p:nvSpPr>
        <p:spPr>
          <a:xfrm>
            <a:off x="2377440" y="2226564"/>
            <a:ext cx="274320" cy="164592"/>
          </a:xfrm>
          <a:prstGeom prst="rightArrow">
            <a:avLst/>
          </a:prstGeom>
          <a:solidFill>
            <a:srgbClr val="8FB0FF"/>
          </a:solidFill>
          <a:ln/>
        </p:spPr>
      </p:sp>
      <p:sp>
        <p:nvSpPr>
          <p:cNvPr id="8" name="Shape 6"/>
          <p:cNvSpPr/>
          <p:nvPr/>
        </p:nvSpPr>
        <p:spPr>
          <a:xfrm>
            <a:off x="2697480" y="1874520"/>
            <a:ext cx="1783080" cy="868680"/>
          </a:xfrm>
          <a:prstGeom prst="roundRect">
            <a:avLst>
              <a:gd name="adj" fmla="val 7368"/>
            </a:avLst>
          </a:prstGeom>
          <a:solidFill>
            <a:srgbClr val="16305E"/>
          </a:solidFill>
          <a:ln w="19050">
            <a:solidFill>
              <a:srgbClr val="2864E8"/>
            </a:solidFill>
            <a:prstDash val="solid"/>
          </a:ln>
        </p:spPr>
      </p:sp>
      <p:sp>
        <p:nvSpPr>
          <p:cNvPr id="9" name="Text 7"/>
          <p:cNvSpPr txBox="1"/>
          <p:nvPr/>
        </p:nvSpPr>
        <p:spPr>
          <a:xfrm>
            <a:off x="2807208" y="1947672"/>
            <a:ext cx="1563624"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Nginx</a:t>
            </a:r>
            <a:endParaRPr lang="en-US" sz="1150" dirty="0"/>
          </a:p>
        </p:txBody>
      </p:sp>
      <p:sp>
        <p:nvSpPr>
          <p:cNvPr id="10" name="Text 8"/>
          <p:cNvSpPr txBox="1"/>
          <p:nvPr/>
        </p:nvSpPr>
        <p:spPr>
          <a:xfrm>
            <a:off x="2788920" y="2377440"/>
            <a:ext cx="1600200" cy="320040"/>
          </a:xfrm>
          <a:prstGeom prst="rect">
            <a:avLst/>
          </a:prstGeom>
          <a:noFill/>
          <a:ln/>
        </p:spPr>
        <p:txBody>
          <a:bodyPr wrap="square" lIns="0" tIns="0" rIns="0" bIns="0" rtlCol="0" anchor="t"/>
          <a:lstStyle/>
          <a:p>
            <a:pPr algn="ctr" indent="0" marL="0">
              <a:buNone/>
            </a:pPr>
            <a:r>
              <a:rPr lang="en-US" sz="850" dirty="0">
                <a:solidFill>
                  <a:srgbClr val="9FB4DC"/>
                </a:solidFill>
                <a:latin typeface="Calibri" pitchFamily="34" charset="0"/>
                <a:ea typeface="Calibri" pitchFamily="34" charset="-122"/>
                <a:cs typeface="Calibri" pitchFamily="34" charset="-120"/>
              </a:rPr>
              <a:t>Point d'entrée unique</a:t>
            </a:r>
            <a:endParaRPr lang="en-US" sz="850" dirty="0"/>
          </a:p>
        </p:txBody>
      </p:sp>
      <p:sp>
        <p:nvSpPr>
          <p:cNvPr id="11" name="Shape 9"/>
          <p:cNvSpPr/>
          <p:nvPr/>
        </p:nvSpPr>
        <p:spPr>
          <a:xfrm>
            <a:off x="4526280" y="2226564"/>
            <a:ext cx="274320" cy="164592"/>
          </a:xfrm>
          <a:prstGeom prst="rightArrow">
            <a:avLst/>
          </a:prstGeom>
          <a:solidFill>
            <a:srgbClr val="8FB0FF"/>
          </a:solidFill>
          <a:ln/>
        </p:spPr>
      </p:sp>
      <p:sp>
        <p:nvSpPr>
          <p:cNvPr id="12" name="Shape 10"/>
          <p:cNvSpPr/>
          <p:nvPr/>
        </p:nvSpPr>
        <p:spPr>
          <a:xfrm>
            <a:off x="4846320" y="1874520"/>
            <a:ext cx="1783080" cy="868680"/>
          </a:xfrm>
          <a:prstGeom prst="roundRect">
            <a:avLst>
              <a:gd name="adj" fmla="val 7368"/>
            </a:avLst>
          </a:prstGeom>
          <a:solidFill>
            <a:srgbClr val="16305E"/>
          </a:solidFill>
          <a:ln w="19050">
            <a:solidFill>
              <a:srgbClr val="2864E8"/>
            </a:solidFill>
            <a:prstDash val="solid"/>
          </a:ln>
        </p:spPr>
      </p:sp>
      <p:sp>
        <p:nvSpPr>
          <p:cNvPr id="13" name="Text 11"/>
          <p:cNvSpPr txBox="1"/>
          <p:nvPr/>
        </p:nvSpPr>
        <p:spPr>
          <a:xfrm>
            <a:off x="4956048" y="1947672"/>
            <a:ext cx="1563624"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API Express</a:t>
            </a:r>
            <a:endParaRPr lang="en-US" sz="1150" dirty="0"/>
          </a:p>
        </p:txBody>
      </p:sp>
      <p:sp>
        <p:nvSpPr>
          <p:cNvPr id="14" name="Text 12"/>
          <p:cNvSpPr txBox="1"/>
          <p:nvPr/>
        </p:nvSpPr>
        <p:spPr>
          <a:xfrm>
            <a:off x="4937760" y="2377440"/>
            <a:ext cx="1600200" cy="320040"/>
          </a:xfrm>
          <a:prstGeom prst="rect">
            <a:avLst/>
          </a:prstGeom>
          <a:noFill/>
          <a:ln/>
        </p:spPr>
        <p:txBody>
          <a:bodyPr wrap="square" lIns="0" tIns="0" rIns="0" bIns="0" rtlCol="0" anchor="t"/>
          <a:lstStyle/>
          <a:p>
            <a:pPr algn="ctr" indent="0" marL="0">
              <a:buNone/>
            </a:pPr>
            <a:r>
              <a:rPr lang="en-US" sz="850" dirty="0">
                <a:solidFill>
                  <a:srgbClr val="9FB4DC"/>
                </a:solidFill>
                <a:latin typeface="Calibri" pitchFamily="34" charset="0"/>
                <a:ea typeface="Calibri" pitchFamily="34" charset="-122"/>
                <a:cs typeface="Calibri" pitchFamily="34" charset="-120"/>
              </a:rPr>
              <a:t>Droits et règles métier</a:t>
            </a:r>
            <a:endParaRPr lang="en-US" sz="850" dirty="0"/>
          </a:p>
        </p:txBody>
      </p:sp>
      <p:sp>
        <p:nvSpPr>
          <p:cNvPr id="15" name="Shape 13"/>
          <p:cNvSpPr/>
          <p:nvPr/>
        </p:nvSpPr>
        <p:spPr>
          <a:xfrm>
            <a:off x="6675120" y="2226564"/>
            <a:ext cx="274320" cy="164592"/>
          </a:xfrm>
          <a:prstGeom prst="rightArrow">
            <a:avLst/>
          </a:prstGeom>
          <a:solidFill>
            <a:srgbClr val="8FB0FF"/>
          </a:solidFill>
          <a:ln/>
        </p:spPr>
      </p:sp>
      <p:sp>
        <p:nvSpPr>
          <p:cNvPr id="16" name="Shape 14"/>
          <p:cNvSpPr/>
          <p:nvPr/>
        </p:nvSpPr>
        <p:spPr>
          <a:xfrm>
            <a:off x="6995160" y="1874520"/>
            <a:ext cx="1783080" cy="868680"/>
          </a:xfrm>
          <a:prstGeom prst="roundRect">
            <a:avLst>
              <a:gd name="adj" fmla="val 7368"/>
            </a:avLst>
          </a:prstGeom>
          <a:solidFill>
            <a:srgbClr val="16305E"/>
          </a:solidFill>
          <a:ln w="19050">
            <a:solidFill>
              <a:srgbClr val="2864E8"/>
            </a:solidFill>
            <a:prstDash val="solid"/>
          </a:ln>
        </p:spPr>
      </p:sp>
      <p:sp>
        <p:nvSpPr>
          <p:cNvPr id="17" name="Text 15"/>
          <p:cNvSpPr txBox="1"/>
          <p:nvPr/>
        </p:nvSpPr>
        <p:spPr>
          <a:xfrm>
            <a:off x="7104888" y="1947672"/>
            <a:ext cx="1563624"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PostgreSQL</a:t>
            </a:r>
            <a:endParaRPr lang="en-US" sz="1150" dirty="0"/>
          </a:p>
        </p:txBody>
      </p:sp>
      <p:sp>
        <p:nvSpPr>
          <p:cNvPr id="18" name="Text 16"/>
          <p:cNvSpPr txBox="1"/>
          <p:nvPr/>
        </p:nvSpPr>
        <p:spPr>
          <a:xfrm>
            <a:off x="7086600" y="2377440"/>
            <a:ext cx="1600200" cy="320040"/>
          </a:xfrm>
          <a:prstGeom prst="rect">
            <a:avLst/>
          </a:prstGeom>
          <a:noFill/>
          <a:ln/>
        </p:spPr>
        <p:txBody>
          <a:bodyPr wrap="square" lIns="0" tIns="0" rIns="0" bIns="0" rtlCol="0" anchor="t"/>
          <a:lstStyle/>
          <a:p>
            <a:pPr algn="ctr" indent="0" marL="0">
              <a:buNone/>
            </a:pPr>
            <a:r>
              <a:rPr lang="en-US" sz="850" dirty="0">
                <a:solidFill>
                  <a:srgbClr val="9FB4DC"/>
                </a:solidFill>
                <a:latin typeface="Calibri" pitchFamily="34" charset="0"/>
                <a:ea typeface="Calibri" pitchFamily="34" charset="-122"/>
                <a:cs typeface="Calibri" pitchFamily="34" charset="-120"/>
              </a:rPr>
              <a:t>Données et infos fichiers</a:t>
            </a:r>
            <a:endParaRPr lang="en-US" sz="850" dirty="0"/>
          </a:p>
        </p:txBody>
      </p:sp>
      <p:sp>
        <p:nvSpPr>
          <p:cNvPr id="19" name="Text 17"/>
          <p:cNvSpPr txBox="1"/>
          <p:nvPr/>
        </p:nvSpPr>
        <p:spPr>
          <a:xfrm>
            <a:off x="548640" y="1508760"/>
            <a:ext cx="3657600" cy="274320"/>
          </a:xfrm>
          <a:prstGeom prst="rect">
            <a:avLst/>
          </a:prstGeom>
          <a:noFill/>
          <a:ln/>
        </p:spPr>
        <p:txBody>
          <a:bodyPr wrap="square" lIns="0" tIns="0" rIns="0" bIns="0" rtlCol="0" anchor="ctr"/>
          <a:lstStyle/>
          <a:p>
            <a:pPr indent="0" marL="0">
              <a:buNone/>
            </a:pPr>
            <a:r>
              <a:rPr lang="en-US" sz="1050" i="1" dirty="0">
                <a:solidFill>
                  <a:srgbClr val="9FB4DC"/>
                </a:solidFill>
                <a:latin typeface="Calibri" pitchFamily="34" charset="0"/>
                <a:ea typeface="Calibri" pitchFamily="34" charset="-122"/>
                <a:cs typeface="Calibri" pitchFamily="34" charset="-120"/>
              </a:rPr>
              <a:t>Une requête →</a:t>
            </a:r>
            <a:endParaRPr lang="en-US" sz="1050" dirty="0"/>
          </a:p>
        </p:txBody>
      </p:sp>
      <p:sp>
        <p:nvSpPr>
          <p:cNvPr id="20" name="Shape 18"/>
          <p:cNvSpPr/>
          <p:nvPr/>
        </p:nvSpPr>
        <p:spPr>
          <a:xfrm>
            <a:off x="548640" y="3246120"/>
            <a:ext cx="1783080" cy="868680"/>
          </a:xfrm>
          <a:prstGeom prst="roundRect">
            <a:avLst>
              <a:gd name="adj" fmla="val 7368"/>
            </a:avLst>
          </a:prstGeom>
          <a:solidFill>
            <a:srgbClr val="16305E"/>
          </a:solidFill>
          <a:ln w="19050">
            <a:solidFill>
              <a:srgbClr val="078451"/>
            </a:solidFill>
            <a:prstDash val="solid"/>
          </a:ln>
        </p:spPr>
      </p:sp>
      <p:sp>
        <p:nvSpPr>
          <p:cNvPr id="21" name="Text 19"/>
          <p:cNvSpPr txBox="1"/>
          <p:nvPr/>
        </p:nvSpPr>
        <p:spPr>
          <a:xfrm>
            <a:off x="658368" y="3319272"/>
            <a:ext cx="1563624"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API Express</a:t>
            </a:r>
            <a:endParaRPr lang="en-US" sz="1150" dirty="0"/>
          </a:p>
        </p:txBody>
      </p:sp>
      <p:sp>
        <p:nvSpPr>
          <p:cNvPr id="22" name="Text 20"/>
          <p:cNvSpPr txBox="1"/>
          <p:nvPr/>
        </p:nvSpPr>
        <p:spPr>
          <a:xfrm>
            <a:off x="640080" y="3749040"/>
            <a:ext cx="1600200" cy="320040"/>
          </a:xfrm>
          <a:prstGeom prst="rect">
            <a:avLst/>
          </a:prstGeom>
          <a:noFill/>
          <a:ln/>
        </p:spPr>
        <p:txBody>
          <a:bodyPr wrap="square" lIns="0" tIns="0" rIns="0" bIns="0" rtlCol="0" anchor="t"/>
          <a:lstStyle/>
          <a:p>
            <a:pPr algn="ctr" indent="0" marL="0">
              <a:buNone/>
            </a:pPr>
            <a:r>
              <a:rPr lang="en-US" sz="850" dirty="0">
                <a:solidFill>
                  <a:srgbClr val="9FB4DC"/>
                </a:solidFill>
                <a:latin typeface="Calibri" pitchFamily="34" charset="0"/>
                <a:ea typeface="Calibri" pitchFamily="34" charset="-122"/>
                <a:cs typeface="Calibri" pitchFamily="34" charset="-120"/>
              </a:rPr>
              <a:t>Vérifie le droit, crée un lien signé</a:t>
            </a:r>
            <a:endParaRPr lang="en-US" sz="850" dirty="0"/>
          </a:p>
        </p:txBody>
      </p:sp>
      <p:sp>
        <p:nvSpPr>
          <p:cNvPr id="23" name="Shape 21"/>
          <p:cNvSpPr/>
          <p:nvPr/>
        </p:nvSpPr>
        <p:spPr>
          <a:xfrm>
            <a:off x="2377440" y="3598164"/>
            <a:ext cx="274320" cy="164592"/>
          </a:xfrm>
          <a:prstGeom prst="rightArrow">
            <a:avLst/>
          </a:prstGeom>
          <a:solidFill>
            <a:srgbClr val="8FB0FF"/>
          </a:solidFill>
          <a:ln/>
        </p:spPr>
      </p:sp>
      <p:sp>
        <p:nvSpPr>
          <p:cNvPr id="24" name="Shape 22"/>
          <p:cNvSpPr/>
          <p:nvPr/>
        </p:nvSpPr>
        <p:spPr>
          <a:xfrm>
            <a:off x="2697480" y="3246120"/>
            <a:ext cx="1783080" cy="868680"/>
          </a:xfrm>
          <a:prstGeom prst="roundRect">
            <a:avLst>
              <a:gd name="adj" fmla="val 7368"/>
            </a:avLst>
          </a:prstGeom>
          <a:solidFill>
            <a:srgbClr val="16305E"/>
          </a:solidFill>
          <a:ln w="19050">
            <a:solidFill>
              <a:srgbClr val="078451"/>
            </a:solidFill>
            <a:prstDash val="solid"/>
          </a:ln>
        </p:spPr>
      </p:sp>
      <p:sp>
        <p:nvSpPr>
          <p:cNvPr id="25" name="Text 23"/>
          <p:cNvSpPr txBox="1"/>
          <p:nvPr/>
        </p:nvSpPr>
        <p:spPr>
          <a:xfrm>
            <a:off x="2807208" y="3319272"/>
            <a:ext cx="1563624"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Navigateur</a:t>
            </a:r>
            <a:endParaRPr lang="en-US" sz="1150" dirty="0"/>
          </a:p>
        </p:txBody>
      </p:sp>
      <p:sp>
        <p:nvSpPr>
          <p:cNvPr id="26" name="Text 24"/>
          <p:cNvSpPr txBox="1"/>
          <p:nvPr/>
        </p:nvSpPr>
        <p:spPr>
          <a:xfrm>
            <a:off x="2788920" y="3749040"/>
            <a:ext cx="1600200" cy="320040"/>
          </a:xfrm>
          <a:prstGeom prst="rect">
            <a:avLst/>
          </a:prstGeom>
          <a:noFill/>
          <a:ln/>
        </p:spPr>
        <p:txBody>
          <a:bodyPr wrap="square" lIns="0" tIns="0" rIns="0" bIns="0" rtlCol="0" anchor="t"/>
          <a:lstStyle/>
          <a:p>
            <a:pPr algn="ctr" indent="0" marL="0">
              <a:buNone/>
            </a:pPr>
            <a:r>
              <a:rPr lang="en-US" sz="850" dirty="0">
                <a:solidFill>
                  <a:srgbClr val="9FB4DC"/>
                </a:solidFill>
                <a:latin typeface="Calibri" pitchFamily="34" charset="0"/>
                <a:ea typeface="Calibri" pitchFamily="34" charset="-122"/>
                <a:cs typeface="Calibri" pitchFamily="34" charset="-120"/>
              </a:rPr>
              <a:t>Envoie le fichier avec ce lien</a:t>
            </a:r>
            <a:endParaRPr lang="en-US" sz="850" dirty="0"/>
          </a:p>
        </p:txBody>
      </p:sp>
      <p:sp>
        <p:nvSpPr>
          <p:cNvPr id="27" name="Shape 25"/>
          <p:cNvSpPr/>
          <p:nvPr/>
        </p:nvSpPr>
        <p:spPr>
          <a:xfrm>
            <a:off x="4526280" y="3598164"/>
            <a:ext cx="274320" cy="164592"/>
          </a:xfrm>
          <a:prstGeom prst="rightArrow">
            <a:avLst/>
          </a:prstGeom>
          <a:solidFill>
            <a:srgbClr val="8FB0FF"/>
          </a:solidFill>
          <a:ln/>
        </p:spPr>
      </p:sp>
      <p:sp>
        <p:nvSpPr>
          <p:cNvPr id="28" name="Shape 26"/>
          <p:cNvSpPr/>
          <p:nvPr/>
        </p:nvSpPr>
        <p:spPr>
          <a:xfrm>
            <a:off x="4846320" y="3246120"/>
            <a:ext cx="1783080" cy="868680"/>
          </a:xfrm>
          <a:prstGeom prst="roundRect">
            <a:avLst>
              <a:gd name="adj" fmla="val 7368"/>
            </a:avLst>
          </a:prstGeom>
          <a:solidFill>
            <a:srgbClr val="16305E"/>
          </a:solidFill>
          <a:ln w="19050">
            <a:solidFill>
              <a:srgbClr val="078451"/>
            </a:solidFill>
            <a:prstDash val="solid"/>
          </a:ln>
        </p:spPr>
      </p:sp>
      <p:sp>
        <p:nvSpPr>
          <p:cNvPr id="29" name="Text 27"/>
          <p:cNvSpPr txBox="1"/>
          <p:nvPr/>
        </p:nvSpPr>
        <p:spPr>
          <a:xfrm>
            <a:off x="4956048" y="3319272"/>
            <a:ext cx="1563624" cy="3200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Stockage S3 privé</a:t>
            </a:r>
            <a:endParaRPr lang="en-US" sz="1150" dirty="0"/>
          </a:p>
        </p:txBody>
      </p:sp>
      <p:sp>
        <p:nvSpPr>
          <p:cNvPr id="30" name="Text 28"/>
          <p:cNvSpPr txBox="1"/>
          <p:nvPr/>
        </p:nvSpPr>
        <p:spPr>
          <a:xfrm>
            <a:off x="4937760" y="3749040"/>
            <a:ext cx="1600200" cy="320040"/>
          </a:xfrm>
          <a:prstGeom prst="rect">
            <a:avLst/>
          </a:prstGeom>
          <a:noFill/>
          <a:ln/>
        </p:spPr>
        <p:txBody>
          <a:bodyPr wrap="square" lIns="0" tIns="0" rIns="0" bIns="0" rtlCol="0" anchor="t"/>
          <a:lstStyle/>
          <a:p>
            <a:pPr algn="ctr" indent="0" marL="0">
              <a:buNone/>
            </a:pPr>
            <a:r>
              <a:rPr lang="en-US" sz="850" dirty="0">
                <a:solidFill>
                  <a:srgbClr val="9FB4DC"/>
                </a:solidFill>
                <a:latin typeface="Calibri" pitchFamily="34" charset="0"/>
                <a:ea typeface="Calibri" pitchFamily="34" charset="-122"/>
                <a:cs typeface="Calibri" pitchFamily="34" charset="-120"/>
              </a:rPr>
              <a:t>Garde le fichier, jamais public</a:t>
            </a:r>
            <a:endParaRPr lang="en-US" sz="850" dirty="0"/>
          </a:p>
        </p:txBody>
      </p:sp>
      <p:sp>
        <p:nvSpPr>
          <p:cNvPr id="31" name="Text 29"/>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050" i="1" dirty="0">
                <a:solidFill>
                  <a:srgbClr val="9FB4DC"/>
                </a:solidFill>
                <a:latin typeface="Calibri" pitchFamily="34" charset="0"/>
                <a:ea typeface="Calibri" pitchFamily="34" charset="-122"/>
                <a:cs typeface="Calibri" pitchFamily="34" charset="-120"/>
              </a:rPr>
              <a:t>Un fichier joint →</a:t>
            </a:r>
            <a:endParaRPr lang="en-US" sz="1050" dirty="0"/>
          </a:p>
        </p:txBody>
      </p:sp>
      <p:sp>
        <p:nvSpPr>
          <p:cNvPr id="32" name="Shape 30"/>
          <p:cNvSpPr/>
          <p:nvPr/>
        </p:nvSpPr>
        <p:spPr>
          <a:xfrm>
            <a:off x="548640" y="4681728"/>
            <a:ext cx="91440" cy="91440"/>
          </a:xfrm>
          <a:prstGeom prst="ellipse">
            <a:avLst/>
          </a:prstGeom>
          <a:solidFill>
            <a:srgbClr val="8FB0FF"/>
          </a:solidFill>
          <a:ln/>
        </p:spPr>
      </p:sp>
      <p:sp>
        <p:nvSpPr>
          <p:cNvPr id="33" name="Text 31"/>
          <p:cNvSpPr txBox="1"/>
          <p:nvPr/>
        </p:nvSpPr>
        <p:spPr>
          <a:xfrm>
            <a:off x="804672" y="4617720"/>
            <a:ext cx="5029200" cy="365760"/>
          </a:xfrm>
          <a:prstGeom prst="rect">
            <a:avLst/>
          </a:prstGeom>
          <a:noFill/>
          <a:ln/>
        </p:spPr>
        <p:txBody>
          <a:bodyPr wrap="square" lIns="0" tIns="0" rIns="0" bIns="0" rtlCol="0" anchor="t"/>
          <a:lstStyle/>
          <a:p>
            <a:pPr indent="0" marL="0">
              <a:buNone/>
            </a:pPr>
            <a:r>
              <a:rPr lang="en-US" sz="1150" dirty="0">
                <a:solidFill>
                  <a:srgbClr val="DCE6FA"/>
                </a:solidFill>
                <a:latin typeface="Calibri" pitchFamily="34" charset="0"/>
                <a:ea typeface="Calibri" pitchFamily="34" charset="-122"/>
                <a:cs typeface="Calibri" pitchFamily="34" charset="-120"/>
              </a:rPr>
              <a:t>Session : jeton court dans un cookie HttpOnly</a:t>
            </a:r>
            <a:endParaRPr lang="en-US" sz="1150" dirty="0"/>
          </a:p>
        </p:txBody>
      </p:sp>
      <p:sp>
        <p:nvSpPr>
          <p:cNvPr id="34" name="Shape 32"/>
          <p:cNvSpPr/>
          <p:nvPr/>
        </p:nvSpPr>
        <p:spPr>
          <a:xfrm>
            <a:off x="5943600" y="4681728"/>
            <a:ext cx="91440" cy="91440"/>
          </a:xfrm>
          <a:prstGeom prst="ellipse">
            <a:avLst/>
          </a:prstGeom>
          <a:solidFill>
            <a:srgbClr val="8FB0FF"/>
          </a:solidFill>
          <a:ln/>
        </p:spPr>
      </p:sp>
      <p:sp>
        <p:nvSpPr>
          <p:cNvPr id="35" name="Text 33"/>
          <p:cNvSpPr txBox="1"/>
          <p:nvPr/>
        </p:nvSpPr>
        <p:spPr>
          <a:xfrm>
            <a:off x="6199632" y="4617720"/>
            <a:ext cx="5029200" cy="365760"/>
          </a:xfrm>
          <a:prstGeom prst="rect">
            <a:avLst/>
          </a:prstGeom>
          <a:noFill/>
          <a:ln/>
        </p:spPr>
        <p:txBody>
          <a:bodyPr wrap="square" lIns="0" tIns="0" rIns="0" bIns="0" rtlCol="0" anchor="t"/>
          <a:lstStyle/>
          <a:p>
            <a:pPr indent="0" marL="0">
              <a:buNone/>
            </a:pPr>
            <a:r>
              <a:rPr lang="en-US" sz="1150" dirty="0">
                <a:solidFill>
                  <a:srgbClr val="DCE6FA"/>
                </a:solidFill>
                <a:latin typeface="Calibri" pitchFamily="34" charset="0"/>
                <a:ea typeface="Calibri" pitchFamily="34" charset="-122"/>
                <a:cs typeface="Calibri" pitchFamily="34" charset="-120"/>
              </a:rPr>
              <a:t>API et base non exposées sur le réseau hôte</a:t>
            </a:r>
            <a:endParaRPr lang="en-US" sz="1150" dirty="0"/>
          </a:p>
        </p:txBody>
      </p:sp>
      <p:sp>
        <p:nvSpPr>
          <p:cNvPr id="36" name="Shape 34"/>
          <p:cNvSpPr/>
          <p:nvPr/>
        </p:nvSpPr>
        <p:spPr>
          <a:xfrm>
            <a:off x="548640" y="5184648"/>
            <a:ext cx="91440" cy="91440"/>
          </a:xfrm>
          <a:prstGeom prst="ellipse">
            <a:avLst/>
          </a:prstGeom>
          <a:solidFill>
            <a:srgbClr val="8FB0FF"/>
          </a:solidFill>
          <a:ln/>
        </p:spPr>
      </p:sp>
      <p:sp>
        <p:nvSpPr>
          <p:cNvPr id="37" name="Text 35"/>
          <p:cNvSpPr txBox="1"/>
          <p:nvPr/>
        </p:nvSpPr>
        <p:spPr>
          <a:xfrm>
            <a:off x="804672" y="5120640"/>
            <a:ext cx="5029200" cy="365760"/>
          </a:xfrm>
          <a:prstGeom prst="rect">
            <a:avLst/>
          </a:prstGeom>
          <a:noFill/>
          <a:ln/>
        </p:spPr>
        <p:txBody>
          <a:bodyPr wrap="square" lIns="0" tIns="0" rIns="0" bIns="0" rtlCol="0" anchor="t"/>
          <a:lstStyle/>
          <a:p>
            <a:pPr indent="0" marL="0">
              <a:buNone/>
            </a:pPr>
            <a:r>
              <a:rPr lang="en-US" sz="1150" dirty="0">
                <a:solidFill>
                  <a:srgbClr val="DCE6FA"/>
                </a:solidFill>
                <a:latin typeface="Calibri" pitchFamily="34" charset="0"/>
                <a:ea typeface="Calibri" pitchFamily="34" charset="-122"/>
                <a:cs typeface="Calibri" pitchFamily="34" charset="-120"/>
              </a:rPr>
              <a:t>Données entrantes toujours validées (Zod)</a:t>
            </a:r>
            <a:endParaRPr lang="en-US" sz="1150" dirty="0"/>
          </a:p>
        </p:txBody>
      </p:sp>
      <p:sp>
        <p:nvSpPr>
          <p:cNvPr id="38" name="Shape 36"/>
          <p:cNvSpPr/>
          <p:nvPr/>
        </p:nvSpPr>
        <p:spPr>
          <a:xfrm>
            <a:off x="5943600" y="5184648"/>
            <a:ext cx="91440" cy="91440"/>
          </a:xfrm>
          <a:prstGeom prst="ellipse">
            <a:avLst/>
          </a:prstGeom>
          <a:solidFill>
            <a:srgbClr val="8FB0FF"/>
          </a:solidFill>
          <a:ln/>
        </p:spPr>
      </p:sp>
      <p:sp>
        <p:nvSpPr>
          <p:cNvPr id="39" name="Text 37"/>
          <p:cNvSpPr txBox="1"/>
          <p:nvPr/>
        </p:nvSpPr>
        <p:spPr>
          <a:xfrm>
            <a:off x="6199632" y="5120640"/>
            <a:ext cx="5029200" cy="365760"/>
          </a:xfrm>
          <a:prstGeom prst="rect">
            <a:avLst/>
          </a:prstGeom>
          <a:noFill/>
          <a:ln/>
        </p:spPr>
        <p:txBody>
          <a:bodyPr wrap="square" lIns="0" tIns="0" rIns="0" bIns="0" rtlCol="0" anchor="t"/>
          <a:lstStyle/>
          <a:p>
            <a:pPr indent="0" marL="0">
              <a:buNone/>
            </a:pPr>
            <a:r>
              <a:rPr lang="en-US" sz="1150" dirty="0">
                <a:solidFill>
                  <a:srgbClr val="DCE6FA"/>
                </a:solidFill>
                <a:latin typeface="Calibri" pitchFamily="34" charset="0"/>
                <a:ea typeface="Calibri" pitchFamily="34" charset="-122"/>
                <a:cs typeface="Calibri" pitchFamily="34" charset="-120"/>
              </a:rPr>
              <a:t>Mots de passe chiffrés (bcrypt), jamais stockés en clair</a:t>
            </a:r>
            <a:endParaRPr lang="en-US" sz="1150" dirty="0"/>
          </a:p>
        </p:txBody>
      </p:sp>
      <p:sp>
        <p:nvSpPr>
          <p:cNvPr id="40" name="Text 38"/>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8FA3CC"/>
                </a:solidFill>
                <a:latin typeface="Calibri" pitchFamily="34" charset="0"/>
                <a:ea typeface="Calibri" pitchFamily="34" charset="-122"/>
                <a:cs typeface="Calibri" pitchFamily="34" charset="-120"/>
              </a:rPr>
              <a:t>SUIVI · Présentation projet</a:t>
            </a:r>
            <a:endParaRPr lang="en-US" sz="900" dirty="0"/>
          </a:p>
        </p:txBody>
      </p:sp>
      <p:sp>
        <p:nvSpPr>
          <p:cNvPr id="41" name="Text 3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8FA3CC"/>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RÉALISATION · NOM 2</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Cinq sprints, puis des itérations ciblées avec le client</a:t>
            </a:r>
            <a:endParaRPr lang="en-US" sz="3000" dirty="0"/>
          </a:p>
        </p:txBody>
      </p:sp>
      <p:sp>
        <p:nvSpPr>
          <p:cNvPr id="4" name="Shape 2"/>
          <p:cNvSpPr/>
          <p:nvPr/>
        </p:nvSpPr>
        <p:spPr>
          <a:xfrm>
            <a:off x="548640" y="1920240"/>
            <a:ext cx="1926275" cy="1737360"/>
          </a:xfrm>
          <a:prstGeom prst="roundRect">
            <a:avLst>
              <a:gd name="adj" fmla="val 421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5" name="Shape 3"/>
          <p:cNvSpPr/>
          <p:nvPr/>
        </p:nvSpPr>
        <p:spPr>
          <a:xfrm>
            <a:off x="1283178" y="2148840"/>
            <a:ext cx="457200" cy="457200"/>
          </a:xfrm>
          <a:prstGeom prst="ellipse">
            <a:avLst/>
          </a:prstGeom>
          <a:solidFill>
            <a:srgbClr val="2864E8"/>
          </a:solidFill>
          <a:ln/>
        </p:spPr>
      </p:sp>
      <p:sp>
        <p:nvSpPr>
          <p:cNvPr id="6" name="Text 4"/>
          <p:cNvSpPr txBox="1"/>
          <p:nvPr/>
        </p:nvSpPr>
        <p:spPr>
          <a:xfrm>
            <a:off x="1283178" y="2148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S1</a:t>
            </a:r>
            <a:endParaRPr lang="en-US" sz="1200" dirty="0"/>
          </a:p>
        </p:txBody>
      </p:sp>
      <p:sp>
        <p:nvSpPr>
          <p:cNvPr id="7" name="Text 5"/>
          <p:cNvSpPr txBox="1"/>
          <p:nvPr/>
        </p:nvSpPr>
        <p:spPr>
          <a:xfrm>
            <a:off x="640080" y="2788920"/>
            <a:ext cx="1743395" cy="320040"/>
          </a:xfrm>
          <a:prstGeom prst="rect">
            <a:avLst/>
          </a:prstGeom>
          <a:noFill/>
          <a:ln/>
        </p:spPr>
        <p:txBody>
          <a:bodyPr wrap="square" lIns="0" tIns="0" rIns="0" bIns="0" rtlCol="0" anchor="ctr"/>
          <a:lstStyle/>
          <a:p>
            <a:pPr algn="ctr" indent="0" marL="0">
              <a:buNone/>
            </a:pPr>
            <a:r>
              <a:rPr lang="en-US" sz="1200" b="1" dirty="0">
                <a:solidFill>
                  <a:srgbClr val="0D2046"/>
                </a:solidFill>
                <a:latin typeface="Cambria" pitchFamily="34" charset="0"/>
                <a:ea typeface="Cambria" pitchFamily="34" charset="-122"/>
                <a:cs typeface="Cambria" pitchFamily="34" charset="-120"/>
              </a:rPr>
              <a:t>Fondations</a:t>
            </a:r>
            <a:endParaRPr lang="en-US" sz="1200" dirty="0"/>
          </a:p>
        </p:txBody>
      </p:sp>
      <p:sp>
        <p:nvSpPr>
          <p:cNvPr id="8" name="Text 6"/>
          <p:cNvSpPr txBox="1"/>
          <p:nvPr/>
        </p:nvSpPr>
        <p:spPr>
          <a:xfrm>
            <a:off x="685800" y="3108960"/>
            <a:ext cx="1651955" cy="502920"/>
          </a:xfrm>
          <a:prstGeom prst="rect">
            <a:avLst/>
          </a:prstGeom>
          <a:noFill/>
          <a:ln/>
        </p:spPr>
        <p:txBody>
          <a:bodyPr wrap="square" lIns="0" tIns="0" rIns="0" bIns="0" rtlCol="0" anchor="t"/>
          <a:lstStyle/>
          <a:p>
            <a:pPr algn="ctr" indent="0" marL="0">
              <a:buNone/>
            </a:pPr>
            <a:r>
              <a:rPr lang="en-US" sz="900" dirty="0">
                <a:solidFill>
                  <a:srgbClr val="66728A"/>
                </a:solidFill>
                <a:latin typeface="Calibri" pitchFamily="34" charset="0"/>
                <a:ea typeface="Calibri" pitchFamily="34" charset="-122"/>
                <a:cs typeface="Calibri" pitchFamily="34" charset="-120"/>
              </a:rPr>
              <a:t>Connexion, maquettes, tableau de bord</a:t>
            </a:r>
            <a:endParaRPr lang="en-US" sz="900" dirty="0"/>
          </a:p>
        </p:txBody>
      </p:sp>
      <p:sp>
        <p:nvSpPr>
          <p:cNvPr id="9" name="Shape 7"/>
          <p:cNvSpPr/>
          <p:nvPr/>
        </p:nvSpPr>
        <p:spPr>
          <a:xfrm>
            <a:off x="2840675" y="1920240"/>
            <a:ext cx="1926275" cy="1737360"/>
          </a:xfrm>
          <a:prstGeom prst="roundRect">
            <a:avLst>
              <a:gd name="adj" fmla="val 421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0" name="Shape 8"/>
          <p:cNvSpPr/>
          <p:nvPr/>
        </p:nvSpPr>
        <p:spPr>
          <a:xfrm>
            <a:off x="3575213" y="2148840"/>
            <a:ext cx="457200" cy="457200"/>
          </a:xfrm>
          <a:prstGeom prst="ellipse">
            <a:avLst/>
          </a:prstGeom>
          <a:solidFill>
            <a:srgbClr val="2864E8"/>
          </a:solidFill>
          <a:ln/>
        </p:spPr>
      </p:sp>
      <p:sp>
        <p:nvSpPr>
          <p:cNvPr id="11" name="Text 9"/>
          <p:cNvSpPr txBox="1"/>
          <p:nvPr/>
        </p:nvSpPr>
        <p:spPr>
          <a:xfrm>
            <a:off x="3575213" y="2148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S2</a:t>
            </a:r>
            <a:endParaRPr lang="en-US" sz="1200" dirty="0"/>
          </a:p>
        </p:txBody>
      </p:sp>
      <p:sp>
        <p:nvSpPr>
          <p:cNvPr id="12" name="Text 10"/>
          <p:cNvSpPr txBox="1"/>
          <p:nvPr/>
        </p:nvSpPr>
        <p:spPr>
          <a:xfrm>
            <a:off x="2932115" y="2788920"/>
            <a:ext cx="1743395" cy="320040"/>
          </a:xfrm>
          <a:prstGeom prst="rect">
            <a:avLst/>
          </a:prstGeom>
          <a:noFill/>
          <a:ln/>
        </p:spPr>
        <p:txBody>
          <a:bodyPr wrap="square" lIns="0" tIns="0" rIns="0" bIns="0" rtlCol="0" anchor="ctr"/>
          <a:lstStyle/>
          <a:p>
            <a:pPr algn="ctr" indent="0" marL="0">
              <a:buNone/>
            </a:pPr>
            <a:r>
              <a:rPr lang="en-US" sz="1200" b="1" dirty="0">
                <a:solidFill>
                  <a:srgbClr val="0D2046"/>
                </a:solidFill>
                <a:latin typeface="Cambria" pitchFamily="34" charset="0"/>
                <a:ea typeface="Cambria" pitchFamily="34" charset="-122"/>
                <a:cs typeface="Cambria" pitchFamily="34" charset="-120"/>
              </a:rPr>
              <a:t>Projets</a:t>
            </a:r>
            <a:endParaRPr lang="en-US" sz="1200" dirty="0"/>
          </a:p>
        </p:txBody>
      </p:sp>
      <p:sp>
        <p:nvSpPr>
          <p:cNvPr id="13" name="Text 11"/>
          <p:cNvSpPr txBox="1"/>
          <p:nvPr/>
        </p:nvSpPr>
        <p:spPr>
          <a:xfrm>
            <a:off x="2977835" y="3108960"/>
            <a:ext cx="1651955" cy="502920"/>
          </a:xfrm>
          <a:prstGeom prst="rect">
            <a:avLst/>
          </a:prstGeom>
          <a:noFill/>
          <a:ln/>
        </p:spPr>
        <p:txBody>
          <a:bodyPr wrap="square" lIns="0" tIns="0" rIns="0" bIns="0" rtlCol="0" anchor="t"/>
          <a:lstStyle/>
          <a:p>
            <a:pPr algn="ctr" indent="0" marL="0">
              <a:buNone/>
            </a:pPr>
            <a:r>
              <a:rPr lang="en-US" sz="900" dirty="0">
                <a:solidFill>
                  <a:srgbClr val="66728A"/>
                </a:solidFill>
                <a:latin typeface="Calibri" pitchFamily="34" charset="0"/>
                <a:ea typeface="Calibri" pitchFamily="34" charset="-122"/>
                <a:cs typeface="Calibri" pitchFamily="34" charset="-120"/>
              </a:rPr>
              <a:t>Visibilité, membres, Kanban, documentation</a:t>
            </a:r>
            <a:endParaRPr lang="en-US" sz="900" dirty="0"/>
          </a:p>
        </p:txBody>
      </p:sp>
      <p:sp>
        <p:nvSpPr>
          <p:cNvPr id="14" name="Shape 12"/>
          <p:cNvSpPr/>
          <p:nvPr/>
        </p:nvSpPr>
        <p:spPr>
          <a:xfrm>
            <a:off x="5132710" y="1920240"/>
            <a:ext cx="1926275" cy="1737360"/>
          </a:xfrm>
          <a:prstGeom prst="roundRect">
            <a:avLst>
              <a:gd name="adj" fmla="val 421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5" name="Shape 13"/>
          <p:cNvSpPr/>
          <p:nvPr/>
        </p:nvSpPr>
        <p:spPr>
          <a:xfrm>
            <a:off x="5867248" y="2148840"/>
            <a:ext cx="457200" cy="457200"/>
          </a:xfrm>
          <a:prstGeom prst="ellipse">
            <a:avLst/>
          </a:prstGeom>
          <a:solidFill>
            <a:srgbClr val="2864E8"/>
          </a:solidFill>
          <a:ln/>
        </p:spPr>
      </p:sp>
      <p:sp>
        <p:nvSpPr>
          <p:cNvPr id="16" name="Text 14"/>
          <p:cNvSpPr txBox="1"/>
          <p:nvPr/>
        </p:nvSpPr>
        <p:spPr>
          <a:xfrm>
            <a:off x="5867248" y="2148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S3</a:t>
            </a:r>
            <a:endParaRPr lang="en-US" sz="1200" dirty="0"/>
          </a:p>
        </p:txBody>
      </p:sp>
      <p:sp>
        <p:nvSpPr>
          <p:cNvPr id="17" name="Text 15"/>
          <p:cNvSpPr txBox="1"/>
          <p:nvPr/>
        </p:nvSpPr>
        <p:spPr>
          <a:xfrm>
            <a:off x="5224150" y="2788920"/>
            <a:ext cx="1743395" cy="320040"/>
          </a:xfrm>
          <a:prstGeom prst="rect">
            <a:avLst/>
          </a:prstGeom>
          <a:noFill/>
          <a:ln/>
        </p:spPr>
        <p:txBody>
          <a:bodyPr wrap="square" lIns="0" tIns="0" rIns="0" bIns="0" rtlCol="0" anchor="ctr"/>
          <a:lstStyle/>
          <a:p>
            <a:pPr algn="ctr" indent="0" marL="0">
              <a:buNone/>
            </a:pPr>
            <a:r>
              <a:rPr lang="en-US" sz="1200" b="1" dirty="0">
                <a:solidFill>
                  <a:srgbClr val="0D2046"/>
                </a:solidFill>
                <a:latin typeface="Cambria" pitchFamily="34" charset="0"/>
                <a:ea typeface="Cambria" pitchFamily="34" charset="-122"/>
                <a:cs typeface="Cambria" pitchFamily="34" charset="-120"/>
              </a:rPr>
              <a:t>Inventaire</a:t>
            </a:r>
            <a:endParaRPr lang="en-US" sz="1200" dirty="0"/>
          </a:p>
        </p:txBody>
      </p:sp>
      <p:sp>
        <p:nvSpPr>
          <p:cNvPr id="18" name="Text 16"/>
          <p:cNvSpPr txBox="1"/>
          <p:nvPr/>
        </p:nvSpPr>
        <p:spPr>
          <a:xfrm>
            <a:off x="5269870" y="3108960"/>
            <a:ext cx="1651955" cy="502920"/>
          </a:xfrm>
          <a:prstGeom prst="rect">
            <a:avLst/>
          </a:prstGeom>
          <a:noFill/>
          <a:ln/>
        </p:spPr>
        <p:txBody>
          <a:bodyPr wrap="square" lIns="0" tIns="0" rIns="0" bIns="0" rtlCol="0" anchor="t"/>
          <a:lstStyle/>
          <a:p>
            <a:pPr algn="ctr" indent="0" marL="0">
              <a:buNone/>
            </a:pPr>
            <a:r>
              <a:rPr lang="en-US" sz="900" dirty="0">
                <a:solidFill>
                  <a:srgbClr val="66728A"/>
                </a:solidFill>
                <a:latin typeface="Calibri" pitchFamily="34" charset="0"/>
                <a:ea typeface="Calibri" pitchFamily="34" charset="-122"/>
                <a:cs typeface="Calibri" pitchFamily="34" charset="-120"/>
              </a:rPr>
              <a:t>Fiches, catégories, recherche, historiques</a:t>
            </a:r>
            <a:endParaRPr lang="en-US" sz="900" dirty="0"/>
          </a:p>
        </p:txBody>
      </p:sp>
      <p:sp>
        <p:nvSpPr>
          <p:cNvPr id="19" name="Shape 17"/>
          <p:cNvSpPr/>
          <p:nvPr/>
        </p:nvSpPr>
        <p:spPr>
          <a:xfrm>
            <a:off x="7424745" y="1920240"/>
            <a:ext cx="1926275" cy="1737360"/>
          </a:xfrm>
          <a:prstGeom prst="roundRect">
            <a:avLst>
              <a:gd name="adj" fmla="val 421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20" name="Shape 18"/>
          <p:cNvSpPr/>
          <p:nvPr/>
        </p:nvSpPr>
        <p:spPr>
          <a:xfrm>
            <a:off x="8159283" y="2148840"/>
            <a:ext cx="457200" cy="457200"/>
          </a:xfrm>
          <a:prstGeom prst="ellipse">
            <a:avLst/>
          </a:prstGeom>
          <a:solidFill>
            <a:srgbClr val="2864E8"/>
          </a:solidFill>
          <a:ln/>
        </p:spPr>
      </p:sp>
      <p:sp>
        <p:nvSpPr>
          <p:cNvPr id="21" name="Text 19"/>
          <p:cNvSpPr txBox="1"/>
          <p:nvPr/>
        </p:nvSpPr>
        <p:spPr>
          <a:xfrm>
            <a:off x="8159283" y="2148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S4</a:t>
            </a:r>
            <a:endParaRPr lang="en-US" sz="1200" dirty="0"/>
          </a:p>
        </p:txBody>
      </p:sp>
      <p:sp>
        <p:nvSpPr>
          <p:cNvPr id="22" name="Text 20"/>
          <p:cNvSpPr txBox="1"/>
          <p:nvPr/>
        </p:nvSpPr>
        <p:spPr>
          <a:xfrm>
            <a:off x="7516185" y="2788920"/>
            <a:ext cx="1743395" cy="320040"/>
          </a:xfrm>
          <a:prstGeom prst="rect">
            <a:avLst/>
          </a:prstGeom>
          <a:noFill/>
          <a:ln/>
        </p:spPr>
        <p:txBody>
          <a:bodyPr wrap="square" lIns="0" tIns="0" rIns="0" bIns="0" rtlCol="0" anchor="ctr"/>
          <a:lstStyle/>
          <a:p>
            <a:pPr algn="ctr" indent="0" marL="0">
              <a:buNone/>
            </a:pPr>
            <a:r>
              <a:rPr lang="en-US" sz="1200" b="1" dirty="0">
                <a:solidFill>
                  <a:srgbClr val="0D2046"/>
                </a:solidFill>
                <a:latin typeface="Cambria" pitchFamily="34" charset="0"/>
                <a:ea typeface="Cambria" pitchFamily="34" charset="-122"/>
                <a:cs typeface="Cambria" pitchFamily="34" charset="-120"/>
              </a:rPr>
              <a:t>Cohérence métier</a:t>
            </a:r>
            <a:endParaRPr lang="en-US" sz="1200" dirty="0"/>
          </a:p>
        </p:txBody>
      </p:sp>
      <p:sp>
        <p:nvSpPr>
          <p:cNvPr id="23" name="Text 21"/>
          <p:cNvSpPr txBox="1"/>
          <p:nvPr/>
        </p:nvSpPr>
        <p:spPr>
          <a:xfrm>
            <a:off x="7561905" y="3108960"/>
            <a:ext cx="1651955" cy="502920"/>
          </a:xfrm>
          <a:prstGeom prst="rect">
            <a:avLst/>
          </a:prstGeom>
          <a:noFill/>
          <a:ln/>
        </p:spPr>
        <p:txBody>
          <a:bodyPr wrap="square" lIns="0" tIns="0" rIns="0" bIns="0" rtlCol="0" anchor="t"/>
          <a:lstStyle/>
          <a:p>
            <a:pPr algn="ctr" indent="0" marL="0">
              <a:buNone/>
            </a:pPr>
            <a:r>
              <a:rPr lang="en-US" sz="900" dirty="0">
                <a:solidFill>
                  <a:srgbClr val="66728A"/>
                </a:solidFill>
                <a:latin typeface="Calibri" pitchFamily="34" charset="0"/>
                <a:ea typeface="Calibri" pitchFamily="34" charset="-122"/>
                <a:cs typeface="Calibri" pitchFamily="34" charset="-120"/>
              </a:rPr>
              <a:t>Réservations, archives, notifications</a:t>
            </a:r>
            <a:endParaRPr lang="en-US" sz="900" dirty="0"/>
          </a:p>
        </p:txBody>
      </p:sp>
      <p:sp>
        <p:nvSpPr>
          <p:cNvPr id="24" name="Shape 22"/>
          <p:cNvSpPr/>
          <p:nvPr/>
        </p:nvSpPr>
        <p:spPr>
          <a:xfrm>
            <a:off x="9716780" y="1920240"/>
            <a:ext cx="1926275" cy="1737360"/>
          </a:xfrm>
          <a:prstGeom prst="roundRect">
            <a:avLst>
              <a:gd name="adj" fmla="val 421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25" name="Shape 23"/>
          <p:cNvSpPr/>
          <p:nvPr/>
        </p:nvSpPr>
        <p:spPr>
          <a:xfrm>
            <a:off x="10451318" y="2148840"/>
            <a:ext cx="457200" cy="457200"/>
          </a:xfrm>
          <a:prstGeom prst="ellipse">
            <a:avLst/>
          </a:prstGeom>
          <a:solidFill>
            <a:srgbClr val="2864E8"/>
          </a:solidFill>
          <a:ln/>
        </p:spPr>
      </p:sp>
      <p:sp>
        <p:nvSpPr>
          <p:cNvPr id="26" name="Text 24"/>
          <p:cNvSpPr txBox="1"/>
          <p:nvPr/>
        </p:nvSpPr>
        <p:spPr>
          <a:xfrm>
            <a:off x="10451318" y="21488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S5</a:t>
            </a:r>
            <a:endParaRPr lang="en-US" sz="1200" dirty="0"/>
          </a:p>
        </p:txBody>
      </p:sp>
      <p:sp>
        <p:nvSpPr>
          <p:cNvPr id="27" name="Text 25"/>
          <p:cNvSpPr txBox="1"/>
          <p:nvPr/>
        </p:nvSpPr>
        <p:spPr>
          <a:xfrm>
            <a:off x="9808220" y="2788920"/>
            <a:ext cx="1743395" cy="320040"/>
          </a:xfrm>
          <a:prstGeom prst="rect">
            <a:avLst/>
          </a:prstGeom>
          <a:noFill/>
          <a:ln/>
        </p:spPr>
        <p:txBody>
          <a:bodyPr wrap="square" lIns="0" tIns="0" rIns="0" bIns="0" rtlCol="0" anchor="ctr"/>
          <a:lstStyle/>
          <a:p>
            <a:pPr algn="ctr" indent="0" marL="0">
              <a:buNone/>
            </a:pPr>
            <a:r>
              <a:rPr lang="en-US" sz="1200" b="1" dirty="0">
                <a:solidFill>
                  <a:srgbClr val="0D2046"/>
                </a:solidFill>
                <a:latin typeface="Cambria" pitchFamily="34" charset="0"/>
                <a:ea typeface="Cambria" pitchFamily="34" charset="-122"/>
                <a:cs typeface="Cambria" pitchFamily="34" charset="-120"/>
              </a:rPr>
              <a:t>Extensions</a:t>
            </a:r>
            <a:endParaRPr lang="en-US" sz="1200" dirty="0"/>
          </a:p>
        </p:txBody>
      </p:sp>
      <p:sp>
        <p:nvSpPr>
          <p:cNvPr id="28" name="Text 26"/>
          <p:cNvSpPr txBox="1"/>
          <p:nvPr/>
        </p:nvSpPr>
        <p:spPr>
          <a:xfrm>
            <a:off x="9853940" y="3108960"/>
            <a:ext cx="1651955" cy="502920"/>
          </a:xfrm>
          <a:prstGeom prst="rect">
            <a:avLst/>
          </a:prstGeom>
          <a:noFill/>
          <a:ln/>
        </p:spPr>
        <p:txBody>
          <a:bodyPr wrap="square" lIns="0" tIns="0" rIns="0" bIns="0" rtlCol="0" anchor="t"/>
          <a:lstStyle/>
          <a:p>
            <a:pPr algn="ctr" indent="0" marL="0">
              <a:buNone/>
            </a:pPr>
            <a:r>
              <a:rPr lang="en-US" sz="900" dirty="0">
                <a:solidFill>
                  <a:srgbClr val="66728A"/>
                </a:solidFill>
                <a:latin typeface="Calibri" pitchFamily="34" charset="0"/>
                <a:ea typeface="Calibri" pitchFamily="34" charset="-122"/>
                <a:cs typeface="Calibri" pitchFamily="34" charset="-120"/>
              </a:rPr>
              <a:t>Calendrier, exports Excel/PDF</a:t>
            </a:r>
            <a:endParaRPr lang="en-US" sz="900" dirty="0"/>
          </a:p>
        </p:txBody>
      </p:sp>
      <p:sp>
        <p:nvSpPr>
          <p:cNvPr id="29" name="Shape 27"/>
          <p:cNvSpPr/>
          <p:nvPr/>
        </p:nvSpPr>
        <p:spPr>
          <a:xfrm>
            <a:off x="548640" y="3977640"/>
            <a:ext cx="11094415" cy="1783080"/>
          </a:xfrm>
          <a:prstGeom prst="roundRect">
            <a:avLst>
              <a:gd name="adj" fmla="val 4103"/>
            </a:avLst>
          </a:prstGeom>
          <a:solidFill>
            <a:srgbClr val="0D2046"/>
          </a:solidFill>
          <a:ln/>
          <a:effectLst>
            <a:outerShdw sx="100000" sy="100000" kx="0" ky="0" algn="bl" rotWithShape="0" blurRad="127000" dist="38100" dir="5400000">
              <a:srgbClr val="1B2B4B">
                <a:alpha val="12000"/>
              </a:srgbClr>
            </a:outerShdw>
          </a:effectLst>
        </p:spPr>
      </p:sp>
      <p:sp>
        <p:nvSpPr>
          <p:cNvPr id="30" name="Text 28"/>
          <p:cNvSpPr txBox="1"/>
          <p:nvPr/>
        </p:nvSpPr>
        <p:spPr>
          <a:xfrm>
            <a:off x="914400" y="4160520"/>
            <a:ext cx="10362895"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Itérations complémentaires demandées par le client</a:t>
            </a:r>
            <a:endParaRPr lang="en-US" sz="1300" dirty="0"/>
          </a:p>
        </p:txBody>
      </p:sp>
      <p:sp>
        <p:nvSpPr>
          <p:cNvPr id="31" name="Shape 29"/>
          <p:cNvSpPr/>
          <p:nvPr/>
        </p:nvSpPr>
        <p:spPr>
          <a:xfrm>
            <a:off x="914400" y="4645152"/>
            <a:ext cx="91440" cy="91440"/>
          </a:xfrm>
          <a:prstGeom prst="roundRect">
            <a:avLst>
              <a:gd name="adj" fmla="val 20000"/>
            </a:avLst>
          </a:prstGeom>
          <a:solidFill>
            <a:srgbClr val="8FB0FF"/>
          </a:solidFill>
          <a:ln/>
        </p:spPr>
      </p:sp>
      <p:sp>
        <p:nvSpPr>
          <p:cNvPr id="32" name="Text 30"/>
          <p:cNvSpPr txBox="1"/>
          <p:nvPr/>
        </p:nvSpPr>
        <p:spPr>
          <a:xfrm>
            <a:off x="1133856" y="4572000"/>
            <a:ext cx="4901184" cy="365760"/>
          </a:xfrm>
          <a:prstGeom prst="rect">
            <a:avLst/>
          </a:prstGeom>
          <a:noFill/>
          <a:ln/>
        </p:spPr>
        <p:txBody>
          <a:bodyPr wrap="square" lIns="0" tIns="0" rIns="0" bIns="0" rtlCol="0" anchor="t"/>
          <a:lstStyle/>
          <a:p>
            <a:pPr indent="0" marL="0">
              <a:buNone/>
            </a:pPr>
            <a:r>
              <a:rPr lang="en-US" sz="1000" dirty="0">
                <a:solidFill>
                  <a:srgbClr val="DCE6FA"/>
                </a:solidFill>
                <a:latin typeface="Calibri" pitchFamily="34" charset="0"/>
                <a:ea typeface="Calibri" pitchFamily="34" charset="-122"/>
                <a:cs typeface="Calibri" pitchFamily="34" charset="-120"/>
              </a:rPr>
              <a:t>Quantité, seuil d'alerte et signalement de rupture sur le matériel non individualisé</a:t>
            </a:r>
            <a:endParaRPr lang="en-US" sz="1000" dirty="0"/>
          </a:p>
        </p:txBody>
      </p:sp>
      <p:sp>
        <p:nvSpPr>
          <p:cNvPr id="33" name="Shape 31"/>
          <p:cNvSpPr/>
          <p:nvPr/>
        </p:nvSpPr>
        <p:spPr>
          <a:xfrm>
            <a:off x="6309360" y="4645152"/>
            <a:ext cx="91440" cy="91440"/>
          </a:xfrm>
          <a:prstGeom prst="roundRect">
            <a:avLst>
              <a:gd name="adj" fmla="val 20000"/>
            </a:avLst>
          </a:prstGeom>
          <a:solidFill>
            <a:srgbClr val="8FB0FF"/>
          </a:solidFill>
          <a:ln/>
        </p:spPr>
      </p:sp>
      <p:sp>
        <p:nvSpPr>
          <p:cNvPr id="34" name="Text 32"/>
          <p:cNvSpPr txBox="1"/>
          <p:nvPr/>
        </p:nvSpPr>
        <p:spPr>
          <a:xfrm>
            <a:off x="6528816" y="4572000"/>
            <a:ext cx="4901184" cy="365760"/>
          </a:xfrm>
          <a:prstGeom prst="rect">
            <a:avLst/>
          </a:prstGeom>
          <a:noFill/>
          <a:ln/>
        </p:spPr>
        <p:txBody>
          <a:bodyPr wrap="square" lIns="0" tIns="0" rIns="0" bIns="0" rtlCol="0" anchor="t"/>
          <a:lstStyle/>
          <a:p>
            <a:pPr indent="0" marL="0">
              <a:buNone/>
            </a:pPr>
            <a:r>
              <a:rPr lang="en-US" sz="1000" dirty="0">
                <a:solidFill>
                  <a:srgbClr val="DCE6FA"/>
                </a:solidFill>
                <a:latin typeface="Calibri" pitchFamily="34" charset="0"/>
                <a:ea typeface="Calibri" pitchFamily="34" charset="-122"/>
                <a:cs typeface="Calibri" pitchFamily="34" charset="-120"/>
              </a:rPr>
              <a:t>Gestion complète des comptes par l'administrateur (création, rôle, désactivation)</a:t>
            </a:r>
            <a:endParaRPr lang="en-US" sz="1000" dirty="0"/>
          </a:p>
        </p:txBody>
      </p:sp>
      <p:sp>
        <p:nvSpPr>
          <p:cNvPr id="35" name="Shape 33"/>
          <p:cNvSpPr/>
          <p:nvPr/>
        </p:nvSpPr>
        <p:spPr>
          <a:xfrm>
            <a:off x="914400" y="5029200"/>
            <a:ext cx="91440" cy="91440"/>
          </a:xfrm>
          <a:prstGeom prst="roundRect">
            <a:avLst>
              <a:gd name="adj" fmla="val 20000"/>
            </a:avLst>
          </a:prstGeom>
          <a:solidFill>
            <a:srgbClr val="8FB0FF"/>
          </a:solidFill>
          <a:ln/>
        </p:spPr>
      </p:sp>
      <p:sp>
        <p:nvSpPr>
          <p:cNvPr id="36" name="Text 34"/>
          <p:cNvSpPr txBox="1"/>
          <p:nvPr/>
        </p:nvSpPr>
        <p:spPr>
          <a:xfrm>
            <a:off x="1133856" y="4956048"/>
            <a:ext cx="4901184" cy="365760"/>
          </a:xfrm>
          <a:prstGeom prst="rect">
            <a:avLst/>
          </a:prstGeom>
          <a:noFill/>
          <a:ln/>
        </p:spPr>
        <p:txBody>
          <a:bodyPr wrap="square" lIns="0" tIns="0" rIns="0" bIns="0" rtlCol="0" anchor="t"/>
          <a:lstStyle/>
          <a:p>
            <a:pPr indent="0" marL="0">
              <a:buNone/>
            </a:pPr>
            <a:r>
              <a:rPr lang="en-US" sz="1000" dirty="0">
                <a:solidFill>
                  <a:srgbClr val="DCE6FA"/>
                </a:solidFill>
                <a:latin typeface="Calibri" pitchFamily="34" charset="0"/>
                <a:ea typeface="Calibri" pitchFamily="34" charset="-122"/>
                <a:cs typeface="Calibri" pitchFamily="34" charset="-120"/>
              </a:rPr>
              <a:t>Fiche projet en page dédiée, avec son propre lien</a:t>
            </a:r>
            <a:endParaRPr lang="en-US" sz="1000" dirty="0"/>
          </a:p>
        </p:txBody>
      </p:sp>
      <p:sp>
        <p:nvSpPr>
          <p:cNvPr id="37" name="Shape 35"/>
          <p:cNvSpPr/>
          <p:nvPr/>
        </p:nvSpPr>
        <p:spPr>
          <a:xfrm>
            <a:off x="6309360" y="5029200"/>
            <a:ext cx="91440" cy="91440"/>
          </a:xfrm>
          <a:prstGeom prst="roundRect">
            <a:avLst>
              <a:gd name="adj" fmla="val 20000"/>
            </a:avLst>
          </a:prstGeom>
          <a:solidFill>
            <a:srgbClr val="8FB0FF"/>
          </a:solidFill>
          <a:ln/>
        </p:spPr>
      </p:sp>
      <p:sp>
        <p:nvSpPr>
          <p:cNvPr id="38" name="Text 36"/>
          <p:cNvSpPr txBox="1"/>
          <p:nvPr/>
        </p:nvSpPr>
        <p:spPr>
          <a:xfrm>
            <a:off x="6528816" y="4956048"/>
            <a:ext cx="4901184" cy="365760"/>
          </a:xfrm>
          <a:prstGeom prst="rect">
            <a:avLst/>
          </a:prstGeom>
          <a:noFill/>
          <a:ln/>
        </p:spPr>
        <p:txBody>
          <a:bodyPr wrap="square" lIns="0" tIns="0" rIns="0" bIns="0" rtlCol="0" anchor="t"/>
          <a:lstStyle/>
          <a:p>
            <a:pPr indent="0" marL="0">
              <a:buNone/>
            </a:pPr>
            <a:r>
              <a:rPr lang="en-US" sz="1000" dirty="0">
                <a:solidFill>
                  <a:srgbClr val="DCE6FA"/>
                </a:solidFill>
                <a:latin typeface="Calibri" pitchFamily="34" charset="0"/>
                <a:ea typeface="Calibri" pitchFamily="34" charset="-122"/>
                <a:cs typeface="Calibri" pitchFamily="34" charset="-120"/>
              </a:rPr>
              <a:t>Colonne Kanban « En revue » entre En cours et Fait</a:t>
            </a:r>
            <a:endParaRPr lang="en-US" sz="1000" dirty="0"/>
          </a:p>
        </p:txBody>
      </p:sp>
      <p:sp>
        <p:nvSpPr>
          <p:cNvPr id="39" name="Shape 37"/>
          <p:cNvSpPr/>
          <p:nvPr/>
        </p:nvSpPr>
        <p:spPr>
          <a:xfrm>
            <a:off x="914400" y="5413248"/>
            <a:ext cx="91440" cy="91440"/>
          </a:xfrm>
          <a:prstGeom prst="roundRect">
            <a:avLst>
              <a:gd name="adj" fmla="val 20000"/>
            </a:avLst>
          </a:prstGeom>
          <a:solidFill>
            <a:srgbClr val="8FB0FF"/>
          </a:solidFill>
          <a:ln/>
        </p:spPr>
      </p:sp>
      <p:sp>
        <p:nvSpPr>
          <p:cNvPr id="40" name="Text 38"/>
          <p:cNvSpPr txBox="1"/>
          <p:nvPr/>
        </p:nvSpPr>
        <p:spPr>
          <a:xfrm>
            <a:off x="1133856" y="5340096"/>
            <a:ext cx="4901184" cy="365760"/>
          </a:xfrm>
          <a:prstGeom prst="rect">
            <a:avLst/>
          </a:prstGeom>
          <a:noFill/>
          <a:ln/>
        </p:spPr>
        <p:txBody>
          <a:bodyPr wrap="square" lIns="0" tIns="0" rIns="0" bIns="0" rtlCol="0" anchor="t"/>
          <a:lstStyle/>
          <a:p>
            <a:pPr indent="0" marL="0">
              <a:buNone/>
            </a:pPr>
            <a:r>
              <a:rPr lang="en-US" sz="1000" dirty="0">
                <a:solidFill>
                  <a:srgbClr val="DCE6FA"/>
                </a:solidFill>
                <a:latin typeface="Calibri" pitchFamily="34" charset="0"/>
                <a:ea typeface="Calibri" pitchFamily="34" charset="-122"/>
                <a:cs typeface="Calibri" pitchFamily="34" charset="-120"/>
              </a:rPr>
              <a:t>Statut de projet affiché : en attente, actif ou clôturé</a:t>
            </a:r>
            <a:endParaRPr lang="en-US" sz="1000" dirty="0"/>
          </a:p>
        </p:txBody>
      </p:sp>
      <p:sp>
        <p:nvSpPr>
          <p:cNvPr id="41" name="Shape 39"/>
          <p:cNvSpPr/>
          <p:nvPr/>
        </p:nvSpPr>
        <p:spPr>
          <a:xfrm>
            <a:off x="6309360" y="5413248"/>
            <a:ext cx="91440" cy="91440"/>
          </a:xfrm>
          <a:prstGeom prst="roundRect">
            <a:avLst>
              <a:gd name="adj" fmla="val 20000"/>
            </a:avLst>
          </a:prstGeom>
          <a:solidFill>
            <a:srgbClr val="8FB0FF"/>
          </a:solidFill>
          <a:ln/>
        </p:spPr>
      </p:sp>
      <p:sp>
        <p:nvSpPr>
          <p:cNvPr id="42" name="Text 40"/>
          <p:cNvSpPr txBox="1"/>
          <p:nvPr/>
        </p:nvSpPr>
        <p:spPr>
          <a:xfrm>
            <a:off x="6528816" y="5340096"/>
            <a:ext cx="4901184" cy="365760"/>
          </a:xfrm>
          <a:prstGeom prst="rect">
            <a:avLst/>
          </a:prstGeom>
          <a:noFill/>
          <a:ln/>
        </p:spPr>
        <p:txBody>
          <a:bodyPr wrap="square" lIns="0" tIns="0" rIns="0" bIns="0" rtlCol="0" anchor="t"/>
          <a:lstStyle/>
          <a:p>
            <a:pPr indent="0" marL="0">
              <a:buNone/>
            </a:pPr>
            <a:r>
              <a:rPr lang="en-US" sz="1000" dirty="0">
                <a:solidFill>
                  <a:srgbClr val="DCE6FA"/>
                </a:solidFill>
                <a:latin typeface="Calibri" pitchFamily="34" charset="0"/>
                <a:ea typeface="Calibri" pitchFamily="34" charset="-122"/>
                <a:cs typeface="Calibri" pitchFamily="34" charset="-120"/>
              </a:rPr>
              <a:t>Thème clair / sombre et page Paramètres personnelle</a:t>
            </a:r>
            <a:endParaRPr lang="en-US" sz="1000" dirty="0"/>
          </a:p>
        </p:txBody>
      </p:sp>
      <p:sp>
        <p:nvSpPr>
          <p:cNvPr id="43" name="Text 41"/>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44" name="Text 4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DÉMONSTRATION · NOM 3 · 4 MIN 30</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Un appareil, un projet, du début à la fin</a:t>
            </a:r>
            <a:endParaRPr lang="en-US" sz="3000" dirty="0"/>
          </a:p>
        </p:txBody>
      </p:sp>
      <p:sp>
        <p:nvSpPr>
          <p:cNvPr id="4" name="Shape 2"/>
          <p:cNvSpPr/>
          <p:nvPr/>
        </p:nvSpPr>
        <p:spPr>
          <a:xfrm>
            <a:off x="548640" y="1828800"/>
            <a:ext cx="11094415" cy="868680"/>
          </a:xfrm>
          <a:prstGeom prst="roundRect">
            <a:avLst>
              <a:gd name="adj" fmla="val 84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5" name="Text 3"/>
          <p:cNvSpPr txBox="1"/>
          <p:nvPr/>
        </p:nvSpPr>
        <p:spPr>
          <a:xfrm>
            <a:off x="868680" y="1828800"/>
            <a:ext cx="10454335" cy="868680"/>
          </a:xfrm>
          <a:prstGeom prst="rect">
            <a:avLst/>
          </a:prstGeom>
          <a:noFill/>
          <a:ln/>
        </p:spPr>
        <p:txBody>
          <a:bodyPr wrap="square" lIns="0" tIns="0" rIns="0" bIns="0" rtlCol="0" anchor="ctr"/>
          <a:lstStyle/>
          <a:p>
            <a:pPr indent="0" marL="0">
              <a:buNone/>
            </a:pPr>
            <a:r>
              <a:rPr lang="en-US" sz="1300" i="1" dirty="0">
                <a:solidFill>
                  <a:srgbClr val="152033"/>
                </a:solidFill>
                <a:latin typeface="Calibri" pitchFamily="34" charset="0"/>
                <a:ea typeface="Calibri" pitchFamily="34" charset="-122"/>
                <a:cs typeface="Calibri" pitchFamily="34" charset="-120"/>
              </a:rPr>
              <a:t>Le labo reçoit un analyseur de spectre. Une équipe le réserve pour sa campagne de mesures. Le projet se termine, l'appareil redevient libre.</a:t>
            </a:r>
            <a:endParaRPr lang="en-US" sz="1300" dirty="0"/>
          </a:p>
        </p:txBody>
      </p:sp>
      <p:sp>
        <p:nvSpPr>
          <p:cNvPr id="6" name="Shape 4"/>
          <p:cNvSpPr/>
          <p:nvPr/>
        </p:nvSpPr>
        <p:spPr>
          <a:xfrm>
            <a:off x="548640" y="2971800"/>
            <a:ext cx="2542032" cy="3017520"/>
          </a:xfrm>
          <a:prstGeom prst="roundRect">
            <a:avLst>
              <a:gd name="adj" fmla="val 2878"/>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7" name="Shape 5"/>
          <p:cNvSpPr/>
          <p:nvPr/>
        </p:nvSpPr>
        <p:spPr>
          <a:xfrm>
            <a:off x="777240" y="3200400"/>
            <a:ext cx="502920" cy="502920"/>
          </a:xfrm>
          <a:prstGeom prst="ellipse">
            <a:avLst/>
          </a:prstGeom>
          <a:solidFill>
            <a:srgbClr val="2864E8"/>
          </a:solidFill>
          <a:ln/>
        </p:spPr>
      </p:sp>
      <p:sp>
        <p:nvSpPr>
          <p:cNvPr id="8" name="Text 6"/>
          <p:cNvSpPr txBox="1"/>
          <p:nvPr/>
        </p:nvSpPr>
        <p:spPr>
          <a:xfrm>
            <a:off x="777240" y="3200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777240" y="3840480"/>
            <a:ext cx="2084832" cy="274320"/>
          </a:xfrm>
          <a:prstGeom prst="rect">
            <a:avLst/>
          </a:prstGeom>
          <a:noFill/>
          <a:ln/>
        </p:spPr>
        <p:txBody>
          <a:bodyPr wrap="square" lIns="0" tIns="0" rIns="0" bIns="0" rtlCol="0" anchor="ctr"/>
          <a:lstStyle/>
          <a:p>
            <a:pPr indent="0" marL="0">
              <a:buNone/>
            </a:pPr>
            <a:r>
              <a:rPr lang="en-US" sz="950" b="1" dirty="0">
                <a:solidFill>
                  <a:srgbClr val="2864E8"/>
                </a:solidFill>
                <a:latin typeface="Calibri" pitchFamily="34" charset="0"/>
                <a:ea typeface="Calibri" pitchFamily="34" charset="-122"/>
                <a:cs typeface="Calibri" pitchFamily="34" charset="-120"/>
              </a:rPr>
              <a:t>ACTE 1 · Nom 1</a:t>
            </a:r>
            <a:endParaRPr lang="en-US" sz="950" dirty="0"/>
          </a:p>
        </p:txBody>
      </p:sp>
      <p:sp>
        <p:nvSpPr>
          <p:cNvPr id="10" name="Text 8"/>
          <p:cNvSpPr txBox="1"/>
          <p:nvPr/>
        </p:nvSpPr>
        <p:spPr>
          <a:xfrm>
            <a:off x="777240" y="4114800"/>
            <a:ext cx="2084832" cy="365760"/>
          </a:xfrm>
          <a:prstGeom prst="rect">
            <a:avLst/>
          </a:prstGeom>
          <a:noFill/>
          <a:ln/>
        </p:spPr>
        <p:txBody>
          <a:bodyPr wrap="square" lIns="0" tIns="0" rIns="0" bIns="0" rtlCol="0" anchor="ctr"/>
          <a:lstStyle/>
          <a:p>
            <a:pPr indent="0" marL="0">
              <a:buNone/>
            </a:pPr>
            <a:r>
              <a:rPr lang="en-US" sz="1600" b="1" dirty="0">
                <a:solidFill>
                  <a:srgbClr val="0D2046"/>
                </a:solidFill>
                <a:latin typeface="Cambria" pitchFamily="34" charset="0"/>
                <a:ea typeface="Cambria" pitchFamily="34" charset="-122"/>
                <a:cs typeface="Cambria" pitchFamily="34" charset="-120"/>
              </a:rPr>
              <a:t>Gestionnaire</a:t>
            </a:r>
            <a:endParaRPr lang="en-US" sz="1600" dirty="0"/>
          </a:p>
        </p:txBody>
      </p:sp>
      <p:sp>
        <p:nvSpPr>
          <p:cNvPr id="11" name="Text 9"/>
          <p:cNvSpPr txBox="1"/>
          <p:nvPr/>
        </p:nvSpPr>
        <p:spPr>
          <a:xfrm>
            <a:off x="777240" y="4572000"/>
            <a:ext cx="2084832" cy="1280160"/>
          </a:xfrm>
          <a:prstGeom prst="rect">
            <a:avLst/>
          </a:prstGeom>
          <a:noFill/>
          <a:ln/>
        </p:spPr>
        <p:txBody>
          <a:bodyPr wrap="square" lIns="0" tIns="0" rIns="0" bIns="0" rtlCol="0" anchor="t"/>
          <a:lstStyle/>
          <a:p>
            <a:pPr indent="0" marL="0">
              <a:spcAft>
                <a:spcPts val="600"/>
              </a:spcAft>
              <a:buNone/>
            </a:pPr>
            <a:r>
              <a:rPr lang="en-US" sz="1050" dirty="0">
                <a:solidFill>
                  <a:srgbClr val="66728A"/>
                </a:solidFill>
                <a:latin typeface="Calibri" pitchFamily="34" charset="0"/>
                <a:ea typeface="Calibri" pitchFamily="34" charset="-122"/>
                <a:cs typeface="Calibri" pitchFamily="34" charset="-120"/>
              </a:rPr>
              <a:t>Ajoute l'analyseur et joint sa facture.</a:t>
            </a:r>
            <a:endParaRPr lang="en-US" sz="1050" dirty="0"/>
          </a:p>
          <a:p>
            <a:pPr indent="0" marL="0">
              <a:spcAft>
                <a:spcPts val="600"/>
              </a:spcAft>
              <a:buNone/>
            </a:pPr>
            <a:r>
              <a:rPr lang="en-US" sz="1050" dirty="0">
                <a:solidFill>
                  <a:srgbClr val="66728A"/>
                </a:solidFill>
                <a:latin typeface="Calibri" pitchFamily="34" charset="0"/>
                <a:ea typeface="Calibri" pitchFamily="34" charset="-122"/>
                <a:cs typeface="Calibri" pitchFamily="34" charset="-120"/>
              </a:rPr>
              <a:t>Fixe un seuil d'alerte, exporte l'inventaire.</a:t>
            </a:r>
            <a:endParaRPr lang="en-US" sz="1050" dirty="0"/>
          </a:p>
        </p:txBody>
      </p:sp>
      <p:sp>
        <p:nvSpPr>
          <p:cNvPr id="12" name="Shape 10"/>
          <p:cNvSpPr/>
          <p:nvPr/>
        </p:nvSpPr>
        <p:spPr>
          <a:xfrm>
            <a:off x="3346704" y="2971800"/>
            <a:ext cx="2542032" cy="3017520"/>
          </a:xfrm>
          <a:prstGeom prst="roundRect">
            <a:avLst>
              <a:gd name="adj" fmla="val 2878"/>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3" name="Shape 11"/>
          <p:cNvSpPr/>
          <p:nvPr/>
        </p:nvSpPr>
        <p:spPr>
          <a:xfrm>
            <a:off x="3575304" y="3200400"/>
            <a:ext cx="502920" cy="502920"/>
          </a:xfrm>
          <a:prstGeom prst="ellipse">
            <a:avLst/>
          </a:prstGeom>
          <a:solidFill>
            <a:srgbClr val="078451"/>
          </a:solidFill>
          <a:ln/>
        </p:spPr>
      </p:sp>
      <p:sp>
        <p:nvSpPr>
          <p:cNvPr id="14" name="Text 12"/>
          <p:cNvSpPr txBox="1"/>
          <p:nvPr/>
        </p:nvSpPr>
        <p:spPr>
          <a:xfrm>
            <a:off x="3575304" y="3200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txBox="1"/>
          <p:nvPr/>
        </p:nvSpPr>
        <p:spPr>
          <a:xfrm>
            <a:off x="3575304" y="3840480"/>
            <a:ext cx="2084832" cy="274320"/>
          </a:xfrm>
          <a:prstGeom prst="rect">
            <a:avLst/>
          </a:prstGeom>
          <a:noFill/>
          <a:ln/>
        </p:spPr>
        <p:txBody>
          <a:bodyPr wrap="square" lIns="0" tIns="0" rIns="0" bIns="0" rtlCol="0" anchor="ctr"/>
          <a:lstStyle/>
          <a:p>
            <a:pPr indent="0" marL="0">
              <a:buNone/>
            </a:pPr>
            <a:r>
              <a:rPr lang="en-US" sz="950" b="1" dirty="0">
                <a:solidFill>
                  <a:srgbClr val="078451"/>
                </a:solidFill>
                <a:latin typeface="Calibri" pitchFamily="34" charset="0"/>
                <a:ea typeface="Calibri" pitchFamily="34" charset="-122"/>
                <a:cs typeface="Calibri" pitchFamily="34" charset="-120"/>
              </a:rPr>
              <a:t>ACTE 2 · Nom 2</a:t>
            </a:r>
            <a:endParaRPr lang="en-US" sz="950" dirty="0"/>
          </a:p>
        </p:txBody>
      </p:sp>
      <p:sp>
        <p:nvSpPr>
          <p:cNvPr id="16" name="Text 14"/>
          <p:cNvSpPr txBox="1"/>
          <p:nvPr/>
        </p:nvSpPr>
        <p:spPr>
          <a:xfrm>
            <a:off x="3575304" y="4114800"/>
            <a:ext cx="2084832" cy="365760"/>
          </a:xfrm>
          <a:prstGeom prst="rect">
            <a:avLst/>
          </a:prstGeom>
          <a:noFill/>
          <a:ln/>
        </p:spPr>
        <p:txBody>
          <a:bodyPr wrap="square" lIns="0" tIns="0" rIns="0" bIns="0" rtlCol="0" anchor="ctr"/>
          <a:lstStyle/>
          <a:p>
            <a:pPr indent="0" marL="0">
              <a:buNone/>
            </a:pPr>
            <a:r>
              <a:rPr lang="en-US" sz="1600" b="1" dirty="0">
                <a:solidFill>
                  <a:srgbClr val="0D2046"/>
                </a:solidFill>
                <a:latin typeface="Cambria" pitchFamily="34" charset="0"/>
                <a:ea typeface="Cambria" pitchFamily="34" charset="-122"/>
                <a:cs typeface="Cambria" pitchFamily="34" charset="-120"/>
              </a:rPr>
              <a:t>Responsable</a:t>
            </a:r>
            <a:endParaRPr lang="en-US" sz="1600" dirty="0"/>
          </a:p>
        </p:txBody>
      </p:sp>
      <p:sp>
        <p:nvSpPr>
          <p:cNvPr id="17" name="Text 15"/>
          <p:cNvSpPr txBox="1"/>
          <p:nvPr/>
        </p:nvSpPr>
        <p:spPr>
          <a:xfrm>
            <a:off x="3575304" y="4572000"/>
            <a:ext cx="2084832" cy="1280160"/>
          </a:xfrm>
          <a:prstGeom prst="rect">
            <a:avLst/>
          </a:prstGeom>
          <a:noFill/>
          <a:ln/>
        </p:spPr>
        <p:txBody>
          <a:bodyPr wrap="square" lIns="0" tIns="0" rIns="0" bIns="0" rtlCol="0" anchor="t"/>
          <a:lstStyle/>
          <a:p>
            <a:pPr indent="0" marL="0">
              <a:spcAft>
                <a:spcPts val="600"/>
              </a:spcAft>
              <a:buNone/>
            </a:pPr>
            <a:r>
              <a:rPr lang="en-US" sz="1050" dirty="0">
                <a:solidFill>
                  <a:srgbClr val="66728A"/>
                </a:solidFill>
                <a:latin typeface="Calibri" pitchFamily="34" charset="0"/>
                <a:ea typeface="Calibri" pitchFamily="34" charset="-122"/>
                <a:cs typeface="Calibri" pitchFamily="34" charset="-120"/>
              </a:rPr>
              <a:t>Fait avancer le Kanban jusqu'à En revue.</a:t>
            </a:r>
            <a:endParaRPr lang="en-US" sz="1050" dirty="0"/>
          </a:p>
          <a:p>
            <a:pPr indent="0" marL="0">
              <a:spcAft>
                <a:spcPts val="600"/>
              </a:spcAft>
              <a:buNone/>
            </a:pPr>
            <a:r>
              <a:rPr lang="en-US" sz="1050" dirty="0">
                <a:solidFill>
                  <a:srgbClr val="66728A"/>
                </a:solidFill>
                <a:latin typeface="Calibri" pitchFamily="34" charset="0"/>
                <a:ea typeface="Calibri" pitchFamily="34" charset="-122"/>
                <a:cs typeface="Calibri" pitchFamily="34" charset="-120"/>
              </a:rPr>
              <a:t>Ajoute un membre, exporte la documentation.</a:t>
            </a:r>
            <a:endParaRPr lang="en-US" sz="1050" dirty="0"/>
          </a:p>
        </p:txBody>
      </p:sp>
      <p:sp>
        <p:nvSpPr>
          <p:cNvPr id="18" name="Shape 16"/>
          <p:cNvSpPr/>
          <p:nvPr/>
        </p:nvSpPr>
        <p:spPr>
          <a:xfrm>
            <a:off x="6144768" y="2971800"/>
            <a:ext cx="2542032" cy="3017520"/>
          </a:xfrm>
          <a:prstGeom prst="roundRect">
            <a:avLst>
              <a:gd name="adj" fmla="val 2878"/>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9" name="Shape 17"/>
          <p:cNvSpPr/>
          <p:nvPr/>
        </p:nvSpPr>
        <p:spPr>
          <a:xfrm>
            <a:off x="6373368" y="3200400"/>
            <a:ext cx="502920" cy="502920"/>
          </a:xfrm>
          <a:prstGeom prst="ellipse">
            <a:avLst/>
          </a:prstGeom>
          <a:solidFill>
            <a:srgbClr val="7138D0"/>
          </a:solidFill>
          <a:ln/>
        </p:spPr>
      </p:sp>
      <p:sp>
        <p:nvSpPr>
          <p:cNvPr id="20" name="Text 18"/>
          <p:cNvSpPr txBox="1"/>
          <p:nvPr/>
        </p:nvSpPr>
        <p:spPr>
          <a:xfrm>
            <a:off x="6373368" y="3200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txBox="1"/>
          <p:nvPr/>
        </p:nvSpPr>
        <p:spPr>
          <a:xfrm>
            <a:off x="6373368" y="3840480"/>
            <a:ext cx="2084832" cy="274320"/>
          </a:xfrm>
          <a:prstGeom prst="rect">
            <a:avLst/>
          </a:prstGeom>
          <a:noFill/>
          <a:ln/>
        </p:spPr>
        <p:txBody>
          <a:bodyPr wrap="square" lIns="0" tIns="0" rIns="0" bIns="0" rtlCol="0" anchor="ctr"/>
          <a:lstStyle/>
          <a:p>
            <a:pPr indent="0" marL="0">
              <a:buNone/>
            </a:pPr>
            <a:r>
              <a:rPr lang="en-US" sz="950" b="1" dirty="0">
                <a:solidFill>
                  <a:srgbClr val="7138D0"/>
                </a:solidFill>
                <a:latin typeface="Calibri" pitchFamily="34" charset="0"/>
                <a:ea typeface="Calibri" pitchFamily="34" charset="-122"/>
                <a:cs typeface="Calibri" pitchFamily="34" charset="-120"/>
              </a:rPr>
              <a:t>ACTE 3 · Nom 3</a:t>
            </a:r>
            <a:endParaRPr lang="en-US" sz="950" dirty="0"/>
          </a:p>
        </p:txBody>
      </p:sp>
      <p:sp>
        <p:nvSpPr>
          <p:cNvPr id="22" name="Text 20"/>
          <p:cNvSpPr txBox="1"/>
          <p:nvPr/>
        </p:nvSpPr>
        <p:spPr>
          <a:xfrm>
            <a:off x="6373368" y="4114800"/>
            <a:ext cx="2084832" cy="365760"/>
          </a:xfrm>
          <a:prstGeom prst="rect">
            <a:avLst/>
          </a:prstGeom>
          <a:noFill/>
          <a:ln/>
        </p:spPr>
        <p:txBody>
          <a:bodyPr wrap="square" lIns="0" tIns="0" rIns="0" bIns="0" rtlCol="0" anchor="ctr"/>
          <a:lstStyle/>
          <a:p>
            <a:pPr indent="0" marL="0">
              <a:buNone/>
            </a:pPr>
            <a:r>
              <a:rPr lang="en-US" sz="1600" b="1" dirty="0">
                <a:solidFill>
                  <a:srgbClr val="0D2046"/>
                </a:solidFill>
                <a:latin typeface="Cambria" pitchFamily="34" charset="0"/>
                <a:ea typeface="Cambria" pitchFamily="34" charset="-122"/>
                <a:cs typeface="Cambria" pitchFamily="34" charset="-120"/>
              </a:rPr>
              <a:t>Membre</a:t>
            </a:r>
            <a:endParaRPr lang="en-US" sz="1600" dirty="0"/>
          </a:p>
        </p:txBody>
      </p:sp>
      <p:sp>
        <p:nvSpPr>
          <p:cNvPr id="23" name="Text 21"/>
          <p:cNvSpPr txBox="1"/>
          <p:nvPr/>
        </p:nvSpPr>
        <p:spPr>
          <a:xfrm>
            <a:off x="6373368" y="4572000"/>
            <a:ext cx="2084832" cy="1280160"/>
          </a:xfrm>
          <a:prstGeom prst="rect">
            <a:avLst/>
          </a:prstGeom>
          <a:noFill/>
          <a:ln/>
        </p:spPr>
        <p:txBody>
          <a:bodyPr wrap="square" lIns="0" tIns="0" rIns="0" bIns="0" rtlCol="0" anchor="t"/>
          <a:lstStyle/>
          <a:p>
            <a:pPr indent="0" marL="0">
              <a:spcAft>
                <a:spcPts val="600"/>
              </a:spcAft>
              <a:buNone/>
            </a:pPr>
            <a:r>
              <a:rPr lang="en-US" sz="1050" dirty="0">
                <a:solidFill>
                  <a:srgbClr val="66728A"/>
                </a:solidFill>
                <a:latin typeface="Calibri" pitchFamily="34" charset="0"/>
                <a:ea typeface="Calibri" pitchFamily="34" charset="-122"/>
                <a:cs typeface="Calibri" pitchFamily="34" charset="-120"/>
              </a:rPr>
              <a:t>Réserve, se fait refuser un chevauchement.</a:t>
            </a:r>
            <a:endParaRPr lang="en-US" sz="1050" dirty="0"/>
          </a:p>
          <a:p>
            <a:pPr indent="0" marL="0">
              <a:spcAft>
                <a:spcPts val="600"/>
              </a:spcAft>
              <a:buNone/>
            </a:pPr>
            <a:r>
              <a:rPr lang="en-US" sz="1050" dirty="0">
                <a:solidFill>
                  <a:srgbClr val="66728A"/>
                </a:solidFill>
                <a:latin typeface="Calibri" pitchFamily="34" charset="0"/>
                <a:ea typeface="Calibri" pitchFamily="34" charset="-122"/>
                <a:cs typeface="Calibri" pitchFamily="34" charset="-120"/>
              </a:rPr>
              <a:t>Ouvre le calendrier et la page du projet.</a:t>
            </a:r>
            <a:endParaRPr lang="en-US" sz="1050" dirty="0"/>
          </a:p>
        </p:txBody>
      </p:sp>
      <p:sp>
        <p:nvSpPr>
          <p:cNvPr id="24" name="Shape 22"/>
          <p:cNvSpPr/>
          <p:nvPr/>
        </p:nvSpPr>
        <p:spPr>
          <a:xfrm>
            <a:off x="8942832" y="2971800"/>
            <a:ext cx="2542032" cy="3017520"/>
          </a:xfrm>
          <a:prstGeom prst="roundRect">
            <a:avLst>
              <a:gd name="adj" fmla="val 2878"/>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25" name="Shape 23"/>
          <p:cNvSpPr/>
          <p:nvPr/>
        </p:nvSpPr>
        <p:spPr>
          <a:xfrm>
            <a:off x="9171432" y="3200400"/>
            <a:ext cx="502920" cy="502920"/>
          </a:xfrm>
          <a:prstGeom prst="ellipse">
            <a:avLst/>
          </a:prstGeom>
          <a:solidFill>
            <a:srgbClr val="9B5A08"/>
          </a:solidFill>
          <a:ln/>
        </p:spPr>
      </p:sp>
      <p:sp>
        <p:nvSpPr>
          <p:cNvPr id="26" name="Text 24"/>
          <p:cNvSpPr txBox="1"/>
          <p:nvPr/>
        </p:nvSpPr>
        <p:spPr>
          <a:xfrm>
            <a:off x="9171432" y="3200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txBox="1"/>
          <p:nvPr/>
        </p:nvSpPr>
        <p:spPr>
          <a:xfrm>
            <a:off x="9171432" y="3840480"/>
            <a:ext cx="2084832" cy="274320"/>
          </a:xfrm>
          <a:prstGeom prst="rect">
            <a:avLst/>
          </a:prstGeom>
          <a:noFill/>
          <a:ln/>
        </p:spPr>
        <p:txBody>
          <a:bodyPr wrap="square" lIns="0" tIns="0" rIns="0" bIns="0" rtlCol="0" anchor="ctr"/>
          <a:lstStyle/>
          <a:p>
            <a:pPr indent="0" marL="0">
              <a:buNone/>
            </a:pPr>
            <a:r>
              <a:rPr lang="en-US" sz="950" b="1" dirty="0">
                <a:solidFill>
                  <a:srgbClr val="9B5A08"/>
                </a:solidFill>
                <a:latin typeface="Calibri" pitchFamily="34" charset="0"/>
                <a:ea typeface="Calibri" pitchFamily="34" charset="-122"/>
                <a:cs typeface="Calibri" pitchFamily="34" charset="-120"/>
              </a:rPr>
              <a:t>ACTE 4 · Nom 4</a:t>
            </a:r>
            <a:endParaRPr lang="en-US" sz="950" dirty="0"/>
          </a:p>
        </p:txBody>
      </p:sp>
      <p:sp>
        <p:nvSpPr>
          <p:cNvPr id="28" name="Text 26"/>
          <p:cNvSpPr txBox="1"/>
          <p:nvPr/>
        </p:nvSpPr>
        <p:spPr>
          <a:xfrm>
            <a:off x="9171432" y="4114800"/>
            <a:ext cx="2084832" cy="365760"/>
          </a:xfrm>
          <a:prstGeom prst="rect">
            <a:avLst/>
          </a:prstGeom>
          <a:noFill/>
          <a:ln/>
        </p:spPr>
        <p:txBody>
          <a:bodyPr wrap="square" lIns="0" tIns="0" rIns="0" bIns="0" rtlCol="0" anchor="ctr"/>
          <a:lstStyle/>
          <a:p>
            <a:pPr indent="0" marL="0">
              <a:buNone/>
            </a:pPr>
            <a:r>
              <a:rPr lang="en-US" sz="1600" b="1" dirty="0">
                <a:solidFill>
                  <a:srgbClr val="0D2046"/>
                </a:solidFill>
                <a:latin typeface="Cambria" pitchFamily="34" charset="0"/>
                <a:ea typeface="Cambria" pitchFamily="34" charset="-122"/>
                <a:cs typeface="Cambria" pitchFamily="34" charset="-120"/>
              </a:rPr>
              <a:t>Administrateur</a:t>
            </a:r>
            <a:endParaRPr lang="en-US" sz="1600" dirty="0"/>
          </a:p>
        </p:txBody>
      </p:sp>
      <p:sp>
        <p:nvSpPr>
          <p:cNvPr id="29" name="Text 27"/>
          <p:cNvSpPr txBox="1"/>
          <p:nvPr/>
        </p:nvSpPr>
        <p:spPr>
          <a:xfrm>
            <a:off x="9171432" y="4572000"/>
            <a:ext cx="2084832" cy="1280160"/>
          </a:xfrm>
          <a:prstGeom prst="rect">
            <a:avLst/>
          </a:prstGeom>
          <a:noFill/>
          <a:ln/>
        </p:spPr>
        <p:txBody>
          <a:bodyPr wrap="square" lIns="0" tIns="0" rIns="0" bIns="0" rtlCol="0" anchor="t"/>
          <a:lstStyle/>
          <a:p>
            <a:pPr indent="0" marL="0">
              <a:spcAft>
                <a:spcPts val="600"/>
              </a:spcAft>
              <a:buNone/>
            </a:pPr>
            <a:r>
              <a:rPr lang="en-US" sz="1050" dirty="0">
                <a:solidFill>
                  <a:srgbClr val="66728A"/>
                </a:solidFill>
                <a:latin typeface="Calibri" pitchFamily="34" charset="0"/>
                <a:ea typeface="Calibri" pitchFamily="34" charset="-122"/>
                <a:cs typeface="Calibri" pitchFamily="34" charset="-120"/>
              </a:rPr>
              <a:t>Archive un matériel ; le projet se clôt seul.</a:t>
            </a:r>
            <a:endParaRPr lang="en-US" sz="1050" dirty="0"/>
          </a:p>
          <a:p>
            <a:pPr indent="0" marL="0">
              <a:spcAft>
                <a:spcPts val="600"/>
              </a:spcAft>
              <a:buNone/>
            </a:pPr>
            <a:r>
              <a:rPr lang="en-US" sz="1050" dirty="0">
                <a:solidFill>
                  <a:srgbClr val="66728A"/>
                </a:solidFill>
                <a:latin typeface="Calibri" pitchFamily="34" charset="0"/>
                <a:ea typeface="Calibri" pitchFamily="34" charset="-122"/>
                <a:cs typeface="Calibri" pitchFamily="34" charset="-120"/>
              </a:rPr>
              <a:t>Consulte la page Paramètres et les comptes.</a:t>
            </a:r>
            <a:endParaRPr lang="en-US" sz="1050" dirty="0"/>
          </a:p>
        </p:txBody>
      </p:sp>
      <p:sp>
        <p:nvSpPr>
          <p:cNvPr id="30" name="Text 28"/>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31" name="Text 2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RÈGLES MÉTIER · NOM 4</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La cohérence des droits, vérifiée à chaque requête</a:t>
            </a:r>
            <a:endParaRPr lang="en-US" sz="3000" dirty="0"/>
          </a:p>
        </p:txBody>
      </p:sp>
      <p:sp>
        <p:nvSpPr>
          <p:cNvPr id="4" name="Shape 2"/>
          <p:cNvSpPr/>
          <p:nvPr/>
        </p:nvSpPr>
        <p:spPr>
          <a:xfrm>
            <a:off x="548640" y="1874520"/>
            <a:ext cx="3515258" cy="1965960"/>
          </a:xfrm>
          <a:prstGeom prst="roundRect">
            <a:avLst>
              <a:gd name="adj" fmla="val 37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5" name="Shape 3"/>
          <p:cNvSpPr/>
          <p:nvPr/>
        </p:nvSpPr>
        <p:spPr>
          <a:xfrm>
            <a:off x="749808" y="2075688"/>
            <a:ext cx="365760" cy="365760"/>
          </a:xfrm>
          <a:prstGeom prst="roundRect">
            <a:avLst>
              <a:gd name="adj" fmla="val 15000"/>
            </a:avLst>
          </a:prstGeom>
          <a:solidFill>
            <a:srgbClr val="2864E8"/>
          </a:solidFill>
          <a:ln/>
        </p:spPr>
      </p:sp>
      <p:sp>
        <p:nvSpPr>
          <p:cNvPr id="6" name="Text 4"/>
          <p:cNvSpPr txBox="1"/>
          <p:nvPr/>
        </p:nvSpPr>
        <p:spPr>
          <a:xfrm>
            <a:off x="749808" y="2587752"/>
            <a:ext cx="3112922" cy="50292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Projet privé invisible</a:t>
            </a:r>
            <a:endParaRPr lang="en-US" sz="1250" dirty="0"/>
          </a:p>
        </p:txBody>
      </p:sp>
      <p:sp>
        <p:nvSpPr>
          <p:cNvPr id="7" name="Text 5"/>
          <p:cNvSpPr txBox="1"/>
          <p:nvPr/>
        </p:nvSpPr>
        <p:spPr>
          <a:xfrm>
            <a:off x="749808" y="3063240"/>
            <a:ext cx="3112922" cy="685800"/>
          </a:xfrm>
          <a:prstGeom prst="rect">
            <a:avLst/>
          </a:prstGeom>
          <a:noFill/>
          <a:ln/>
        </p:spPr>
        <p:txBody>
          <a:bodyPr wrap="square" lIns="0" tIns="0" rIns="0" bIns="0" rtlCol="0" anchor="t"/>
          <a:lstStyle/>
          <a:p>
            <a:pPr indent="0" marL="0">
              <a:buNone/>
            </a:pPr>
            <a:r>
              <a:rPr lang="en-US" sz="950" dirty="0">
                <a:solidFill>
                  <a:srgbClr val="66728A"/>
                </a:solidFill>
                <a:latin typeface="Calibri" pitchFamily="34" charset="0"/>
                <a:ea typeface="Calibri" pitchFamily="34" charset="-122"/>
                <a:cs typeface="Calibri" pitchFamily="34" charset="-120"/>
              </a:rPr>
              <a:t>Un projet privé n'est jamais découvert par un utilisateur extérieur.</a:t>
            </a:r>
            <a:endParaRPr lang="en-US" sz="950" dirty="0"/>
          </a:p>
        </p:txBody>
      </p:sp>
      <p:sp>
        <p:nvSpPr>
          <p:cNvPr id="8" name="Shape 6"/>
          <p:cNvSpPr/>
          <p:nvPr/>
        </p:nvSpPr>
        <p:spPr>
          <a:xfrm>
            <a:off x="4338218" y="1874520"/>
            <a:ext cx="3515258" cy="1965960"/>
          </a:xfrm>
          <a:prstGeom prst="roundRect">
            <a:avLst>
              <a:gd name="adj" fmla="val 37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9" name="Shape 7"/>
          <p:cNvSpPr/>
          <p:nvPr/>
        </p:nvSpPr>
        <p:spPr>
          <a:xfrm>
            <a:off x="4539386" y="2075688"/>
            <a:ext cx="365760" cy="365760"/>
          </a:xfrm>
          <a:prstGeom prst="roundRect">
            <a:avLst>
              <a:gd name="adj" fmla="val 15000"/>
            </a:avLst>
          </a:prstGeom>
          <a:solidFill>
            <a:srgbClr val="9B5A08"/>
          </a:solidFill>
          <a:ln/>
        </p:spPr>
      </p:sp>
      <p:sp>
        <p:nvSpPr>
          <p:cNvPr id="10" name="Text 8"/>
          <p:cNvSpPr txBox="1"/>
          <p:nvPr/>
        </p:nvSpPr>
        <p:spPr>
          <a:xfrm>
            <a:off x="4539386" y="2587752"/>
            <a:ext cx="3112922" cy="50292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Gestionnaire hors projets</a:t>
            </a:r>
            <a:endParaRPr lang="en-US" sz="1250" dirty="0"/>
          </a:p>
        </p:txBody>
      </p:sp>
      <p:sp>
        <p:nvSpPr>
          <p:cNvPr id="11" name="Text 9"/>
          <p:cNvSpPr txBox="1"/>
          <p:nvPr/>
        </p:nvSpPr>
        <p:spPr>
          <a:xfrm>
            <a:off x="4539386" y="3063240"/>
            <a:ext cx="3112922" cy="685800"/>
          </a:xfrm>
          <a:prstGeom prst="rect">
            <a:avLst/>
          </a:prstGeom>
          <a:noFill/>
          <a:ln/>
        </p:spPr>
        <p:txBody>
          <a:bodyPr wrap="square" lIns="0" tIns="0" rIns="0" bIns="0" rtlCol="0" anchor="t"/>
          <a:lstStyle/>
          <a:p>
            <a:pPr indent="0" marL="0">
              <a:buNone/>
            </a:pPr>
            <a:r>
              <a:rPr lang="en-US" sz="950" dirty="0">
                <a:solidFill>
                  <a:srgbClr val="66728A"/>
                </a:solidFill>
                <a:latin typeface="Calibri" pitchFamily="34" charset="0"/>
                <a:ea typeface="Calibri" pitchFamily="34" charset="-122"/>
                <a:cs typeface="Calibri" pitchFamily="34" charset="-120"/>
              </a:rPr>
              <a:t>Le gestionnaire ne peut accéder à aucun projet, quelle que soit sa visibilité.</a:t>
            </a:r>
            <a:endParaRPr lang="en-US" sz="950" dirty="0"/>
          </a:p>
        </p:txBody>
      </p:sp>
      <p:sp>
        <p:nvSpPr>
          <p:cNvPr id="12" name="Shape 10"/>
          <p:cNvSpPr/>
          <p:nvPr/>
        </p:nvSpPr>
        <p:spPr>
          <a:xfrm>
            <a:off x="8127797" y="1874520"/>
            <a:ext cx="3515258" cy="1965960"/>
          </a:xfrm>
          <a:prstGeom prst="roundRect">
            <a:avLst>
              <a:gd name="adj" fmla="val 37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3" name="Shape 11"/>
          <p:cNvSpPr/>
          <p:nvPr/>
        </p:nvSpPr>
        <p:spPr>
          <a:xfrm>
            <a:off x="8328965" y="2075688"/>
            <a:ext cx="365760" cy="365760"/>
          </a:xfrm>
          <a:prstGeom prst="roundRect">
            <a:avLst>
              <a:gd name="adj" fmla="val 15000"/>
            </a:avLst>
          </a:prstGeom>
          <a:solidFill>
            <a:srgbClr val="7138D0"/>
          </a:solidFill>
          <a:ln/>
        </p:spPr>
      </p:sp>
      <p:sp>
        <p:nvSpPr>
          <p:cNvPr id="14" name="Text 12"/>
          <p:cNvSpPr txBox="1"/>
          <p:nvPr/>
        </p:nvSpPr>
        <p:spPr>
          <a:xfrm>
            <a:off x="8328965" y="2587752"/>
            <a:ext cx="3112922" cy="50292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Un seul gestionnaire actif</a:t>
            </a:r>
            <a:endParaRPr lang="en-US" sz="1250" dirty="0"/>
          </a:p>
        </p:txBody>
      </p:sp>
      <p:sp>
        <p:nvSpPr>
          <p:cNvPr id="15" name="Text 13"/>
          <p:cNvSpPr txBox="1"/>
          <p:nvPr/>
        </p:nvSpPr>
        <p:spPr>
          <a:xfrm>
            <a:off x="8328965" y="3063240"/>
            <a:ext cx="3112922" cy="685800"/>
          </a:xfrm>
          <a:prstGeom prst="rect">
            <a:avLst/>
          </a:prstGeom>
          <a:noFill/>
          <a:ln/>
        </p:spPr>
        <p:txBody>
          <a:bodyPr wrap="square" lIns="0" tIns="0" rIns="0" bIns="0" rtlCol="0" anchor="t"/>
          <a:lstStyle/>
          <a:p>
            <a:pPr indent="0" marL="0">
              <a:buNone/>
            </a:pPr>
            <a:r>
              <a:rPr lang="en-US" sz="950" dirty="0">
                <a:solidFill>
                  <a:srgbClr val="66728A"/>
                </a:solidFill>
                <a:latin typeface="Calibri" pitchFamily="34" charset="0"/>
                <a:ea typeface="Calibri" pitchFamily="34" charset="-122"/>
                <a:cs typeface="Calibri" pitchFamily="34" charset="-120"/>
              </a:rPr>
              <a:t>Nommer un nouveau gestionnaire rétrograde automatiquement le précédent.</a:t>
            </a:r>
            <a:endParaRPr lang="en-US" sz="950" dirty="0"/>
          </a:p>
        </p:txBody>
      </p:sp>
      <p:sp>
        <p:nvSpPr>
          <p:cNvPr id="16" name="Shape 14"/>
          <p:cNvSpPr/>
          <p:nvPr/>
        </p:nvSpPr>
        <p:spPr>
          <a:xfrm>
            <a:off x="548640" y="4069080"/>
            <a:ext cx="3515258" cy="1965960"/>
          </a:xfrm>
          <a:prstGeom prst="roundRect">
            <a:avLst>
              <a:gd name="adj" fmla="val 37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7" name="Shape 15"/>
          <p:cNvSpPr/>
          <p:nvPr/>
        </p:nvSpPr>
        <p:spPr>
          <a:xfrm>
            <a:off x="749808" y="4270248"/>
            <a:ext cx="365760" cy="365760"/>
          </a:xfrm>
          <a:prstGeom prst="roundRect">
            <a:avLst>
              <a:gd name="adj" fmla="val 15000"/>
            </a:avLst>
          </a:prstGeom>
          <a:solidFill>
            <a:srgbClr val="078451"/>
          </a:solidFill>
          <a:ln/>
        </p:spPr>
      </p:sp>
      <p:sp>
        <p:nvSpPr>
          <p:cNvPr id="18" name="Text 16"/>
          <p:cNvSpPr txBox="1"/>
          <p:nvPr/>
        </p:nvSpPr>
        <p:spPr>
          <a:xfrm>
            <a:off x="749808" y="4782312"/>
            <a:ext cx="3112922" cy="50292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Réservation sans conflit</a:t>
            </a:r>
            <a:endParaRPr lang="en-US" sz="1250" dirty="0"/>
          </a:p>
        </p:txBody>
      </p:sp>
      <p:sp>
        <p:nvSpPr>
          <p:cNvPr id="19" name="Text 17"/>
          <p:cNvSpPr txBox="1"/>
          <p:nvPr/>
        </p:nvSpPr>
        <p:spPr>
          <a:xfrm>
            <a:off x="749808" y="5257800"/>
            <a:ext cx="3112922" cy="685800"/>
          </a:xfrm>
          <a:prstGeom prst="rect">
            <a:avLst/>
          </a:prstGeom>
          <a:noFill/>
          <a:ln/>
        </p:spPr>
        <p:txBody>
          <a:bodyPr wrap="square" lIns="0" tIns="0" rIns="0" bIns="0" rtlCol="0" anchor="t"/>
          <a:lstStyle/>
          <a:p>
            <a:pPr indent="0" marL="0">
              <a:buNone/>
            </a:pPr>
            <a:r>
              <a:rPr lang="en-US" sz="950" dirty="0">
                <a:solidFill>
                  <a:srgbClr val="66728A"/>
                </a:solidFill>
                <a:latin typeface="Calibri" pitchFamily="34" charset="0"/>
                <a:ea typeface="Calibri" pitchFamily="34" charset="-122"/>
                <a:cs typeface="Calibri" pitchFamily="34" charset="-120"/>
              </a:rPr>
              <a:t>Deux créneaux incompatibles sur le même matériel ne peuvent jamais coexister.</a:t>
            </a:r>
            <a:endParaRPr lang="en-US" sz="950" dirty="0"/>
          </a:p>
        </p:txBody>
      </p:sp>
      <p:sp>
        <p:nvSpPr>
          <p:cNvPr id="20" name="Shape 18"/>
          <p:cNvSpPr/>
          <p:nvPr/>
        </p:nvSpPr>
        <p:spPr>
          <a:xfrm>
            <a:off x="4338218" y="4069080"/>
            <a:ext cx="3515258" cy="1965960"/>
          </a:xfrm>
          <a:prstGeom prst="roundRect">
            <a:avLst>
              <a:gd name="adj" fmla="val 37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21" name="Shape 19"/>
          <p:cNvSpPr/>
          <p:nvPr/>
        </p:nvSpPr>
        <p:spPr>
          <a:xfrm>
            <a:off x="4539386" y="4270248"/>
            <a:ext cx="365760" cy="365760"/>
          </a:xfrm>
          <a:prstGeom prst="roundRect">
            <a:avLst>
              <a:gd name="adj" fmla="val 15000"/>
            </a:avLst>
          </a:prstGeom>
          <a:solidFill>
            <a:srgbClr val="C42B1C"/>
          </a:solidFill>
          <a:ln/>
        </p:spPr>
      </p:sp>
      <p:sp>
        <p:nvSpPr>
          <p:cNvPr id="22" name="Text 20"/>
          <p:cNvSpPr txBox="1"/>
          <p:nvPr/>
        </p:nvSpPr>
        <p:spPr>
          <a:xfrm>
            <a:off x="4539386" y="4782312"/>
            <a:ext cx="3112922" cy="50292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Archivage traçable</a:t>
            </a:r>
            <a:endParaRPr lang="en-US" sz="1250" dirty="0"/>
          </a:p>
        </p:txBody>
      </p:sp>
      <p:sp>
        <p:nvSpPr>
          <p:cNvPr id="23" name="Text 21"/>
          <p:cNvSpPr txBox="1"/>
          <p:nvPr/>
        </p:nvSpPr>
        <p:spPr>
          <a:xfrm>
            <a:off x="4539386" y="5257800"/>
            <a:ext cx="3112922" cy="685800"/>
          </a:xfrm>
          <a:prstGeom prst="rect">
            <a:avLst/>
          </a:prstGeom>
          <a:noFill/>
          <a:ln/>
        </p:spPr>
        <p:txBody>
          <a:bodyPr wrap="square" lIns="0" tIns="0" rIns="0" bIns="0" rtlCol="0" anchor="t"/>
          <a:lstStyle/>
          <a:p>
            <a:pPr indent="0" marL="0">
              <a:buNone/>
            </a:pPr>
            <a:r>
              <a:rPr lang="en-US" sz="950" dirty="0">
                <a:solidFill>
                  <a:srgbClr val="66728A"/>
                </a:solidFill>
                <a:latin typeface="Calibri" pitchFamily="34" charset="0"/>
                <a:ea typeface="Calibri" pitchFamily="34" charset="-122"/>
                <a:cs typeface="Calibri" pitchFamily="34" charset="-120"/>
              </a:rPr>
              <a:t>L'archivage conserve l'historique et libère les réservations concernées.</a:t>
            </a:r>
            <a:endParaRPr lang="en-US" sz="950" dirty="0"/>
          </a:p>
        </p:txBody>
      </p:sp>
      <p:sp>
        <p:nvSpPr>
          <p:cNvPr id="24" name="Shape 22"/>
          <p:cNvSpPr/>
          <p:nvPr/>
        </p:nvSpPr>
        <p:spPr>
          <a:xfrm>
            <a:off x="8127797" y="4069080"/>
            <a:ext cx="3515258" cy="1965960"/>
          </a:xfrm>
          <a:prstGeom prst="roundRect">
            <a:avLst>
              <a:gd name="adj" fmla="val 37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25" name="Shape 23"/>
          <p:cNvSpPr/>
          <p:nvPr/>
        </p:nvSpPr>
        <p:spPr>
          <a:xfrm>
            <a:off x="8328965" y="4270248"/>
            <a:ext cx="365760" cy="365760"/>
          </a:xfrm>
          <a:prstGeom prst="roundRect">
            <a:avLst>
              <a:gd name="adj" fmla="val 15000"/>
            </a:avLst>
          </a:prstGeom>
          <a:solidFill>
            <a:srgbClr val="1F55CC"/>
          </a:solidFill>
          <a:ln/>
        </p:spPr>
      </p:sp>
      <p:sp>
        <p:nvSpPr>
          <p:cNvPr id="26" name="Text 24"/>
          <p:cNvSpPr txBox="1"/>
          <p:nvPr/>
        </p:nvSpPr>
        <p:spPr>
          <a:xfrm>
            <a:off x="8328965" y="4782312"/>
            <a:ext cx="3112922" cy="50292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Clôture automatique</a:t>
            </a:r>
            <a:endParaRPr lang="en-US" sz="1250" dirty="0"/>
          </a:p>
        </p:txBody>
      </p:sp>
      <p:sp>
        <p:nvSpPr>
          <p:cNvPr id="27" name="Text 25"/>
          <p:cNvSpPr txBox="1"/>
          <p:nvPr/>
        </p:nvSpPr>
        <p:spPr>
          <a:xfrm>
            <a:off x="8328965" y="5257800"/>
            <a:ext cx="3112922" cy="685800"/>
          </a:xfrm>
          <a:prstGeom prst="rect">
            <a:avLst/>
          </a:prstGeom>
          <a:noFill/>
          <a:ln/>
        </p:spPr>
        <p:txBody>
          <a:bodyPr wrap="square" lIns="0" tIns="0" rIns="0" bIns="0" rtlCol="0" anchor="t"/>
          <a:lstStyle/>
          <a:p>
            <a:pPr indent="0" marL="0">
              <a:buNone/>
            </a:pPr>
            <a:r>
              <a:rPr lang="en-US" sz="950" dirty="0">
                <a:solidFill>
                  <a:srgbClr val="66728A"/>
                </a:solidFill>
                <a:latin typeface="Calibri" pitchFamily="34" charset="0"/>
                <a:ea typeface="Calibri" pitchFamily="34" charset="-122"/>
                <a:cs typeface="Calibri" pitchFamily="34" charset="-120"/>
              </a:rPr>
              <a:t>La dernière tâche active terminée clôture le projet et le matériel réservé.</a:t>
            </a:r>
            <a:endParaRPr lang="en-US" sz="950" dirty="0"/>
          </a:p>
        </p:txBody>
      </p:sp>
      <p:sp>
        <p:nvSpPr>
          <p:cNvPr id="28" name="Text 26"/>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29" name="Text 27"/>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BILAN · NOM 4</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Ce qui est vérifié, ce qui reste à faire</a:t>
            </a:r>
            <a:endParaRPr lang="en-US" sz="3000" dirty="0"/>
          </a:p>
        </p:txBody>
      </p:sp>
      <p:sp>
        <p:nvSpPr>
          <p:cNvPr id="4" name="Shape 2"/>
          <p:cNvSpPr/>
          <p:nvPr/>
        </p:nvSpPr>
        <p:spPr>
          <a:xfrm>
            <a:off x="548640" y="1828800"/>
            <a:ext cx="3515258" cy="1371600"/>
          </a:xfrm>
          <a:prstGeom prst="roundRect">
            <a:avLst>
              <a:gd name="adj" fmla="val 5333"/>
            </a:avLst>
          </a:prstGeom>
          <a:solidFill>
            <a:srgbClr val="0D2046"/>
          </a:solidFill>
          <a:ln/>
          <a:effectLst>
            <a:outerShdw sx="100000" sy="100000" kx="0" ky="0" algn="bl" rotWithShape="0" blurRad="127000" dist="38100" dir="5400000">
              <a:srgbClr val="1B2B4B">
                <a:alpha val="12000"/>
              </a:srgbClr>
            </a:outerShdw>
          </a:effectLst>
        </p:spPr>
      </p:sp>
      <p:sp>
        <p:nvSpPr>
          <p:cNvPr id="5" name="Text 3"/>
          <p:cNvSpPr txBox="1"/>
          <p:nvPr/>
        </p:nvSpPr>
        <p:spPr>
          <a:xfrm>
            <a:off x="548640" y="1920240"/>
            <a:ext cx="3515258" cy="77724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46</a:t>
            </a:r>
            <a:endParaRPr lang="en-US" sz="4400" dirty="0"/>
          </a:p>
        </p:txBody>
      </p:sp>
      <p:sp>
        <p:nvSpPr>
          <p:cNvPr id="6" name="Text 4"/>
          <p:cNvSpPr txBox="1"/>
          <p:nvPr/>
        </p:nvSpPr>
        <p:spPr>
          <a:xfrm>
            <a:off x="731520" y="2697480"/>
            <a:ext cx="3149498" cy="411480"/>
          </a:xfrm>
          <a:prstGeom prst="rect">
            <a:avLst/>
          </a:prstGeom>
          <a:noFill/>
          <a:ln/>
        </p:spPr>
        <p:txBody>
          <a:bodyPr wrap="square" lIns="0" tIns="0" rIns="0" bIns="0" rtlCol="0" anchor="ctr"/>
          <a:lstStyle/>
          <a:p>
            <a:pPr algn="ctr" indent="0" marL="0">
              <a:buNone/>
            </a:pPr>
            <a:r>
              <a:rPr lang="en-US" sz="1050" dirty="0">
                <a:solidFill>
                  <a:srgbClr val="C7D3EA"/>
                </a:solidFill>
                <a:latin typeface="Calibri" pitchFamily="34" charset="0"/>
                <a:ea typeface="Calibri" pitchFamily="34" charset="-122"/>
                <a:cs typeface="Calibri" pitchFamily="34" charset="-120"/>
              </a:rPr>
              <a:t>tests automatisés côté serveur</a:t>
            </a:r>
            <a:endParaRPr lang="en-US" sz="1050" dirty="0"/>
          </a:p>
        </p:txBody>
      </p:sp>
      <p:sp>
        <p:nvSpPr>
          <p:cNvPr id="7" name="Shape 5"/>
          <p:cNvSpPr/>
          <p:nvPr/>
        </p:nvSpPr>
        <p:spPr>
          <a:xfrm>
            <a:off x="4338218" y="1828800"/>
            <a:ext cx="3515258" cy="1371600"/>
          </a:xfrm>
          <a:prstGeom prst="roundRect">
            <a:avLst>
              <a:gd name="adj" fmla="val 5333"/>
            </a:avLst>
          </a:prstGeom>
          <a:solidFill>
            <a:srgbClr val="0D2046"/>
          </a:solidFill>
          <a:ln/>
          <a:effectLst>
            <a:outerShdw sx="100000" sy="100000" kx="0" ky="0" algn="bl" rotWithShape="0" blurRad="127000" dist="38100" dir="5400000">
              <a:srgbClr val="1B2B4B">
                <a:alpha val="12000"/>
              </a:srgbClr>
            </a:outerShdw>
          </a:effectLst>
        </p:spPr>
      </p:sp>
      <p:sp>
        <p:nvSpPr>
          <p:cNvPr id="8" name="Text 6"/>
          <p:cNvSpPr txBox="1"/>
          <p:nvPr/>
        </p:nvSpPr>
        <p:spPr>
          <a:xfrm>
            <a:off x="4338218" y="1920240"/>
            <a:ext cx="3515258" cy="77724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14</a:t>
            </a:r>
            <a:endParaRPr lang="en-US" sz="4400" dirty="0"/>
          </a:p>
        </p:txBody>
      </p:sp>
      <p:sp>
        <p:nvSpPr>
          <p:cNvPr id="9" name="Text 7"/>
          <p:cNvSpPr txBox="1"/>
          <p:nvPr/>
        </p:nvSpPr>
        <p:spPr>
          <a:xfrm>
            <a:off x="4521098" y="2697480"/>
            <a:ext cx="3149498" cy="411480"/>
          </a:xfrm>
          <a:prstGeom prst="rect">
            <a:avLst/>
          </a:prstGeom>
          <a:noFill/>
          <a:ln/>
        </p:spPr>
        <p:txBody>
          <a:bodyPr wrap="square" lIns="0" tIns="0" rIns="0" bIns="0" rtlCol="0" anchor="ctr"/>
          <a:lstStyle/>
          <a:p>
            <a:pPr algn="ctr" indent="0" marL="0">
              <a:buNone/>
            </a:pPr>
            <a:r>
              <a:rPr lang="en-US" sz="1050" dirty="0">
                <a:solidFill>
                  <a:srgbClr val="C7D3EA"/>
                </a:solidFill>
                <a:latin typeface="Calibri" pitchFamily="34" charset="0"/>
                <a:ea typeface="Calibri" pitchFamily="34" charset="-122"/>
                <a:cs typeface="Calibri" pitchFamily="34" charset="-120"/>
              </a:rPr>
              <a:t>tests automatisés côté interface</a:t>
            </a:r>
            <a:endParaRPr lang="en-US" sz="1050" dirty="0"/>
          </a:p>
        </p:txBody>
      </p:sp>
      <p:sp>
        <p:nvSpPr>
          <p:cNvPr id="10" name="Shape 8"/>
          <p:cNvSpPr/>
          <p:nvPr/>
        </p:nvSpPr>
        <p:spPr>
          <a:xfrm>
            <a:off x="8127797" y="1828800"/>
            <a:ext cx="3515258" cy="1371600"/>
          </a:xfrm>
          <a:prstGeom prst="roundRect">
            <a:avLst>
              <a:gd name="adj" fmla="val 5333"/>
            </a:avLst>
          </a:prstGeom>
          <a:solidFill>
            <a:srgbClr val="0D2046"/>
          </a:solidFill>
          <a:ln/>
          <a:effectLst>
            <a:outerShdw sx="100000" sy="100000" kx="0" ky="0" algn="bl" rotWithShape="0" blurRad="127000" dist="38100" dir="5400000">
              <a:srgbClr val="1B2B4B">
                <a:alpha val="12000"/>
              </a:srgbClr>
            </a:outerShdw>
          </a:effectLst>
        </p:spPr>
      </p:sp>
      <p:sp>
        <p:nvSpPr>
          <p:cNvPr id="11" name="Text 9"/>
          <p:cNvSpPr txBox="1"/>
          <p:nvPr/>
        </p:nvSpPr>
        <p:spPr>
          <a:xfrm>
            <a:off x="8127797" y="1920240"/>
            <a:ext cx="3515258" cy="77724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23</a:t>
            </a:r>
            <a:endParaRPr lang="en-US" sz="4400" dirty="0"/>
          </a:p>
        </p:txBody>
      </p:sp>
      <p:sp>
        <p:nvSpPr>
          <p:cNvPr id="12" name="Text 10"/>
          <p:cNvSpPr txBox="1"/>
          <p:nvPr/>
        </p:nvSpPr>
        <p:spPr>
          <a:xfrm>
            <a:off x="8310677" y="2697480"/>
            <a:ext cx="3149498" cy="411480"/>
          </a:xfrm>
          <a:prstGeom prst="rect">
            <a:avLst/>
          </a:prstGeom>
          <a:noFill/>
          <a:ln/>
        </p:spPr>
        <p:txBody>
          <a:bodyPr wrap="square" lIns="0" tIns="0" rIns="0" bIns="0" rtlCol="0" anchor="ctr"/>
          <a:lstStyle/>
          <a:p>
            <a:pPr algn="ctr" indent="0" marL="0">
              <a:buNone/>
            </a:pPr>
            <a:r>
              <a:rPr lang="en-US" sz="1050" dirty="0">
                <a:solidFill>
                  <a:srgbClr val="C7D3EA"/>
                </a:solidFill>
                <a:latin typeface="Calibri" pitchFamily="34" charset="0"/>
                <a:ea typeface="Calibri" pitchFamily="34" charset="-122"/>
                <a:cs typeface="Calibri" pitchFamily="34" charset="-120"/>
              </a:rPr>
              <a:t>décisions de cadrage appliquées et tracées</a:t>
            </a:r>
            <a:endParaRPr lang="en-US" sz="1050" dirty="0"/>
          </a:p>
        </p:txBody>
      </p:sp>
      <p:sp>
        <p:nvSpPr>
          <p:cNvPr id="13" name="Shape 11"/>
          <p:cNvSpPr/>
          <p:nvPr/>
        </p:nvSpPr>
        <p:spPr>
          <a:xfrm>
            <a:off x="548640" y="3520440"/>
            <a:ext cx="11094415" cy="2423160"/>
          </a:xfrm>
          <a:prstGeom prst="roundRect">
            <a:avLst>
              <a:gd name="adj" fmla="val 3019"/>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4" name="Text 12"/>
          <p:cNvSpPr txBox="1"/>
          <p:nvPr/>
        </p:nvSpPr>
        <p:spPr>
          <a:xfrm>
            <a:off x="868680" y="3703320"/>
            <a:ext cx="5486400" cy="365760"/>
          </a:xfrm>
          <a:prstGeom prst="rect">
            <a:avLst/>
          </a:prstGeom>
          <a:noFill/>
          <a:ln/>
        </p:spPr>
        <p:txBody>
          <a:bodyPr wrap="square" lIns="0" tIns="0" rIns="0" bIns="0" rtlCol="0" anchor="ctr"/>
          <a:lstStyle/>
          <a:p>
            <a:pPr indent="0" marL="0">
              <a:buNone/>
            </a:pPr>
            <a:r>
              <a:rPr lang="en-US" sz="1400" b="1" dirty="0">
                <a:solidFill>
                  <a:srgbClr val="0D2046"/>
                </a:solidFill>
                <a:latin typeface="Cambria" pitchFamily="34" charset="0"/>
                <a:ea typeface="Cambria" pitchFamily="34" charset="-122"/>
                <a:cs typeface="Cambria" pitchFamily="34" charset="-120"/>
              </a:rPr>
              <a:t>Limites assumées</a:t>
            </a:r>
            <a:endParaRPr lang="en-US" sz="1400" dirty="0"/>
          </a:p>
        </p:txBody>
      </p:sp>
      <p:sp>
        <p:nvSpPr>
          <p:cNvPr id="15" name="Text 13"/>
          <p:cNvSpPr txBox="1"/>
          <p:nvPr/>
        </p:nvSpPr>
        <p:spPr>
          <a:xfrm>
            <a:off x="868680" y="4206240"/>
            <a:ext cx="10454335" cy="1645920"/>
          </a:xfrm>
          <a:prstGeom prst="rect">
            <a:avLst/>
          </a:prstGeom>
          <a:noFill/>
          <a:ln/>
        </p:spPr>
        <p:txBody>
          <a:bodyPr wrap="square" lIns="0" tIns="0" rIns="0" bIns="0" rtlCol="0" anchor="t"/>
          <a:lstStyle/>
          <a:p>
            <a:pPr marL="177800" indent="-177800">
              <a:spcAft>
                <a:spcPts val="1000"/>
              </a:spcAft>
              <a:buSzPct val="100000"/>
              <a:buChar char="▪"/>
            </a:pPr>
            <a:r>
              <a:rPr lang="en-US" sz="1200" dirty="0">
                <a:solidFill>
                  <a:srgbClr val="152033"/>
                </a:solidFill>
                <a:latin typeface="Calibri" pitchFamily="34" charset="0"/>
                <a:ea typeface="Calibri" pitchFamily="34" charset="-122"/>
                <a:cs typeface="Calibri" pitchFamily="34" charset="-120"/>
              </a:rPr>
              <a:t>Connexion Intradef simulée dans le prototype</a:t>
            </a:r>
            <a:endParaRPr lang="en-US" sz="1200" dirty="0"/>
          </a:p>
          <a:p>
            <a:pPr marL="177800" indent="-177800">
              <a:spcAft>
                <a:spcPts val="1000"/>
              </a:spcAft>
              <a:buSzPct val="100000"/>
              <a:buChar char="▪"/>
            </a:pPr>
            <a:r>
              <a:rPr lang="en-US" sz="1200" dirty="0">
                <a:solidFill>
                  <a:srgbClr val="152033"/>
                </a:solidFill>
                <a:latin typeface="Calibri" pitchFamily="34" charset="0"/>
                <a:ea typeface="Calibri" pitchFamily="34" charset="-122"/>
                <a:cs typeface="Calibri" pitchFamily="34" charset="-120"/>
              </a:rPr>
              <a:t>Aucune fonction d'IA livrée, malgré le nom</a:t>
            </a:r>
            <a:endParaRPr lang="en-US" sz="1200" dirty="0"/>
          </a:p>
          <a:p>
            <a:pPr marL="177800" indent="-177800">
              <a:spcAft>
                <a:spcPts val="1000"/>
              </a:spcAft>
              <a:buSzPct val="100000"/>
              <a:buChar char="▪"/>
            </a:pPr>
            <a:r>
              <a:rPr lang="en-US" sz="1200" dirty="0">
                <a:solidFill>
                  <a:srgbClr val="152033"/>
                </a:solidFill>
                <a:latin typeface="Calibri" pitchFamily="34" charset="0"/>
                <a:ea typeface="Calibri" pitchFamily="34" charset="-122"/>
                <a:cs typeface="Calibri" pitchFamily="34" charset="-120"/>
              </a:rPr>
              <a:t>Réservation depuis le projet, pas depuis le calendrier</a:t>
            </a:r>
            <a:endParaRPr lang="en-US" sz="1200" dirty="0"/>
          </a:p>
          <a:p>
            <a:pPr marL="177800" indent="-177800">
              <a:spcAft>
                <a:spcPts val="1000"/>
              </a:spcAft>
              <a:buSzPct val="100000"/>
              <a:buChar char="▪"/>
            </a:pPr>
            <a:r>
              <a:rPr lang="en-US" sz="1200" dirty="0">
                <a:solidFill>
                  <a:srgbClr val="152033"/>
                </a:solidFill>
                <a:latin typeface="Calibri" pitchFamily="34" charset="0"/>
                <a:ea typeface="Calibri" pitchFamily="34" charset="-122"/>
                <a:cs typeface="Calibri" pitchFamily="34" charset="-120"/>
              </a:rPr>
              <a:t>Suppression de compte = désactivation, jamais physique</a:t>
            </a:r>
            <a:endParaRPr lang="en-US" sz="1200" dirty="0"/>
          </a:p>
          <a:p>
            <a:pPr marL="177800" indent="-177800">
              <a:spcAft>
                <a:spcPts val="1000"/>
              </a:spcAft>
              <a:buSzPct val="100000"/>
              <a:buChar char="▪"/>
            </a:pPr>
            <a:r>
              <a:rPr lang="en-US" sz="1200" dirty="0">
                <a:solidFill>
                  <a:srgbClr val="152033"/>
                </a:solidFill>
                <a:latin typeface="Calibri" pitchFamily="34" charset="0"/>
                <a:ea typeface="Calibri" pitchFamily="34" charset="-122"/>
                <a:cs typeface="Calibri" pitchFamily="34" charset="-120"/>
              </a:rPr>
              <a:t>Sauvegardes et volumes cibles encore à définir</a:t>
            </a:r>
            <a:endParaRPr lang="en-US" sz="1200" dirty="0"/>
          </a:p>
        </p:txBody>
      </p:sp>
      <p:sp>
        <p:nvSpPr>
          <p:cNvPr id="16" name="Text 14"/>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17" name="Text 1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ÉVOLUTIONS · NOM 4</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Quatre pistes réalistes pour la suite</a:t>
            </a:r>
            <a:endParaRPr lang="en-US" sz="3000" dirty="0"/>
          </a:p>
        </p:txBody>
      </p:sp>
      <p:sp>
        <p:nvSpPr>
          <p:cNvPr id="4" name="Shape 2"/>
          <p:cNvSpPr/>
          <p:nvPr/>
        </p:nvSpPr>
        <p:spPr>
          <a:xfrm>
            <a:off x="548640" y="1874520"/>
            <a:ext cx="5410048" cy="2011680"/>
          </a:xfrm>
          <a:prstGeom prst="roundRect">
            <a:avLst>
              <a:gd name="adj" fmla="val 3636"/>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5" name="Shape 3"/>
          <p:cNvSpPr/>
          <p:nvPr/>
        </p:nvSpPr>
        <p:spPr>
          <a:xfrm>
            <a:off x="822960" y="2148840"/>
            <a:ext cx="457200" cy="457200"/>
          </a:xfrm>
          <a:prstGeom prst="roundRect">
            <a:avLst>
              <a:gd name="adj" fmla="val 16000"/>
            </a:avLst>
          </a:prstGeom>
          <a:solidFill>
            <a:srgbClr val="2864E8"/>
          </a:solidFill>
          <a:ln/>
        </p:spPr>
      </p:sp>
      <p:sp>
        <p:nvSpPr>
          <p:cNvPr id="6" name="Text 4"/>
          <p:cNvSpPr txBox="1"/>
          <p:nvPr/>
        </p:nvSpPr>
        <p:spPr>
          <a:xfrm>
            <a:off x="822960" y="21488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463040" y="2148840"/>
            <a:ext cx="4221328" cy="457200"/>
          </a:xfrm>
          <a:prstGeom prst="rect">
            <a:avLst/>
          </a:prstGeom>
          <a:noFill/>
          <a:ln/>
        </p:spPr>
        <p:txBody>
          <a:bodyPr wrap="square" lIns="0" tIns="0" rIns="0" bIns="0" rtlCol="0" anchor="ctr"/>
          <a:lstStyle/>
          <a:p>
            <a:pPr indent="0" marL="0">
              <a:buNone/>
            </a:pPr>
            <a:r>
              <a:rPr lang="en-US" sz="1400" b="1" dirty="0">
                <a:solidFill>
                  <a:srgbClr val="0D2046"/>
                </a:solidFill>
                <a:latin typeface="Cambria" pitchFamily="34" charset="0"/>
                <a:ea typeface="Cambria" pitchFamily="34" charset="-122"/>
                <a:cs typeface="Cambria" pitchFamily="34" charset="-120"/>
              </a:rPr>
              <a:t>Connexion Intradef réelle</a:t>
            </a:r>
            <a:endParaRPr lang="en-US" sz="1400" dirty="0"/>
          </a:p>
        </p:txBody>
      </p:sp>
      <p:sp>
        <p:nvSpPr>
          <p:cNvPr id="8" name="Text 6"/>
          <p:cNvSpPr txBox="1"/>
          <p:nvPr/>
        </p:nvSpPr>
        <p:spPr>
          <a:xfrm>
            <a:off x="822960" y="2743200"/>
            <a:ext cx="4861408" cy="1005840"/>
          </a:xfrm>
          <a:prstGeom prst="rect">
            <a:avLst/>
          </a:prstGeom>
          <a:noFill/>
          <a:ln/>
        </p:spPr>
        <p:txBody>
          <a:bodyPr wrap="square" lIns="0" tIns="0" rIns="0" bIns="0" rtlCol="0" anchor="t"/>
          <a:lstStyle/>
          <a:p>
            <a:pPr indent="0" marL="0">
              <a:buNone/>
            </a:pPr>
            <a:r>
              <a:rPr lang="en-US" sz="1050" dirty="0">
                <a:solidFill>
                  <a:srgbClr val="66728A"/>
                </a:solidFill>
                <a:latin typeface="Calibri" pitchFamily="34" charset="0"/>
                <a:ea typeface="Calibri" pitchFamily="34" charset="-122"/>
                <a:cs typeface="Calibri" pitchFamily="34" charset="-120"/>
              </a:rPr>
              <a:t>Brancher l'authentification du réseau cible à la place de la connexion simulée. Le reste de l'application ne change pas.</a:t>
            </a:r>
            <a:endParaRPr lang="en-US" sz="1050" dirty="0"/>
          </a:p>
        </p:txBody>
      </p:sp>
      <p:sp>
        <p:nvSpPr>
          <p:cNvPr id="9" name="Shape 7"/>
          <p:cNvSpPr/>
          <p:nvPr/>
        </p:nvSpPr>
        <p:spPr>
          <a:xfrm>
            <a:off x="6233008" y="1874520"/>
            <a:ext cx="5410048" cy="2011680"/>
          </a:xfrm>
          <a:prstGeom prst="roundRect">
            <a:avLst>
              <a:gd name="adj" fmla="val 3636"/>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0" name="Shape 8"/>
          <p:cNvSpPr/>
          <p:nvPr/>
        </p:nvSpPr>
        <p:spPr>
          <a:xfrm>
            <a:off x="6507328" y="2148840"/>
            <a:ext cx="457200" cy="457200"/>
          </a:xfrm>
          <a:prstGeom prst="roundRect">
            <a:avLst>
              <a:gd name="adj" fmla="val 16000"/>
            </a:avLst>
          </a:prstGeom>
          <a:solidFill>
            <a:srgbClr val="C42B1C"/>
          </a:solidFill>
          <a:ln/>
        </p:spPr>
      </p:sp>
      <p:sp>
        <p:nvSpPr>
          <p:cNvPr id="11" name="Text 9"/>
          <p:cNvSpPr txBox="1"/>
          <p:nvPr/>
        </p:nvSpPr>
        <p:spPr>
          <a:xfrm>
            <a:off x="6507328" y="21488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7147408" y="2148840"/>
            <a:ext cx="4221328" cy="457200"/>
          </a:xfrm>
          <a:prstGeom prst="rect">
            <a:avLst/>
          </a:prstGeom>
          <a:noFill/>
          <a:ln/>
        </p:spPr>
        <p:txBody>
          <a:bodyPr wrap="square" lIns="0" tIns="0" rIns="0" bIns="0" rtlCol="0" anchor="ctr"/>
          <a:lstStyle/>
          <a:p>
            <a:pPr indent="0" marL="0">
              <a:buNone/>
            </a:pPr>
            <a:r>
              <a:rPr lang="en-US" sz="1400" b="1" dirty="0">
                <a:solidFill>
                  <a:srgbClr val="0D2046"/>
                </a:solidFill>
                <a:latin typeface="Cambria" pitchFamily="34" charset="0"/>
                <a:ea typeface="Cambria" pitchFamily="34" charset="-122"/>
                <a:cs typeface="Cambria" pitchFamily="34" charset="-120"/>
              </a:rPr>
              <a:t>Antivirus des pièces jointes</a:t>
            </a:r>
            <a:endParaRPr lang="en-US" sz="1400" dirty="0"/>
          </a:p>
        </p:txBody>
      </p:sp>
      <p:sp>
        <p:nvSpPr>
          <p:cNvPr id="13" name="Text 11"/>
          <p:cNvSpPr txBox="1"/>
          <p:nvPr/>
        </p:nvSpPr>
        <p:spPr>
          <a:xfrm>
            <a:off x="6507328" y="2743200"/>
            <a:ext cx="4861408" cy="1005840"/>
          </a:xfrm>
          <a:prstGeom prst="rect">
            <a:avLst/>
          </a:prstGeom>
          <a:noFill/>
          <a:ln/>
        </p:spPr>
        <p:txBody>
          <a:bodyPr wrap="square" lIns="0" tIns="0" rIns="0" bIns="0" rtlCol="0" anchor="t"/>
          <a:lstStyle/>
          <a:p>
            <a:pPr indent="0" marL="0">
              <a:buNone/>
            </a:pPr>
            <a:r>
              <a:rPr lang="en-US" sz="1050" dirty="0">
                <a:solidFill>
                  <a:srgbClr val="66728A"/>
                </a:solidFill>
                <a:latin typeface="Calibri" pitchFamily="34" charset="0"/>
                <a:ea typeface="Calibri" pitchFamily="34" charset="-122"/>
                <a:cs typeface="Calibri" pitchFamily="34" charset="-120"/>
              </a:rPr>
              <a:t>Analyser chaque fichier avant de le rendre téléchargeable. Le circuit d'envoi par lien signé s'y prête déjà.</a:t>
            </a:r>
            <a:endParaRPr lang="en-US" sz="1050" dirty="0"/>
          </a:p>
        </p:txBody>
      </p:sp>
      <p:sp>
        <p:nvSpPr>
          <p:cNvPr id="14" name="Shape 12"/>
          <p:cNvSpPr/>
          <p:nvPr/>
        </p:nvSpPr>
        <p:spPr>
          <a:xfrm>
            <a:off x="548640" y="4114800"/>
            <a:ext cx="5410048" cy="2011680"/>
          </a:xfrm>
          <a:prstGeom prst="roundRect">
            <a:avLst>
              <a:gd name="adj" fmla="val 3636"/>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5" name="Shape 13"/>
          <p:cNvSpPr/>
          <p:nvPr/>
        </p:nvSpPr>
        <p:spPr>
          <a:xfrm>
            <a:off x="822960" y="4389120"/>
            <a:ext cx="457200" cy="457200"/>
          </a:xfrm>
          <a:prstGeom prst="roundRect">
            <a:avLst>
              <a:gd name="adj" fmla="val 16000"/>
            </a:avLst>
          </a:prstGeom>
          <a:solidFill>
            <a:srgbClr val="078451"/>
          </a:solidFill>
          <a:ln/>
        </p:spPr>
      </p:sp>
      <p:sp>
        <p:nvSpPr>
          <p:cNvPr id="16" name="Text 14"/>
          <p:cNvSpPr txBox="1"/>
          <p:nvPr/>
        </p:nvSpPr>
        <p:spPr>
          <a:xfrm>
            <a:off x="822960" y="4389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1463040" y="4389120"/>
            <a:ext cx="4221328" cy="457200"/>
          </a:xfrm>
          <a:prstGeom prst="rect">
            <a:avLst/>
          </a:prstGeom>
          <a:noFill/>
          <a:ln/>
        </p:spPr>
        <p:txBody>
          <a:bodyPr wrap="square" lIns="0" tIns="0" rIns="0" bIns="0" rtlCol="0" anchor="ctr"/>
          <a:lstStyle/>
          <a:p>
            <a:pPr indent="0" marL="0">
              <a:buNone/>
            </a:pPr>
            <a:r>
              <a:rPr lang="en-US" sz="1400" b="1" dirty="0">
                <a:solidFill>
                  <a:srgbClr val="0D2046"/>
                </a:solidFill>
                <a:latin typeface="Cambria" pitchFamily="34" charset="0"/>
                <a:ea typeface="Cambria" pitchFamily="34" charset="-122"/>
                <a:cs typeface="Cambria" pitchFamily="34" charset="-120"/>
              </a:rPr>
              <a:t>QR code sur chaque appareil</a:t>
            </a:r>
            <a:endParaRPr lang="en-US" sz="1400" dirty="0"/>
          </a:p>
        </p:txBody>
      </p:sp>
      <p:sp>
        <p:nvSpPr>
          <p:cNvPr id="18" name="Text 16"/>
          <p:cNvSpPr txBox="1"/>
          <p:nvPr/>
        </p:nvSpPr>
        <p:spPr>
          <a:xfrm>
            <a:off x="822960" y="4983480"/>
            <a:ext cx="4861408" cy="1005840"/>
          </a:xfrm>
          <a:prstGeom prst="rect">
            <a:avLst/>
          </a:prstGeom>
          <a:noFill/>
          <a:ln/>
        </p:spPr>
        <p:txBody>
          <a:bodyPr wrap="square" lIns="0" tIns="0" rIns="0" bIns="0" rtlCol="0" anchor="t"/>
          <a:lstStyle/>
          <a:p>
            <a:pPr indent="0" marL="0">
              <a:buNone/>
            </a:pPr>
            <a:r>
              <a:rPr lang="en-US" sz="1050" dirty="0">
                <a:solidFill>
                  <a:srgbClr val="66728A"/>
                </a:solidFill>
                <a:latin typeface="Calibri" pitchFamily="34" charset="0"/>
                <a:ea typeface="Calibri" pitchFamily="34" charset="-122"/>
                <a:cs typeface="Calibri" pitchFamily="34" charset="-120"/>
              </a:rPr>
              <a:t>Scanner l'étiquette pour ouvrir la fiche ou réserver, directement depuis la paillasse.</a:t>
            </a:r>
            <a:endParaRPr lang="en-US" sz="1050" dirty="0"/>
          </a:p>
        </p:txBody>
      </p:sp>
      <p:sp>
        <p:nvSpPr>
          <p:cNvPr id="19" name="Shape 17"/>
          <p:cNvSpPr/>
          <p:nvPr/>
        </p:nvSpPr>
        <p:spPr>
          <a:xfrm>
            <a:off x="6233008" y="4114800"/>
            <a:ext cx="5410048" cy="2011680"/>
          </a:xfrm>
          <a:prstGeom prst="roundRect">
            <a:avLst>
              <a:gd name="adj" fmla="val 3636"/>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20" name="Shape 18"/>
          <p:cNvSpPr/>
          <p:nvPr/>
        </p:nvSpPr>
        <p:spPr>
          <a:xfrm>
            <a:off x="6507328" y="4389120"/>
            <a:ext cx="457200" cy="457200"/>
          </a:xfrm>
          <a:prstGeom prst="roundRect">
            <a:avLst>
              <a:gd name="adj" fmla="val 16000"/>
            </a:avLst>
          </a:prstGeom>
          <a:solidFill>
            <a:srgbClr val="7138D0"/>
          </a:solidFill>
          <a:ln/>
        </p:spPr>
      </p:sp>
      <p:sp>
        <p:nvSpPr>
          <p:cNvPr id="21" name="Text 19"/>
          <p:cNvSpPr txBox="1"/>
          <p:nvPr/>
        </p:nvSpPr>
        <p:spPr>
          <a:xfrm>
            <a:off x="6507328" y="4389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txBox="1"/>
          <p:nvPr/>
        </p:nvSpPr>
        <p:spPr>
          <a:xfrm>
            <a:off x="7147408" y="4389120"/>
            <a:ext cx="4221328" cy="457200"/>
          </a:xfrm>
          <a:prstGeom prst="rect">
            <a:avLst/>
          </a:prstGeom>
          <a:noFill/>
          <a:ln/>
        </p:spPr>
        <p:txBody>
          <a:bodyPr wrap="square" lIns="0" tIns="0" rIns="0" bIns="0" rtlCol="0" anchor="ctr"/>
          <a:lstStyle/>
          <a:p>
            <a:pPr indent="0" marL="0">
              <a:buNone/>
            </a:pPr>
            <a:r>
              <a:rPr lang="en-US" sz="1400" b="1" dirty="0">
                <a:solidFill>
                  <a:srgbClr val="0D2046"/>
                </a:solidFill>
                <a:latin typeface="Cambria" pitchFamily="34" charset="0"/>
                <a:ea typeface="Cambria" pitchFamily="34" charset="-122"/>
                <a:cs typeface="Cambria" pitchFamily="34" charset="-120"/>
              </a:rPr>
              <a:t>Une IA hébergée en interne</a:t>
            </a:r>
            <a:endParaRPr lang="en-US" sz="1400" dirty="0"/>
          </a:p>
        </p:txBody>
      </p:sp>
      <p:sp>
        <p:nvSpPr>
          <p:cNvPr id="23" name="Text 21"/>
          <p:cNvSpPr txBox="1"/>
          <p:nvPr/>
        </p:nvSpPr>
        <p:spPr>
          <a:xfrm>
            <a:off x="6507328" y="4983480"/>
            <a:ext cx="4861408" cy="1005840"/>
          </a:xfrm>
          <a:prstGeom prst="rect">
            <a:avLst/>
          </a:prstGeom>
          <a:noFill/>
          <a:ln/>
        </p:spPr>
        <p:txBody>
          <a:bodyPr wrap="square" lIns="0" tIns="0" rIns="0" bIns="0" rtlCol="0" anchor="t"/>
          <a:lstStyle/>
          <a:p>
            <a:pPr indent="0" marL="0">
              <a:buNone/>
            </a:pPr>
            <a:r>
              <a:rPr lang="en-US" sz="1050" dirty="0">
                <a:solidFill>
                  <a:srgbClr val="66728A"/>
                </a:solidFill>
                <a:latin typeface="Calibri" pitchFamily="34" charset="0"/>
                <a:ea typeface="Calibri" pitchFamily="34" charset="-122"/>
                <a:cs typeface="Calibri" pitchFamily="34" charset="-120"/>
              </a:rPr>
              <a:t>Chercher dans l'inventaire en langage courant, sans que les données quittent le réseau.</a:t>
            </a:r>
            <a:endParaRPr lang="en-US" sz="1050" dirty="0"/>
          </a:p>
        </p:txBody>
      </p:sp>
      <p:sp>
        <p:nvSpPr>
          <p:cNvPr id="24" name="Text 22"/>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25" name="Text 2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046"/>
        </a:solidFill>
      </p:bgPr>
    </p:bg>
    <p:spTree>
      <p:nvGrpSpPr>
        <p:cNvPr id="1" name=""/>
        <p:cNvGrpSpPr/>
        <p:nvPr/>
      </p:nvGrpSpPr>
      <p:grpSpPr>
        <a:xfrm>
          <a:off x="0" y="0"/>
          <a:ext cx="0" cy="0"/>
          <a:chOff x="0" y="0"/>
          <a:chExt cx="0" cy="0"/>
        </a:xfrm>
      </p:grpSpPr>
      <p:sp>
        <p:nvSpPr>
          <p:cNvPr id="2" name="Text 0"/>
          <p:cNvSpPr txBox="1"/>
          <p:nvPr/>
        </p:nvSpPr>
        <p:spPr>
          <a:xfrm>
            <a:off x="548640" y="1005840"/>
            <a:ext cx="7315200" cy="365760"/>
          </a:xfrm>
          <a:prstGeom prst="rect">
            <a:avLst/>
          </a:prstGeom>
          <a:noFill/>
          <a:ln/>
        </p:spPr>
        <p:txBody>
          <a:bodyPr wrap="square" lIns="0" tIns="0" rIns="0" bIns="0" rtlCol="0" anchor="ctr"/>
          <a:lstStyle/>
          <a:p>
            <a:pPr indent="0" marL="0">
              <a:buNone/>
            </a:pPr>
            <a:r>
              <a:rPr lang="en-US" sz="1300" b="1" spc="200" kern="0" dirty="0">
                <a:solidFill>
                  <a:srgbClr val="8FB0FF"/>
                </a:solidFill>
                <a:latin typeface="Calibri" pitchFamily="34" charset="0"/>
                <a:ea typeface="Calibri" pitchFamily="34" charset="-122"/>
                <a:cs typeface="Calibri" pitchFamily="34" charset="-120"/>
              </a:rPr>
              <a:t>CONCLUSION · NOM 4</a:t>
            </a:r>
            <a:endParaRPr lang="en-US" sz="1300" dirty="0"/>
          </a:p>
        </p:txBody>
      </p:sp>
      <p:sp>
        <p:nvSpPr>
          <p:cNvPr id="3" name="Text 1"/>
          <p:cNvSpPr txBox="1"/>
          <p:nvPr/>
        </p:nvSpPr>
        <p:spPr>
          <a:xfrm>
            <a:off x="548640" y="2468880"/>
            <a:ext cx="10058400"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Un seul outil pour savoir ce que le labo possède, qui l'utilise et ce qui s'est passé.</a:t>
            </a:r>
            <a:endParaRPr lang="en-US" sz="3000" dirty="0"/>
          </a:p>
        </p:txBody>
      </p:sp>
      <p:sp>
        <p:nvSpPr>
          <p:cNvPr id="4" name="Text 2"/>
          <p:cNvSpPr txBox="1"/>
          <p:nvPr/>
        </p:nvSpPr>
        <p:spPr>
          <a:xfrm>
            <a:off x="548640" y="4206240"/>
            <a:ext cx="9144000" cy="548640"/>
          </a:xfrm>
          <a:prstGeom prst="rect">
            <a:avLst/>
          </a:prstGeom>
          <a:noFill/>
          <a:ln/>
        </p:spPr>
        <p:txBody>
          <a:bodyPr wrap="square" lIns="0" tIns="0" rIns="0" bIns="0" rtlCol="0" anchor="ctr"/>
          <a:lstStyle/>
          <a:p>
            <a:pPr indent="0" marL="0">
              <a:buNone/>
            </a:pPr>
            <a:r>
              <a:rPr lang="en-US" sz="1800" i="1" dirty="0">
                <a:solidFill>
                  <a:srgbClr val="8FB0FF"/>
                </a:solidFill>
                <a:latin typeface="Calibri" pitchFamily="34" charset="0"/>
                <a:ea typeface="Calibri" pitchFamily="34" charset="-122"/>
                <a:cs typeface="Calibri" pitchFamily="34" charset="-120"/>
              </a:rPr>
              <a:t>Merci. Place à vos questions.</a:t>
            </a:r>
            <a:endParaRPr lang="en-US" sz="1800" dirty="0"/>
          </a:p>
        </p:txBody>
      </p:sp>
      <p:sp>
        <p:nvSpPr>
          <p:cNvPr id="5" name="Text 3"/>
          <p:cNvSpPr txBox="1"/>
          <p:nvPr/>
        </p:nvSpPr>
        <p:spPr>
          <a:xfrm>
            <a:off x="548640" y="5852160"/>
            <a:ext cx="7315200" cy="365760"/>
          </a:xfrm>
          <a:prstGeom prst="rect">
            <a:avLst/>
          </a:prstGeom>
          <a:noFill/>
          <a:ln/>
        </p:spPr>
        <p:txBody>
          <a:bodyPr wrap="square" lIns="0" tIns="0" rIns="0" bIns="0" rtlCol="0" anchor="ctr"/>
          <a:lstStyle/>
          <a:p>
            <a:pPr indent="0" marL="0">
              <a:buNone/>
            </a:pPr>
            <a:r>
              <a:rPr lang="en-US" sz="1300" b="1" dirty="0">
                <a:solidFill>
                  <a:srgbClr val="8FA3CC"/>
                </a:solidFill>
                <a:latin typeface="Calibri" pitchFamily="34" charset="0"/>
                <a:ea typeface="Calibri" pitchFamily="34" charset="-122"/>
                <a:cs typeface="Calibri" pitchFamily="34" charset="-120"/>
              </a:rPr>
              <a:t>Nom 1  ·  Nom 2  ·  Nom 3  ·  Nom 4</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ANNEXE A · MATRICE DES DROITS</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Qui peut faire quoi</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4754880"/>
                <a:gridCol w="2103120"/>
                <a:gridCol w="2103120"/>
                <a:gridCol w="2103120"/>
              </a:tblGrid>
              <a:tr h="384048">
                <a:tc>
                  <a:txBody>
                    <a:bodyPr/>
                    <a:lstStyle/>
                    <a:p>
                      <a:pPr indent="0" marL="0">
                        <a:buNone/>
                      </a:pPr>
                      <a:r>
                        <a:rPr lang="en-US" sz="1100" b="1" dirty="0">
                          <a:solidFill>
                            <a:srgbClr val="FFFFFF"/>
                          </a:solidFill>
                        </a:rPr>
                        <a:t>Action</a:t>
                      </a:r>
                      <a:endParaRPr lang="en-US" sz="110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0D2046"/>
                    </a:solidFill>
                  </a:tcPr>
                </a:tc>
                <a:tc>
                  <a:txBody>
                    <a:bodyPr/>
                    <a:lstStyle/>
                    <a:p>
                      <a:pPr indent="0" marL="0">
                        <a:buNone/>
                      </a:pPr>
                      <a:r>
                        <a:rPr lang="en-US" sz="1100" b="1" dirty="0">
                          <a:solidFill>
                            <a:srgbClr val="FFFFFF"/>
                          </a:solidFill>
                        </a:rPr>
                        <a:t>Administrateur</a:t>
                      </a:r>
                      <a:endParaRPr lang="en-US" sz="110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0D2046"/>
                    </a:solidFill>
                  </a:tcPr>
                </a:tc>
                <a:tc>
                  <a:txBody>
                    <a:bodyPr/>
                    <a:lstStyle/>
                    <a:p>
                      <a:pPr indent="0" marL="0">
                        <a:buNone/>
                      </a:pPr>
                      <a:r>
                        <a:rPr lang="en-US" sz="1100" b="1" dirty="0">
                          <a:solidFill>
                            <a:srgbClr val="FFFFFF"/>
                          </a:solidFill>
                        </a:rPr>
                        <a:t>Gestionnaire</a:t>
                      </a:r>
                      <a:endParaRPr lang="en-US" sz="110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0D2046"/>
                    </a:solidFill>
                  </a:tcPr>
                </a:tc>
                <a:tc>
                  <a:txBody>
                    <a:bodyPr/>
                    <a:lstStyle/>
                    <a:p>
                      <a:pPr indent="0" marL="0">
                        <a:buNone/>
                      </a:pPr>
                      <a:r>
                        <a:rPr lang="en-US" sz="1100" b="1" dirty="0">
                          <a:solidFill>
                            <a:srgbClr val="FFFFFF"/>
                          </a:solidFill>
                        </a:rPr>
                        <a:t>Utilisateur</a:t>
                      </a:r>
                      <a:endParaRPr lang="en-US" sz="110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0D2046"/>
                    </a:solidFill>
                  </a:tcPr>
                </a:tc>
              </a:tr>
              <a:tr h="384048">
                <a:tc>
                  <a:txBody>
                    <a:bodyPr/>
                    <a:lstStyle/>
                    <a:p>
                      <a:pPr indent="0" marL="0">
                        <a:buNone/>
                      </a:pPr>
                      <a:r>
                        <a:rPr lang="en-US" sz="1050" dirty="0">
                          <a:solidFill>
                            <a:srgbClr val="152033"/>
                          </a:solidFill>
                        </a:rPr>
                        <a:t>Consulter l'inventaire actif</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52033"/>
                          </a:solidFill>
                        </a:rPr>
                        <a:t>Gérer le matériel et les catégories</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52033"/>
                          </a:solidFill>
                        </a:rPr>
                        <a:t>Exporter l'inventaire</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52033"/>
                          </a:solidFill>
                        </a:rPr>
                        <a:t>Voir l'historique d'un matériel actif</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9B5A08"/>
                          </a:solidFill>
                        </a:rPr>
                        <a:t>Oui, projets masqués</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52033"/>
                          </a:solidFill>
                        </a:rPr>
                        <a:t>Voir le matériel archivé</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52033"/>
                          </a:solidFill>
                        </a:rPr>
                        <a:t>Créer un projet</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52033"/>
                          </a:solidFill>
                        </a:rPr>
                        <a:t>Voir un projet privé</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9B5A08"/>
                          </a:solidFill>
                        </a:rPr>
                        <a:t>Si membre</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52033"/>
                          </a:solidFill>
                        </a:rPr>
                        <a:t>Modifier un projet, ses tâches, ses réservations</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9B5A08"/>
                          </a:solidFill>
                        </a:rPr>
                        <a:t>Si membre</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52033"/>
                          </a:solidFill>
                        </a:rPr>
                        <a:t>Archiver un projet</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9B5A08"/>
                          </a:solidFill>
                        </a:rPr>
                        <a:t>Si responsable</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52033"/>
                          </a:solidFill>
                        </a:rPr>
                        <a:t>Créer, modifier, désactiver un compte</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52033"/>
                          </a:solidFill>
                        </a:rPr>
                        <a:t>Changer le rôle d'un compte</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078451"/>
                          </a:solidFill>
                        </a:rPr>
                        <a:t>Oui</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c>
                  <a:txBody>
                    <a:bodyPr/>
                    <a:lstStyle/>
                    <a:p>
                      <a:pPr indent="0" marL="0">
                        <a:buNone/>
                      </a:pPr>
                      <a:r>
                        <a:rPr lang="en-US" sz="1050" b="1" dirty="0">
                          <a:solidFill>
                            <a:srgbClr val="66728A"/>
                          </a:solidFill>
                        </a:rPr>
                        <a:t>Non</a:t>
                      </a:r>
                      <a:endParaRPr lang="en-US" sz="1050" dirty="0"/>
                    </a:p>
                  </a:txBody>
                  <a:tcPr marL="91440" marR="91440" marT="45720" marB="45720" anchor="ctr">
                    <a:lnL w="9525" cap="flat" cmpd="sng" algn="ctr">
                      <a:solidFill>
                        <a:srgbClr val="DDE2E9"/>
                      </a:solidFill>
                      <a:prstDash val="solid"/>
                      <a:round/>
                      <a:headEnd type="none" w="med" len="med"/>
                      <a:tailEnd type="none" w="med" len="med"/>
                    </a:lnL>
                    <a:lnR w="9525" cap="flat" cmpd="sng" algn="ctr">
                      <a:solidFill>
                        <a:srgbClr val="DDE2E9"/>
                      </a:solidFill>
                      <a:prstDash val="solid"/>
                      <a:round/>
                      <a:headEnd type="none" w="med" len="med"/>
                      <a:tailEnd type="none" w="med" len="med"/>
                    </a:lnR>
                    <a:lnT w="9525" cap="flat" cmpd="sng" algn="ctr">
                      <a:solidFill>
                        <a:srgbClr val="DDE2E9"/>
                      </a:solidFill>
                      <a:prstDash val="solid"/>
                      <a:round/>
                      <a:headEnd type="none" w="med" len="med"/>
                      <a:tailEnd type="none" w="med" len="med"/>
                    </a:lnT>
                    <a:lnB w="9525" cap="flat" cmpd="sng" algn="ctr">
                      <a:solidFill>
                        <a:srgbClr val="DDE2E9"/>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ANNEXE B · RÉSERVATIONS</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Pourquoi une double réservation est impossible</a:t>
            </a:r>
            <a:endParaRPr lang="en-US" sz="3000" dirty="0"/>
          </a:p>
        </p:txBody>
      </p:sp>
      <p:sp>
        <p:nvSpPr>
          <p:cNvPr id="4" name="Shape 2"/>
          <p:cNvSpPr/>
          <p:nvPr/>
        </p:nvSpPr>
        <p:spPr>
          <a:xfrm>
            <a:off x="548640" y="1828800"/>
            <a:ext cx="548640" cy="548640"/>
          </a:xfrm>
          <a:prstGeom prst="ellipse">
            <a:avLst/>
          </a:prstGeom>
          <a:solidFill>
            <a:srgbClr val="2864E8"/>
          </a:solidFill>
          <a:ln/>
        </p:spPr>
      </p:sp>
      <p:sp>
        <p:nvSpPr>
          <p:cNvPr id="5" name="Text 3"/>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325880" y="1828800"/>
            <a:ext cx="3474720" cy="548640"/>
          </a:xfrm>
          <a:prstGeom prst="rect">
            <a:avLst/>
          </a:prstGeom>
          <a:noFill/>
          <a:ln/>
        </p:spPr>
        <p:txBody>
          <a:bodyPr wrap="square" lIns="0" tIns="0" rIns="0" bIns="0" rtlCol="0" anchor="ctr"/>
          <a:lstStyle/>
          <a:p>
            <a:pPr indent="0" marL="0">
              <a:buNone/>
            </a:pPr>
            <a:r>
              <a:rPr lang="en-US" sz="1400" b="1" dirty="0">
                <a:solidFill>
                  <a:srgbClr val="0D2046"/>
                </a:solidFill>
                <a:latin typeface="Cambria" pitchFamily="34" charset="0"/>
                <a:ea typeface="Cambria" pitchFamily="34" charset="-122"/>
                <a:cs typeface="Cambria" pitchFamily="34" charset="-120"/>
              </a:rPr>
              <a:t>Créneaux de 30 minutes</a:t>
            </a:r>
            <a:endParaRPr lang="en-US" sz="1400" dirty="0"/>
          </a:p>
        </p:txBody>
      </p:sp>
      <p:sp>
        <p:nvSpPr>
          <p:cNvPr id="7" name="Text 5"/>
          <p:cNvSpPr txBox="1"/>
          <p:nvPr/>
        </p:nvSpPr>
        <p:spPr>
          <a:xfrm>
            <a:off x="4937760" y="1828800"/>
            <a:ext cx="6705295" cy="731520"/>
          </a:xfrm>
          <a:prstGeom prst="rect">
            <a:avLst/>
          </a:prstGeom>
          <a:noFill/>
          <a:ln/>
        </p:spPr>
        <p:txBody>
          <a:bodyPr wrap="square" lIns="0" tIns="0" rIns="0" bIns="0" rtlCol="0" anchor="ctr"/>
          <a:lstStyle/>
          <a:p>
            <a:pPr indent="0" marL="0">
              <a:buNone/>
            </a:pPr>
            <a:r>
              <a:rPr lang="en-US" sz="1150" dirty="0">
                <a:solidFill>
                  <a:srgbClr val="66728A"/>
                </a:solidFill>
                <a:latin typeface="Calibri" pitchFamily="34" charset="0"/>
                <a:ea typeface="Calibri" pitchFamily="34" charset="-122"/>
                <a:cs typeface="Calibri" pitchFamily="34" charset="-120"/>
              </a:rPr>
              <a:t>L'API refuse un horaire qui ne finit pas par 00 ou 30.</a:t>
            </a:r>
            <a:endParaRPr lang="en-US" sz="1150" dirty="0"/>
          </a:p>
        </p:txBody>
      </p:sp>
      <p:sp>
        <p:nvSpPr>
          <p:cNvPr id="8" name="Shape 6"/>
          <p:cNvSpPr/>
          <p:nvPr/>
        </p:nvSpPr>
        <p:spPr>
          <a:xfrm>
            <a:off x="548640" y="2788920"/>
            <a:ext cx="548640" cy="548640"/>
          </a:xfrm>
          <a:prstGeom prst="ellipse">
            <a:avLst/>
          </a:prstGeom>
          <a:solidFill>
            <a:srgbClr val="2864E8"/>
          </a:solidFill>
          <a:ln/>
        </p:spPr>
      </p:sp>
      <p:sp>
        <p:nvSpPr>
          <p:cNvPr id="9" name="Text 7"/>
          <p:cNvSpPr txBox="1"/>
          <p:nvPr/>
        </p:nvSpPr>
        <p:spPr>
          <a:xfrm>
            <a:off x="548640" y="2788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325880" y="2788920"/>
            <a:ext cx="3474720" cy="548640"/>
          </a:xfrm>
          <a:prstGeom prst="rect">
            <a:avLst/>
          </a:prstGeom>
          <a:noFill/>
          <a:ln/>
        </p:spPr>
        <p:txBody>
          <a:bodyPr wrap="square" lIns="0" tIns="0" rIns="0" bIns="0" rtlCol="0" anchor="ctr"/>
          <a:lstStyle/>
          <a:p>
            <a:pPr indent="0" marL="0">
              <a:buNone/>
            </a:pPr>
            <a:r>
              <a:rPr lang="en-US" sz="1400" b="1" dirty="0">
                <a:solidFill>
                  <a:srgbClr val="0D2046"/>
                </a:solidFill>
                <a:latin typeface="Cambria" pitchFamily="34" charset="0"/>
                <a:ea typeface="Cambria" pitchFamily="34" charset="-122"/>
                <a:cs typeface="Cambria" pitchFamily="34" charset="-120"/>
              </a:rPr>
              <a:t>Intervalles [début, fin[</a:t>
            </a:r>
            <a:endParaRPr lang="en-US" sz="1400" dirty="0"/>
          </a:p>
        </p:txBody>
      </p:sp>
      <p:sp>
        <p:nvSpPr>
          <p:cNvPr id="11" name="Text 9"/>
          <p:cNvSpPr txBox="1"/>
          <p:nvPr/>
        </p:nvSpPr>
        <p:spPr>
          <a:xfrm>
            <a:off x="4937760" y="2788920"/>
            <a:ext cx="6705295" cy="731520"/>
          </a:xfrm>
          <a:prstGeom prst="rect">
            <a:avLst/>
          </a:prstGeom>
          <a:noFill/>
          <a:ln/>
        </p:spPr>
        <p:txBody>
          <a:bodyPr wrap="square" lIns="0" tIns="0" rIns="0" bIns="0" rtlCol="0" anchor="ctr"/>
          <a:lstStyle/>
          <a:p>
            <a:pPr indent="0" marL="0">
              <a:buNone/>
            </a:pPr>
            <a:r>
              <a:rPr lang="en-US" sz="1150" dirty="0">
                <a:solidFill>
                  <a:srgbClr val="66728A"/>
                </a:solidFill>
                <a:latin typeface="Calibri" pitchFamily="34" charset="0"/>
                <a:ea typeface="Calibri" pitchFamily="34" charset="-122"/>
                <a:cs typeface="Calibri" pitchFamily="34" charset="-120"/>
              </a:rPr>
              <a:t>10 h–11 h puis 11 h–12 h se suivent sans se chevaucher.</a:t>
            </a:r>
            <a:endParaRPr lang="en-US" sz="1150" dirty="0"/>
          </a:p>
        </p:txBody>
      </p:sp>
      <p:sp>
        <p:nvSpPr>
          <p:cNvPr id="12" name="Shape 10"/>
          <p:cNvSpPr/>
          <p:nvPr/>
        </p:nvSpPr>
        <p:spPr>
          <a:xfrm>
            <a:off x="548640" y="3749040"/>
            <a:ext cx="548640" cy="548640"/>
          </a:xfrm>
          <a:prstGeom prst="ellipse">
            <a:avLst/>
          </a:prstGeom>
          <a:solidFill>
            <a:srgbClr val="2864E8"/>
          </a:solidFill>
          <a:ln/>
        </p:spPr>
      </p:sp>
      <p:sp>
        <p:nvSpPr>
          <p:cNvPr id="13" name="Text 11"/>
          <p:cNvSpPr txBox="1"/>
          <p:nvPr/>
        </p:nvSpPr>
        <p:spPr>
          <a:xfrm>
            <a:off x="548640" y="37490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325880" y="3749040"/>
            <a:ext cx="3474720" cy="548640"/>
          </a:xfrm>
          <a:prstGeom prst="rect">
            <a:avLst/>
          </a:prstGeom>
          <a:noFill/>
          <a:ln/>
        </p:spPr>
        <p:txBody>
          <a:bodyPr wrap="square" lIns="0" tIns="0" rIns="0" bIns="0" rtlCol="0" anchor="ctr"/>
          <a:lstStyle/>
          <a:p>
            <a:pPr indent="0" marL="0">
              <a:buNone/>
            </a:pPr>
            <a:r>
              <a:rPr lang="en-US" sz="1400" b="1" dirty="0">
                <a:solidFill>
                  <a:srgbClr val="0D2046"/>
                </a:solidFill>
                <a:latin typeface="Cambria" pitchFamily="34" charset="0"/>
                <a:ea typeface="Cambria" pitchFamily="34" charset="-122"/>
                <a:cs typeface="Cambria" pitchFamily="34" charset="-120"/>
              </a:rPr>
              <a:t>Contrainte en base</a:t>
            </a:r>
            <a:endParaRPr lang="en-US" sz="1400" dirty="0"/>
          </a:p>
        </p:txBody>
      </p:sp>
      <p:sp>
        <p:nvSpPr>
          <p:cNvPr id="15" name="Text 13"/>
          <p:cNvSpPr txBox="1"/>
          <p:nvPr/>
        </p:nvSpPr>
        <p:spPr>
          <a:xfrm>
            <a:off x="4937760" y="3749040"/>
            <a:ext cx="6705295" cy="731520"/>
          </a:xfrm>
          <a:prstGeom prst="rect">
            <a:avLst/>
          </a:prstGeom>
          <a:noFill/>
          <a:ln/>
        </p:spPr>
        <p:txBody>
          <a:bodyPr wrap="square" lIns="0" tIns="0" rIns="0" bIns="0" rtlCol="0" anchor="ctr"/>
          <a:lstStyle/>
          <a:p>
            <a:pPr indent="0" marL="0">
              <a:buNone/>
            </a:pPr>
            <a:r>
              <a:rPr lang="en-US" sz="1150" dirty="0">
                <a:solidFill>
                  <a:srgbClr val="66728A"/>
                </a:solidFill>
                <a:latin typeface="Calibri" pitchFamily="34" charset="0"/>
                <a:ea typeface="Calibri" pitchFamily="34" charset="-122"/>
                <a:cs typeface="Calibri" pitchFamily="34" charset="-120"/>
              </a:rPr>
              <a:t>PostgreSQL rejette deux réservations actives qui se recouvrent, même envoyées au même instant.</a:t>
            </a:r>
            <a:endParaRPr lang="en-US" sz="1150" dirty="0"/>
          </a:p>
        </p:txBody>
      </p:sp>
      <p:sp>
        <p:nvSpPr>
          <p:cNvPr id="16" name="Shape 14"/>
          <p:cNvSpPr/>
          <p:nvPr/>
        </p:nvSpPr>
        <p:spPr>
          <a:xfrm>
            <a:off x="548640" y="4892040"/>
            <a:ext cx="11094415" cy="1188720"/>
          </a:xfrm>
          <a:prstGeom prst="roundRect">
            <a:avLst>
              <a:gd name="adj" fmla="val 6154"/>
            </a:avLst>
          </a:prstGeom>
          <a:solidFill>
            <a:srgbClr val="0D2046"/>
          </a:solidFill>
          <a:ln/>
          <a:effectLst>
            <a:outerShdw sx="100000" sy="100000" kx="0" ky="0" algn="bl" rotWithShape="0" blurRad="127000" dist="38100" dir="5400000">
              <a:srgbClr val="1B2B4B">
                <a:alpha val="12000"/>
              </a:srgbClr>
            </a:outerShdw>
          </a:effectLst>
        </p:spPr>
      </p:sp>
      <p:sp>
        <p:nvSpPr>
          <p:cNvPr id="17" name="Text 15"/>
          <p:cNvSpPr txBox="1"/>
          <p:nvPr/>
        </p:nvSpPr>
        <p:spPr>
          <a:xfrm>
            <a:off x="868680" y="4892040"/>
            <a:ext cx="10454335" cy="1188720"/>
          </a:xfrm>
          <a:prstGeom prst="rect">
            <a:avLst/>
          </a:prstGeom>
          <a:noFill/>
          <a:ln/>
        </p:spPr>
        <p:txBody>
          <a:bodyPr wrap="square" lIns="0" tIns="0" rIns="0" bIns="0" rtlCol="0" anchor="ctr"/>
          <a:lstStyle/>
          <a:p>
            <a:pPr indent="0" marL="0">
              <a:buNone/>
            </a:pPr>
            <a:r>
              <a:rPr lang="en-US" sz="1300" dirty="0">
                <a:solidFill>
                  <a:srgbClr val="8FE0C9"/>
                </a:solidFill>
                <a:latin typeface="Courier New" pitchFamily="34" charset="0"/>
                <a:ea typeface="Courier New" pitchFamily="34" charset="-122"/>
                <a:cs typeface="Courier New" pitchFamily="34" charset="-120"/>
              </a:rPr>
              <a:t>EXCLUDE USING gist (materiel_id WITH =, tstzrange(debut, fin, '[)') WITH &amp;&amp;) WHERE (statut = 'active')</a:t>
            </a:r>
            <a:endParaRPr lang="en-US" sz="1300" dirty="0"/>
          </a:p>
        </p:txBody>
      </p:sp>
      <p:sp>
        <p:nvSpPr>
          <p:cNvPr id="18" name="Text 16"/>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19" name="Text 17"/>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ANNEXE C · DERNIÈRES ÉVOLUTIONS LIVRÉES</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Ajouts réalisés après le cinquième sprint</a:t>
            </a:r>
            <a:endParaRPr lang="en-US" sz="3000" dirty="0"/>
          </a:p>
        </p:txBody>
      </p:sp>
      <p:sp>
        <p:nvSpPr>
          <p:cNvPr id="4" name="Shape 2"/>
          <p:cNvSpPr/>
          <p:nvPr/>
        </p:nvSpPr>
        <p:spPr>
          <a:xfrm>
            <a:off x="548640" y="1828800"/>
            <a:ext cx="3515258" cy="1965960"/>
          </a:xfrm>
          <a:prstGeom prst="roundRect">
            <a:avLst>
              <a:gd name="adj" fmla="val 37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5" name="Shape 3"/>
          <p:cNvSpPr/>
          <p:nvPr/>
        </p:nvSpPr>
        <p:spPr>
          <a:xfrm>
            <a:off x="749808" y="2029968"/>
            <a:ext cx="365760" cy="365760"/>
          </a:xfrm>
          <a:prstGeom prst="roundRect">
            <a:avLst>
              <a:gd name="adj" fmla="val 17500"/>
            </a:avLst>
          </a:prstGeom>
          <a:solidFill>
            <a:srgbClr val="C42B1C"/>
          </a:solidFill>
          <a:ln/>
        </p:spPr>
      </p:sp>
      <p:sp>
        <p:nvSpPr>
          <p:cNvPr id="6" name="Text 4"/>
          <p:cNvSpPr txBox="1"/>
          <p:nvPr/>
        </p:nvSpPr>
        <p:spPr>
          <a:xfrm>
            <a:off x="749808" y="2514600"/>
            <a:ext cx="3112922" cy="45720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Réapprovisionnement</a:t>
            </a:r>
            <a:endParaRPr lang="en-US" sz="1250" dirty="0"/>
          </a:p>
        </p:txBody>
      </p:sp>
      <p:sp>
        <p:nvSpPr>
          <p:cNvPr id="7" name="Text 5"/>
          <p:cNvSpPr txBox="1"/>
          <p:nvPr/>
        </p:nvSpPr>
        <p:spPr>
          <a:xfrm>
            <a:off x="749808" y="2944368"/>
            <a:ext cx="3112922" cy="777240"/>
          </a:xfrm>
          <a:prstGeom prst="rect">
            <a:avLst/>
          </a:prstGeom>
          <a:noFill/>
          <a:ln/>
        </p:spPr>
        <p:txBody>
          <a:bodyPr wrap="square" lIns="0" tIns="0" rIns="0" bIns="0" rtlCol="0" anchor="t"/>
          <a:lstStyle/>
          <a:p>
            <a:pPr indent="0" marL="0">
              <a:buNone/>
            </a:pPr>
            <a:r>
              <a:rPr lang="en-US" sz="950" dirty="0">
                <a:solidFill>
                  <a:srgbClr val="66728A"/>
                </a:solidFill>
                <a:latin typeface="Calibri" pitchFamily="34" charset="0"/>
                <a:ea typeface="Calibri" pitchFamily="34" charset="-122"/>
                <a:cs typeface="Calibri" pitchFamily="34" charset="-120"/>
              </a:rPr>
              <a:t>Quantité et seuil d'alerte sur le matériel non individualisé. Signalement de rupture par un utilisateur, traitement par l'administrateur ou le gestionnaire.</a:t>
            </a:r>
            <a:endParaRPr lang="en-US" sz="950" dirty="0"/>
          </a:p>
        </p:txBody>
      </p:sp>
      <p:sp>
        <p:nvSpPr>
          <p:cNvPr id="8" name="Shape 6"/>
          <p:cNvSpPr/>
          <p:nvPr/>
        </p:nvSpPr>
        <p:spPr>
          <a:xfrm>
            <a:off x="4338218" y="1828800"/>
            <a:ext cx="3515258" cy="1965960"/>
          </a:xfrm>
          <a:prstGeom prst="roundRect">
            <a:avLst>
              <a:gd name="adj" fmla="val 37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9" name="Shape 7"/>
          <p:cNvSpPr/>
          <p:nvPr/>
        </p:nvSpPr>
        <p:spPr>
          <a:xfrm>
            <a:off x="4539386" y="2029968"/>
            <a:ext cx="365760" cy="365760"/>
          </a:xfrm>
          <a:prstGeom prst="roundRect">
            <a:avLst>
              <a:gd name="adj" fmla="val 17500"/>
            </a:avLst>
          </a:prstGeom>
          <a:solidFill>
            <a:srgbClr val="2864E8"/>
          </a:solidFill>
          <a:ln/>
        </p:spPr>
      </p:sp>
      <p:sp>
        <p:nvSpPr>
          <p:cNvPr id="10" name="Text 8"/>
          <p:cNvSpPr txBox="1"/>
          <p:nvPr/>
        </p:nvSpPr>
        <p:spPr>
          <a:xfrm>
            <a:off x="4539386" y="2514600"/>
            <a:ext cx="3112922" cy="45720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Gestion des comptes</a:t>
            </a:r>
            <a:endParaRPr lang="en-US" sz="1250" dirty="0"/>
          </a:p>
        </p:txBody>
      </p:sp>
      <p:sp>
        <p:nvSpPr>
          <p:cNvPr id="11" name="Text 9"/>
          <p:cNvSpPr txBox="1"/>
          <p:nvPr/>
        </p:nvSpPr>
        <p:spPr>
          <a:xfrm>
            <a:off x="4539386" y="2944368"/>
            <a:ext cx="3112922" cy="777240"/>
          </a:xfrm>
          <a:prstGeom prst="rect">
            <a:avLst/>
          </a:prstGeom>
          <a:noFill/>
          <a:ln/>
        </p:spPr>
        <p:txBody>
          <a:bodyPr wrap="square" lIns="0" tIns="0" rIns="0" bIns="0" rtlCol="0" anchor="t"/>
          <a:lstStyle/>
          <a:p>
            <a:pPr indent="0" marL="0">
              <a:buNone/>
            </a:pPr>
            <a:r>
              <a:rPr lang="en-US" sz="950" dirty="0">
                <a:solidFill>
                  <a:srgbClr val="66728A"/>
                </a:solidFill>
                <a:latin typeface="Calibri" pitchFamily="34" charset="0"/>
                <a:ea typeface="Calibri" pitchFamily="34" charset="-122"/>
                <a:cs typeface="Calibri" pitchFamily="34" charset="-120"/>
              </a:rPr>
              <a:t>L'administrateur crée, modifie, change le rôle et désactive un compte. Chaque profil change son propre mot de passe.</a:t>
            </a:r>
            <a:endParaRPr lang="en-US" sz="950" dirty="0"/>
          </a:p>
        </p:txBody>
      </p:sp>
      <p:sp>
        <p:nvSpPr>
          <p:cNvPr id="12" name="Shape 10"/>
          <p:cNvSpPr/>
          <p:nvPr/>
        </p:nvSpPr>
        <p:spPr>
          <a:xfrm>
            <a:off x="8127797" y="1828800"/>
            <a:ext cx="3515258" cy="1965960"/>
          </a:xfrm>
          <a:prstGeom prst="roundRect">
            <a:avLst>
              <a:gd name="adj" fmla="val 37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3" name="Shape 11"/>
          <p:cNvSpPr/>
          <p:nvPr/>
        </p:nvSpPr>
        <p:spPr>
          <a:xfrm>
            <a:off x="8328965" y="2029968"/>
            <a:ext cx="365760" cy="365760"/>
          </a:xfrm>
          <a:prstGeom prst="roundRect">
            <a:avLst>
              <a:gd name="adj" fmla="val 17500"/>
            </a:avLst>
          </a:prstGeom>
          <a:solidFill>
            <a:srgbClr val="078451"/>
          </a:solidFill>
          <a:ln/>
        </p:spPr>
      </p:sp>
      <p:sp>
        <p:nvSpPr>
          <p:cNvPr id="14" name="Text 12"/>
          <p:cNvSpPr txBox="1"/>
          <p:nvPr/>
        </p:nvSpPr>
        <p:spPr>
          <a:xfrm>
            <a:off x="8328965" y="2514600"/>
            <a:ext cx="3112922" cy="45720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Page projet dédiée</a:t>
            </a:r>
            <a:endParaRPr lang="en-US" sz="1250" dirty="0"/>
          </a:p>
        </p:txBody>
      </p:sp>
      <p:sp>
        <p:nvSpPr>
          <p:cNvPr id="15" name="Text 13"/>
          <p:cNvSpPr txBox="1"/>
          <p:nvPr/>
        </p:nvSpPr>
        <p:spPr>
          <a:xfrm>
            <a:off x="8328965" y="2944368"/>
            <a:ext cx="3112922" cy="777240"/>
          </a:xfrm>
          <a:prstGeom prst="rect">
            <a:avLst/>
          </a:prstGeom>
          <a:noFill/>
          <a:ln/>
        </p:spPr>
        <p:txBody>
          <a:bodyPr wrap="square" lIns="0" tIns="0" rIns="0" bIns="0" rtlCol="0" anchor="t"/>
          <a:lstStyle/>
          <a:p>
            <a:pPr indent="0" marL="0">
              <a:buNone/>
            </a:pPr>
            <a:r>
              <a:rPr lang="en-US" sz="950" dirty="0">
                <a:solidFill>
                  <a:srgbClr val="66728A"/>
                </a:solidFill>
                <a:latin typeface="Calibri" pitchFamily="34" charset="0"/>
                <a:ea typeface="Calibri" pitchFamily="34" charset="-122"/>
                <a:cs typeface="Calibri" pitchFamily="34" charset="-120"/>
              </a:rPr>
              <a:t>La fiche d'un projet devient une page à part entière, avec sa propre adresse, plutôt qu'une fenêtre.</a:t>
            </a:r>
            <a:endParaRPr lang="en-US" sz="950" dirty="0"/>
          </a:p>
        </p:txBody>
      </p:sp>
      <p:sp>
        <p:nvSpPr>
          <p:cNvPr id="16" name="Shape 14"/>
          <p:cNvSpPr/>
          <p:nvPr/>
        </p:nvSpPr>
        <p:spPr>
          <a:xfrm>
            <a:off x="548640" y="4023360"/>
            <a:ext cx="3515258" cy="1965960"/>
          </a:xfrm>
          <a:prstGeom prst="roundRect">
            <a:avLst>
              <a:gd name="adj" fmla="val 37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7" name="Shape 15"/>
          <p:cNvSpPr/>
          <p:nvPr/>
        </p:nvSpPr>
        <p:spPr>
          <a:xfrm>
            <a:off x="749808" y="4224528"/>
            <a:ext cx="365760" cy="365760"/>
          </a:xfrm>
          <a:prstGeom prst="roundRect">
            <a:avLst>
              <a:gd name="adj" fmla="val 17500"/>
            </a:avLst>
          </a:prstGeom>
          <a:solidFill>
            <a:srgbClr val="7138D0"/>
          </a:solidFill>
          <a:ln/>
        </p:spPr>
      </p:sp>
      <p:sp>
        <p:nvSpPr>
          <p:cNvPr id="18" name="Text 16"/>
          <p:cNvSpPr txBox="1"/>
          <p:nvPr/>
        </p:nvSpPr>
        <p:spPr>
          <a:xfrm>
            <a:off x="749808" y="4709160"/>
            <a:ext cx="3112922" cy="45720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Kanban « En revue »</a:t>
            </a:r>
            <a:endParaRPr lang="en-US" sz="1250" dirty="0"/>
          </a:p>
        </p:txBody>
      </p:sp>
      <p:sp>
        <p:nvSpPr>
          <p:cNvPr id="19" name="Text 17"/>
          <p:cNvSpPr txBox="1"/>
          <p:nvPr/>
        </p:nvSpPr>
        <p:spPr>
          <a:xfrm>
            <a:off x="749808" y="5138928"/>
            <a:ext cx="3112922" cy="777240"/>
          </a:xfrm>
          <a:prstGeom prst="rect">
            <a:avLst/>
          </a:prstGeom>
          <a:noFill/>
          <a:ln/>
        </p:spPr>
        <p:txBody>
          <a:bodyPr wrap="square" lIns="0" tIns="0" rIns="0" bIns="0" rtlCol="0" anchor="t"/>
          <a:lstStyle/>
          <a:p>
            <a:pPr indent="0" marL="0">
              <a:buNone/>
            </a:pPr>
            <a:r>
              <a:rPr lang="en-US" sz="950" dirty="0">
                <a:solidFill>
                  <a:srgbClr val="66728A"/>
                </a:solidFill>
                <a:latin typeface="Calibri" pitchFamily="34" charset="0"/>
                <a:ea typeface="Calibri" pitchFamily="34" charset="-122"/>
                <a:cs typeface="Calibri" pitchFamily="34" charset="-120"/>
              </a:rPr>
              <a:t>Une quatrième colonne fixe, entre En cours et Fait, sans incidence sur la clôture automatique.</a:t>
            </a:r>
            <a:endParaRPr lang="en-US" sz="950" dirty="0"/>
          </a:p>
        </p:txBody>
      </p:sp>
      <p:sp>
        <p:nvSpPr>
          <p:cNvPr id="20" name="Shape 18"/>
          <p:cNvSpPr/>
          <p:nvPr/>
        </p:nvSpPr>
        <p:spPr>
          <a:xfrm>
            <a:off x="4338218" y="4023360"/>
            <a:ext cx="3515258" cy="1965960"/>
          </a:xfrm>
          <a:prstGeom prst="roundRect">
            <a:avLst>
              <a:gd name="adj" fmla="val 37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21" name="Shape 19"/>
          <p:cNvSpPr/>
          <p:nvPr/>
        </p:nvSpPr>
        <p:spPr>
          <a:xfrm>
            <a:off x="4539386" y="4224528"/>
            <a:ext cx="365760" cy="365760"/>
          </a:xfrm>
          <a:prstGeom prst="roundRect">
            <a:avLst>
              <a:gd name="adj" fmla="val 17500"/>
            </a:avLst>
          </a:prstGeom>
          <a:solidFill>
            <a:srgbClr val="9B5A08"/>
          </a:solidFill>
          <a:ln/>
        </p:spPr>
      </p:sp>
      <p:sp>
        <p:nvSpPr>
          <p:cNvPr id="22" name="Text 20"/>
          <p:cNvSpPr txBox="1"/>
          <p:nvPr/>
        </p:nvSpPr>
        <p:spPr>
          <a:xfrm>
            <a:off x="4539386" y="4709160"/>
            <a:ext cx="3112922" cy="45720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Statut de projet</a:t>
            </a:r>
            <a:endParaRPr lang="en-US" sz="1250" dirty="0"/>
          </a:p>
        </p:txBody>
      </p:sp>
      <p:sp>
        <p:nvSpPr>
          <p:cNvPr id="23" name="Text 21"/>
          <p:cNvSpPr txBox="1"/>
          <p:nvPr/>
        </p:nvSpPr>
        <p:spPr>
          <a:xfrm>
            <a:off x="4539386" y="5138928"/>
            <a:ext cx="3112922" cy="777240"/>
          </a:xfrm>
          <a:prstGeom prst="rect">
            <a:avLst/>
          </a:prstGeom>
          <a:noFill/>
          <a:ln/>
        </p:spPr>
        <p:txBody>
          <a:bodyPr wrap="square" lIns="0" tIns="0" rIns="0" bIns="0" rtlCol="0" anchor="t"/>
          <a:lstStyle/>
          <a:p>
            <a:pPr indent="0" marL="0">
              <a:buNone/>
            </a:pPr>
            <a:r>
              <a:rPr lang="en-US" sz="950" dirty="0">
                <a:solidFill>
                  <a:srgbClr val="66728A"/>
                </a:solidFill>
                <a:latin typeface="Calibri" pitchFamily="34" charset="0"/>
                <a:ea typeface="Calibri" pitchFamily="34" charset="-122"/>
                <a:cs typeface="Calibri" pitchFamily="34" charset="-120"/>
              </a:rPr>
              <a:t>Un tag en attente, actif ou clôturé, calculé automatiquement à partir des dates et de l'archivage.</a:t>
            </a:r>
            <a:endParaRPr lang="en-US" sz="950" dirty="0"/>
          </a:p>
        </p:txBody>
      </p:sp>
      <p:sp>
        <p:nvSpPr>
          <p:cNvPr id="24" name="Shape 22"/>
          <p:cNvSpPr/>
          <p:nvPr/>
        </p:nvSpPr>
        <p:spPr>
          <a:xfrm>
            <a:off x="8127797" y="4023360"/>
            <a:ext cx="3515258" cy="1965960"/>
          </a:xfrm>
          <a:prstGeom prst="roundRect">
            <a:avLst>
              <a:gd name="adj" fmla="val 3721"/>
            </a:avLst>
          </a:prstGeom>
          <a:solidFill>
            <a:srgbClr val="FFFFFF"/>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25" name="Shape 23"/>
          <p:cNvSpPr/>
          <p:nvPr/>
        </p:nvSpPr>
        <p:spPr>
          <a:xfrm>
            <a:off x="8328965" y="4224528"/>
            <a:ext cx="365760" cy="365760"/>
          </a:xfrm>
          <a:prstGeom prst="roundRect">
            <a:avLst>
              <a:gd name="adj" fmla="val 17500"/>
            </a:avLst>
          </a:prstGeom>
          <a:solidFill>
            <a:srgbClr val="1F55CC"/>
          </a:solidFill>
          <a:ln/>
        </p:spPr>
      </p:sp>
      <p:sp>
        <p:nvSpPr>
          <p:cNvPr id="26" name="Text 24"/>
          <p:cNvSpPr txBox="1"/>
          <p:nvPr/>
        </p:nvSpPr>
        <p:spPr>
          <a:xfrm>
            <a:off x="8328965" y="4709160"/>
            <a:ext cx="3112922" cy="45720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Thème et Paramètres</a:t>
            </a:r>
            <a:endParaRPr lang="en-US" sz="1250" dirty="0"/>
          </a:p>
        </p:txBody>
      </p:sp>
      <p:sp>
        <p:nvSpPr>
          <p:cNvPr id="27" name="Text 25"/>
          <p:cNvSpPr txBox="1"/>
          <p:nvPr/>
        </p:nvSpPr>
        <p:spPr>
          <a:xfrm>
            <a:off x="8328965" y="5138928"/>
            <a:ext cx="3112922" cy="777240"/>
          </a:xfrm>
          <a:prstGeom prst="rect">
            <a:avLst/>
          </a:prstGeom>
          <a:noFill/>
          <a:ln/>
        </p:spPr>
        <p:txBody>
          <a:bodyPr wrap="square" lIns="0" tIns="0" rIns="0" bIns="0" rtlCol="0" anchor="t"/>
          <a:lstStyle/>
          <a:p>
            <a:pPr indent="0" marL="0">
              <a:buNone/>
            </a:pPr>
            <a:r>
              <a:rPr lang="en-US" sz="950" dirty="0">
                <a:solidFill>
                  <a:srgbClr val="66728A"/>
                </a:solidFill>
                <a:latin typeface="Calibri" pitchFamily="34" charset="0"/>
                <a:ea typeface="Calibri" pitchFamily="34" charset="-122"/>
                <a:cs typeface="Calibri" pitchFamily="34" charset="-120"/>
              </a:rPr>
              <a:t>Thème clair ou sombre mémorisé, page personnelle pour le compte et le mot de passe.</a:t>
            </a:r>
            <a:endParaRPr lang="en-US" sz="950" dirty="0"/>
          </a:p>
        </p:txBody>
      </p:sp>
      <p:sp>
        <p:nvSpPr>
          <p:cNvPr id="28" name="Text 26"/>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29" name="Text 27"/>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2864E8"/>
                </a:solidFill>
                <a:latin typeface="Calibri" pitchFamily="34" charset="0"/>
                <a:ea typeface="Calibri" pitchFamily="34" charset="-122"/>
                <a:cs typeface="Calibri" pitchFamily="34" charset="-120"/>
              </a:rPr>
              <a:t>ANNEXE D · PLAN DE SECOURS</a:t>
            </a:r>
            <a:endParaRPr lang="en-US" sz="1200" dirty="0"/>
          </a:p>
        </p:txBody>
      </p:sp>
      <p:sp>
        <p:nvSpPr>
          <p:cNvPr id="3" name="Text 1"/>
          <p:cNvSpPr txBox="1"/>
          <p:nvPr/>
        </p:nvSpPr>
        <p:spPr>
          <a:xfrm>
            <a:off x="548640" y="822960"/>
            <a:ext cx="11094415" cy="822960"/>
          </a:xfrm>
          <a:prstGeom prst="rect">
            <a:avLst/>
          </a:prstGeom>
          <a:noFill/>
          <a:ln/>
        </p:spPr>
        <p:txBody>
          <a:bodyPr wrap="square" lIns="0" tIns="0" rIns="0" bIns="0" rtlCol="0" anchor="t"/>
          <a:lstStyle/>
          <a:p>
            <a:pPr indent="0" marL="0">
              <a:buNone/>
            </a:pPr>
            <a:r>
              <a:rPr lang="en-US" sz="3000" b="1" dirty="0">
                <a:solidFill>
                  <a:srgbClr val="0D2046"/>
                </a:solidFill>
                <a:latin typeface="Cambria" pitchFamily="34" charset="0"/>
                <a:ea typeface="Cambria" pitchFamily="34" charset="-122"/>
                <a:cs typeface="Cambria" pitchFamily="34" charset="-120"/>
              </a:rPr>
              <a:t>La démo en captures</a:t>
            </a:r>
            <a:endParaRPr lang="en-US" sz="3000" dirty="0"/>
          </a:p>
        </p:txBody>
      </p:sp>
      <p:sp>
        <p:nvSpPr>
          <p:cNvPr id="4" name="Shape 2"/>
          <p:cNvSpPr/>
          <p:nvPr/>
        </p:nvSpPr>
        <p:spPr>
          <a:xfrm>
            <a:off x="548640" y="1874520"/>
            <a:ext cx="5410048" cy="2103120"/>
          </a:xfrm>
          <a:prstGeom prst="roundRect">
            <a:avLst>
              <a:gd name="adj" fmla="val 3478"/>
            </a:avLst>
          </a:prstGeom>
          <a:solidFill>
            <a:srgbClr val="EDF1F8"/>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5" name="Shape 3"/>
          <p:cNvSpPr/>
          <p:nvPr/>
        </p:nvSpPr>
        <p:spPr>
          <a:xfrm>
            <a:off x="777240" y="2423160"/>
            <a:ext cx="4952848" cy="1280160"/>
          </a:xfrm>
          <a:prstGeom prst="roundRect">
            <a:avLst>
              <a:gd name="adj" fmla="val 3571"/>
            </a:avLst>
          </a:prstGeom>
          <a:solidFill>
            <a:srgbClr val="FFFFFF"/>
          </a:solidFill>
          <a:ln w="12700">
            <a:solidFill>
              <a:srgbClr val="DDE2E9"/>
            </a:solidFill>
            <a:prstDash val="dash"/>
          </a:ln>
        </p:spPr>
      </p:sp>
      <p:sp>
        <p:nvSpPr>
          <p:cNvPr id="6" name="Text 4"/>
          <p:cNvSpPr txBox="1"/>
          <p:nvPr/>
        </p:nvSpPr>
        <p:spPr>
          <a:xfrm>
            <a:off x="777240" y="2423160"/>
            <a:ext cx="4952848" cy="1280160"/>
          </a:xfrm>
          <a:prstGeom prst="rect">
            <a:avLst/>
          </a:prstGeom>
          <a:noFill/>
          <a:ln/>
        </p:spPr>
        <p:txBody>
          <a:bodyPr wrap="square" lIns="0" tIns="0" rIns="0" bIns="0" rtlCol="0" anchor="ctr"/>
          <a:lstStyle/>
          <a:p>
            <a:pPr algn="ctr" indent="0" marL="0">
              <a:buNone/>
            </a:pPr>
            <a:r>
              <a:rPr lang="en-US" sz="1050" i="1" dirty="0">
                <a:solidFill>
                  <a:srgbClr val="66728A"/>
                </a:solidFill>
                <a:latin typeface="Calibri" pitchFamily="34" charset="0"/>
                <a:ea typeface="Calibri" pitchFamily="34" charset="-122"/>
                <a:cs typeface="Calibri" pitchFamily="34" charset="-120"/>
              </a:rPr>
              <a:t>[ capture d'écran ]</a:t>
            </a:r>
            <a:endParaRPr lang="en-US" sz="1050" dirty="0"/>
          </a:p>
        </p:txBody>
      </p:sp>
      <p:sp>
        <p:nvSpPr>
          <p:cNvPr id="7" name="Text 5"/>
          <p:cNvSpPr txBox="1"/>
          <p:nvPr/>
        </p:nvSpPr>
        <p:spPr>
          <a:xfrm>
            <a:off x="777240" y="2039112"/>
            <a:ext cx="4952848" cy="32004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Acte 1 · Gestionnaire</a:t>
            </a:r>
            <a:endParaRPr lang="en-US" sz="1250" dirty="0"/>
          </a:p>
        </p:txBody>
      </p:sp>
      <p:sp>
        <p:nvSpPr>
          <p:cNvPr id="8" name="Shape 6"/>
          <p:cNvSpPr/>
          <p:nvPr/>
        </p:nvSpPr>
        <p:spPr>
          <a:xfrm>
            <a:off x="6233008" y="1874520"/>
            <a:ext cx="5410048" cy="2103120"/>
          </a:xfrm>
          <a:prstGeom prst="roundRect">
            <a:avLst>
              <a:gd name="adj" fmla="val 3478"/>
            </a:avLst>
          </a:prstGeom>
          <a:solidFill>
            <a:srgbClr val="EDF1F8"/>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9" name="Shape 7"/>
          <p:cNvSpPr/>
          <p:nvPr/>
        </p:nvSpPr>
        <p:spPr>
          <a:xfrm>
            <a:off x="6461608" y="2423160"/>
            <a:ext cx="4952848" cy="1280160"/>
          </a:xfrm>
          <a:prstGeom prst="roundRect">
            <a:avLst>
              <a:gd name="adj" fmla="val 3571"/>
            </a:avLst>
          </a:prstGeom>
          <a:solidFill>
            <a:srgbClr val="FFFFFF"/>
          </a:solidFill>
          <a:ln w="12700">
            <a:solidFill>
              <a:srgbClr val="DDE2E9"/>
            </a:solidFill>
            <a:prstDash val="dash"/>
          </a:ln>
        </p:spPr>
      </p:sp>
      <p:sp>
        <p:nvSpPr>
          <p:cNvPr id="10" name="Text 8"/>
          <p:cNvSpPr txBox="1"/>
          <p:nvPr/>
        </p:nvSpPr>
        <p:spPr>
          <a:xfrm>
            <a:off x="6461608" y="2423160"/>
            <a:ext cx="4952848" cy="1280160"/>
          </a:xfrm>
          <a:prstGeom prst="rect">
            <a:avLst/>
          </a:prstGeom>
          <a:noFill/>
          <a:ln/>
        </p:spPr>
        <p:txBody>
          <a:bodyPr wrap="square" lIns="0" tIns="0" rIns="0" bIns="0" rtlCol="0" anchor="ctr"/>
          <a:lstStyle/>
          <a:p>
            <a:pPr algn="ctr" indent="0" marL="0">
              <a:buNone/>
            </a:pPr>
            <a:r>
              <a:rPr lang="en-US" sz="1050" i="1" dirty="0">
                <a:solidFill>
                  <a:srgbClr val="66728A"/>
                </a:solidFill>
                <a:latin typeface="Calibri" pitchFamily="34" charset="0"/>
                <a:ea typeface="Calibri" pitchFamily="34" charset="-122"/>
                <a:cs typeface="Calibri" pitchFamily="34" charset="-120"/>
              </a:rPr>
              <a:t>[ capture d'écran ]</a:t>
            </a:r>
            <a:endParaRPr lang="en-US" sz="1050" dirty="0"/>
          </a:p>
        </p:txBody>
      </p:sp>
      <p:sp>
        <p:nvSpPr>
          <p:cNvPr id="11" name="Text 9"/>
          <p:cNvSpPr txBox="1"/>
          <p:nvPr/>
        </p:nvSpPr>
        <p:spPr>
          <a:xfrm>
            <a:off x="6461608" y="2039112"/>
            <a:ext cx="4952848" cy="32004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Acte 2 · Responsable</a:t>
            </a:r>
            <a:endParaRPr lang="en-US" sz="1250" dirty="0"/>
          </a:p>
        </p:txBody>
      </p:sp>
      <p:sp>
        <p:nvSpPr>
          <p:cNvPr id="12" name="Shape 10"/>
          <p:cNvSpPr/>
          <p:nvPr/>
        </p:nvSpPr>
        <p:spPr>
          <a:xfrm>
            <a:off x="548640" y="4251960"/>
            <a:ext cx="5410048" cy="2103120"/>
          </a:xfrm>
          <a:prstGeom prst="roundRect">
            <a:avLst>
              <a:gd name="adj" fmla="val 3478"/>
            </a:avLst>
          </a:prstGeom>
          <a:solidFill>
            <a:srgbClr val="EDF1F8"/>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3" name="Shape 11"/>
          <p:cNvSpPr/>
          <p:nvPr/>
        </p:nvSpPr>
        <p:spPr>
          <a:xfrm>
            <a:off x="777240" y="4800600"/>
            <a:ext cx="4952848" cy="1280160"/>
          </a:xfrm>
          <a:prstGeom prst="roundRect">
            <a:avLst>
              <a:gd name="adj" fmla="val 3571"/>
            </a:avLst>
          </a:prstGeom>
          <a:solidFill>
            <a:srgbClr val="FFFFFF"/>
          </a:solidFill>
          <a:ln w="12700">
            <a:solidFill>
              <a:srgbClr val="DDE2E9"/>
            </a:solidFill>
            <a:prstDash val="dash"/>
          </a:ln>
        </p:spPr>
      </p:sp>
      <p:sp>
        <p:nvSpPr>
          <p:cNvPr id="14" name="Text 12"/>
          <p:cNvSpPr txBox="1"/>
          <p:nvPr/>
        </p:nvSpPr>
        <p:spPr>
          <a:xfrm>
            <a:off x="777240" y="4800600"/>
            <a:ext cx="4952848" cy="1280160"/>
          </a:xfrm>
          <a:prstGeom prst="rect">
            <a:avLst/>
          </a:prstGeom>
          <a:noFill/>
          <a:ln/>
        </p:spPr>
        <p:txBody>
          <a:bodyPr wrap="square" lIns="0" tIns="0" rIns="0" bIns="0" rtlCol="0" anchor="ctr"/>
          <a:lstStyle/>
          <a:p>
            <a:pPr algn="ctr" indent="0" marL="0">
              <a:buNone/>
            </a:pPr>
            <a:r>
              <a:rPr lang="en-US" sz="1050" i="1" dirty="0">
                <a:solidFill>
                  <a:srgbClr val="66728A"/>
                </a:solidFill>
                <a:latin typeface="Calibri" pitchFamily="34" charset="0"/>
                <a:ea typeface="Calibri" pitchFamily="34" charset="-122"/>
                <a:cs typeface="Calibri" pitchFamily="34" charset="-120"/>
              </a:rPr>
              <a:t>[ capture d'écran ]</a:t>
            </a:r>
            <a:endParaRPr lang="en-US" sz="1050" dirty="0"/>
          </a:p>
        </p:txBody>
      </p:sp>
      <p:sp>
        <p:nvSpPr>
          <p:cNvPr id="15" name="Text 13"/>
          <p:cNvSpPr txBox="1"/>
          <p:nvPr/>
        </p:nvSpPr>
        <p:spPr>
          <a:xfrm>
            <a:off x="777240" y="4416552"/>
            <a:ext cx="4952848" cy="32004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Acte 3 · Membre</a:t>
            </a:r>
            <a:endParaRPr lang="en-US" sz="1250" dirty="0"/>
          </a:p>
        </p:txBody>
      </p:sp>
      <p:sp>
        <p:nvSpPr>
          <p:cNvPr id="16" name="Shape 14"/>
          <p:cNvSpPr/>
          <p:nvPr/>
        </p:nvSpPr>
        <p:spPr>
          <a:xfrm>
            <a:off x="6233008" y="4251960"/>
            <a:ext cx="5410048" cy="2103120"/>
          </a:xfrm>
          <a:prstGeom prst="roundRect">
            <a:avLst>
              <a:gd name="adj" fmla="val 3478"/>
            </a:avLst>
          </a:prstGeom>
          <a:solidFill>
            <a:srgbClr val="EDF1F8"/>
          </a:solidFill>
          <a:ln w="12700">
            <a:solidFill>
              <a:srgbClr val="DDE2E9"/>
            </a:solidFill>
            <a:prstDash val="solid"/>
          </a:ln>
          <a:effectLst>
            <a:outerShdw sx="100000" sy="100000" kx="0" ky="0" algn="bl" rotWithShape="0" blurRad="127000" dist="38100" dir="5400000">
              <a:srgbClr val="1B2B4B">
                <a:alpha val="12000"/>
              </a:srgbClr>
            </a:outerShdw>
          </a:effectLst>
        </p:spPr>
      </p:sp>
      <p:sp>
        <p:nvSpPr>
          <p:cNvPr id="17" name="Shape 15"/>
          <p:cNvSpPr/>
          <p:nvPr/>
        </p:nvSpPr>
        <p:spPr>
          <a:xfrm>
            <a:off x="6461608" y="4800600"/>
            <a:ext cx="4952848" cy="1280160"/>
          </a:xfrm>
          <a:prstGeom prst="roundRect">
            <a:avLst>
              <a:gd name="adj" fmla="val 3571"/>
            </a:avLst>
          </a:prstGeom>
          <a:solidFill>
            <a:srgbClr val="FFFFFF"/>
          </a:solidFill>
          <a:ln w="12700">
            <a:solidFill>
              <a:srgbClr val="DDE2E9"/>
            </a:solidFill>
            <a:prstDash val="dash"/>
          </a:ln>
        </p:spPr>
      </p:sp>
      <p:sp>
        <p:nvSpPr>
          <p:cNvPr id="18" name="Text 16"/>
          <p:cNvSpPr txBox="1"/>
          <p:nvPr/>
        </p:nvSpPr>
        <p:spPr>
          <a:xfrm>
            <a:off x="6461608" y="4800600"/>
            <a:ext cx="4952848" cy="1280160"/>
          </a:xfrm>
          <a:prstGeom prst="rect">
            <a:avLst/>
          </a:prstGeom>
          <a:noFill/>
          <a:ln/>
        </p:spPr>
        <p:txBody>
          <a:bodyPr wrap="square" lIns="0" tIns="0" rIns="0" bIns="0" rtlCol="0" anchor="ctr"/>
          <a:lstStyle/>
          <a:p>
            <a:pPr algn="ctr" indent="0" marL="0">
              <a:buNone/>
            </a:pPr>
            <a:r>
              <a:rPr lang="en-US" sz="1050" i="1" dirty="0">
                <a:solidFill>
                  <a:srgbClr val="66728A"/>
                </a:solidFill>
                <a:latin typeface="Calibri" pitchFamily="34" charset="0"/>
                <a:ea typeface="Calibri" pitchFamily="34" charset="-122"/>
                <a:cs typeface="Calibri" pitchFamily="34" charset="-120"/>
              </a:rPr>
              <a:t>[ capture d'écran ]</a:t>
            </a:r>
            <a:endParaRPr lang="en-US" sz="1050" dirty="0"/>
          </a:p>
        </p:txBody>
      </p:sp>
      <p:sp>
        <p:nvSpPr>
          <p:cNvPr id="19" name="Text 17"/>
          <p:cNvSpPr txBox="1"/>
          <p:nvPr/>
        </p:nvSpPr>
        <p:spPr>
          <a:xfrm>
            <a:off x="6461608" y="4416552"/>
            <a:ext cx="4952848" cy="320040"/>
          </a:xfrm>
          <a:prstGeom prst="rect">
            <a:avLst/>
          </a:prstGeom>
          <a:noFill/>
          <a:ln/>
        </p:spPr>
        <p:txBody>
          <a:bodyPr wrap="square" lIns="0" tIns="0" rIns="0" bIns="0" rtlCol="0" anchor="ctr"/>
          <a:lstStyle/>
          <a:p>
            <a:pPr indent="0" marL="0">
              <a:buNone/>
            </a:pPr>
            <a:r>
              <a:rPr lang="en-US" sz="1250" b="1" dirty="0">
                <a:solidFill>
                  <a:srgbClr val="0D2046"/>
                </a:solidFill>
                <a:latin typeface="Cambria" pitchFamily="34" charset="0"/>
                <a:ea typeface="Cambria" pitchFamily="34" charset="-122"/>
                <a:cs typeface="Cambria" pitchFamily="34" charset="-120"/>
              </a:rPr>
              <a:t>Acte 4 · Administrateur</a:t>
            </a:r>
            <a:endParaRPr lang="en-US" sz="1250" dirty="0"/>
          </a:p>
        </p:txBody>
      </p:sp>
      <p:sp>
        <p:nvSpPr>
          <p:cNvPr id="20" name="Text 18"/>
          <p:cNvSpPr txBox="1"/>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6728A"/>
                </a:solidFill>
                <a:latin typeface="Calibri" pitchFamily="34" charset="0"/>
                <a:ea typeface="Calibri" pitchFamily="34" charset="-122"/>
                <a:cs typeface="Calibri" pitchFamily="34" charset="-120"/>
              </a:rPr>
              <a:t>SUIVI · Présentation projet</a:t>
            </a:r>
            <a:endParaRPr lang="en-US" sz="900" dirty="0"/>
          </a:p>
        </p:txBody>
      </p:sp>
      <p:sp>
        <p:nvSpPr>
          <p:cNvPr id="21" name="Text 1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66728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2026-10-01T08:48:44Z</dcterms:created>
  <dcterms:modified xsi:type="dcterms:W3CDTF">2026-10-01T08:48:44Z</dcterms:modified>
</cp:coreProperties>
</file>