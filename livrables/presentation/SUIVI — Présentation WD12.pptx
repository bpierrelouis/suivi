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NOM 1 — 0:20 (cumul 0:20) « Bonjour. Nous allons vous présenter SUIVI, une application conçue pour un laboratoire. Le nom veut dire Suivi des Usages, Inventaires, Vie des projets et IA. On va partir du problème du labo, vous montrer nos choix techniques, puis l'application en action à travers une histoire en quatre actes, présentée par chacun de nous. » Ne pas s'attarder : enchaîner directement sur le contexte.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NOM 1 — 1:25 (cumul 1:45) Partir du besoin, pas de la technique. Une question par carte, 20 à 25 s chacune. - Où est ce matériel ? Un labo possède beaucoup d'équipements. Il faut pouvoir retrouver un appareil, ses numéros (inventaire, série) et ses documents : factures, bons de commande. - Est-il libre jeudi ? Les projets ont besoin de matériel à des moments précis. Sans planning commun, deux équipes peuvent prévoir le même appareil au même créneau. - Qui a fait quoi ? Il faut garder une trace : qui a créé ou modifié une fiche, qui a réservé quoi, comment un projet s'est terminé. Phrase de synthèse (à dire en regardant le jury) : « SUIVI réunit tout ça dans un seul outil, avec les bons droits pour chacun et une trace de tout. » Transition : « Avant de vous montrer comment, voici qui a fait quoi dans l'équipe.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TOUS — 15 s chacun, 1:00 au total (cumul 2:45) Chacun parle de lui-même, dans l'ordre Nom 1 → Nom 4, en une phrase : « Je suis Nom X, j'ai surtout travaillé sur [rôle]. Ma réalisation la plus visible : [réalisation]. Pendant la démo, je présenterai l'acte X. » Règle : une seule réalisation, réelle et que le jury verra dans la démo. Si un travail a été partagé, le dire (« avec Nom Y »). Avant l'oral : remplacer les crochets. La couleur de chaque carte reprend celle de l'acte de démo correspondant. Nom 4 enchaîne : « Nom 2 va maintenant vous expliquer nos choix techniques.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NOM 2 — 1:20 (cumul 4:05) Ne pas lire les cartes : pour chacune, dire le besoin puis le choix (10 à 15 s chacune). - Vue 3 + Vite : l'appli est faite de tableaux, de formulaires, d'un Kanban et d'écrans qui changent selon le profil. Vue découpe tout ça en composants réutilisables ; Vite rend le développement rapide et produit la version finale. - Express 5 sur Node.js 24 (version LTS, donc maintenue longtemps) : une API organisée en routes, contrôleurs, services et accès aux données. C'est le seul endroit où les droits sont vérifiés : l'interface ne décide jamais seule. - PostgreSQL 17 : utilisateurs, projets, membres, tâches, matériels, réservations… tout est lié. Point fort à annoncer (Nom 3 le montrera) : c'est la base elle-même qui interdit deux réservations qui se chevauchent. - Prisma 7 : un seul fichier décrit le modèle de données ; chaque évolution est une migration versionnée ; les opérations en plusieurs étapes passent par des transactions. - Stockage S3 : les fichiers (factures, bons de commande) ne vont pas dans la base, seulement leurs informations. En local on utilise LocalStack, qui imite S3. - Docker Compose + Nginx : base, API, interface et stockage démarrent ensemble avec une seule commande, de la même façon sur chaque poste. Transition : « Voyons comment ces briques communiquent.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NOM 2 — 0:55 (cumul 5:00) Suivre le schéma du doigt ou du pointeur. Ligne 1 : « Le navigateur ne parle qu'à Nginx, qui sert l'interface et relaie les appels vers l'API. L'API applique les droits et les règles, puis lit ou écrit dans PostgreSQL. L'API et la base ne sont pas accessibles directement depuis l'extérieur. » Ligne 2 : « Pour une pièce jointe, l'API vérifie d'abord que vous avez le droit, puis fournit un lien signé, valable peu de temps. Le navigateur envoie le fichier directement au stockage privé, sans jamais connaître ses identifiants. » Pastilles : la session est un jeton de courte durée dans un cookie HttpOnly (illisible par le JavaScript de la page) ; toutes les données reçues sont validées. Transition : « Voilà pour la mécanique. Nom 3 va vous présenter ce que l'application fait concrètement.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NOM 3 — 1:15 (cumul 6:15) Gauche (30 s) : « SUIVI s'adresse aux équipes d'un laboratoire. Il tourne sur PC, dans le réseau interne Intradef, sans accès à Internet. Son but : retrouver, réserver et tracer le matériel, et suivre les projets qui l'utilisent. » Droite (45 s), une phrase par bloc : - Inventaire : chaque matériel a sa fiche, ses catégories, ses pièces jointes et son historique ; on le retrouve par recherche et filtres. - Projets : publics ou privés, avec des membres, un Kanban pour les tâches et une documentation en Markdown exportable en Word. - Réservations : le matériel individualisé se réserve par créneaux de 30 minutes, sans chevauchement possible, et un calendrier montre la semaine. - Traçabilité : historiques, archives, notifications et exports Excel ou PDF de l'inventaire. Transition : « Qui peut faire quoi ? Ça dépend du profil.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NOM 3 — 1:00 (cumul 7:15) - Administrateur : un seul compte, prédéfini. Il gère tout : données, projets (même sans en être membre), archives, et il nomme ou retire le gestionnaire. - Gestionnaire : zéro ou un à la fois. Il tient l'inventaire, les catégories et les exports. Il n'a accès à aucun projet, même public : c'est une règle du client. - Utilisateur : son compte est créé automatiquement à sa première connexion. Il consulte l'inventaire et travaille sur les projets. Dans chaque projet, il est responsable (créateur), membre, ou simple : un simple voit un projet public mais pas un projet privé. Bandeau, à appuyer : ces règles ne sont pas seulement cosmétiques. Même en appelant l'API sans passer par l'interface, une action interdite est refusée. Transition : « Le mieux, c'est de le voir. On vous a préparé une histoire en quatre actes : chacun de nous jouera un profil. Nom 1 commence.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DÉMO — 8:30 (cumul 15:45). Ce slide reste affiché entre les actes. Un seul pilote au clavier ; chacun commente son acte. Une fenêtre par personnage, déjà connectée. ACTE 1 — NOM 1 — Gestionnaire — 2:30 1. Tableau de bord : pas de lien « Projets » dans le menu, le gestionnaire n'y a pas accès. 2. Inventaire &gt; Nouveau matériel : « Analyseur de spectre SA-9 », individualisé, catégorie Mesure. 3. Ouvrir sa fiche, joindre la facture (PDF prêt sur le bureau). 4. Rechercher « SA-9 », montrer l'historique de la fiche. 5. Export Excel de l'inventaire, l'ouvrir 3 secondes. ACTE 2 — NOM 2 — Léa, responsable — 2:00 1. Ouvrir le projet privé « Campagne de mesures » (déjà créé). 2. Ajouter Marc comme membre. 3. Kanban : passer la tâche prévue à « En cours ». 4. Documentation Markdown : montrer l'aperçu, exporter en Word. ACTE 3 — NOM 3 — Marc, membre, puis Paul — 2:00 1. Réserver l'analyseur sur un créneau libre (horaires en :00 ou :30). 2. Réserver un créneau qui chevauche : message « Ce matériel est déjà réservé sur tout ou partie de ce créneau. » Rappeler que c'est la base qui refuse (cf. Nom 2). 3. Calendrier : la réservation apparaît avec le nom du projet. 4. Fenêtre à côté : Paul se connecte pour la 1re fois (compte créé tout seul). Il ne voit pas le projet ; son calendrier affiche seulement « Réservé ». ACTE 4 — NOM 4 — Admin, puis Marc — 2:00 1. Admin : archiver la caméra thermique (réservée par le projet pendant la préparation). 2. Fenêtre de Marc : notification « Matériel archivé », réservation libérée. 3. Marc termine la dernière tâche : le projet se clôt automatiquement, l'analyseur est libéré dans le calendrier. 4. Admin : onglet Archives, la caméra avec son historique conservé. EN CAS DE PANNE : ne pas chercher la cause. « Nous avons préparé les captures de chaque étape » → annexe 14, et on continue l'explication.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NOM 4 — 0:50 (cumul 16:35) Gauche (20 s) : « Côté qualité, 34 tests automatisés vérifient le serveur, notamment les droits et les réservations, et 14 testent l'interface. Le projet a été livré en 5 sprints, du socle jusqu'aux exports. » (Recompter avec npm test juste avant l'oral et corriger les chiffres si besoin.) Droite (30 s) : annoncer les limites nous-mêmes, avant que le jury ne les trouve. - La connexion Intradef est simulée : l'appli gère elle-même les comptes en attendant le vrai système. - Il n'y a pas encore d'IA, malgré le I de SUIVI : aucun besoin précis n'a été défini par le client. - On réserve depuis la fiche projet ; le calendrier sert à consulter. - Les notifications ne concernent que l'archivage d'un matériel réservé. - Les sauvegardes et les volumes de données cibles restent à définir avec le client.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NOM 4 — 0:55 (cumul 17:30) Une phrase par piste, en insistant sur pourquoi elle est faisable : - Connexion Intradef : l'application est déjà prête à recevoir des utilisateurs venant d'un système externe ; seule la brique de connexion change. - Antivirus : les fichiers passent déjà par une étape de confirmation après l'envoi ; on y ajoute une analyse avant de les rendre disponibles. - QR code : chaque matériel a déjà un identifiant unique ; une étiquette QR peut ouvrir sa fiche. À étudier après validation de l'usage sur PC, comme le prévoit le client. - IA interne : c'est le « I » de SUIVI. Une IA hébergée sur le réseau interne pourrait répondre à « quel oscilloscope est libre jeudi ? ». À lancer seulement une fois le besoin et les règles de confidentialité définis avec le client.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NOM 4 — 0:30 (cumul 18:00) Lire la phrase en regardant le jury, sans se presser : « Pour résumer : SUIVI est un seul outil pour savoir ce que le labo possède, qui l'utilise et ce qui s'est passé, avec les bons droits pour chacun. Merci de votre attention, nous sommes prêts à répondre à vos questions. » Questions : chacun prend en priorité celles de sa partie. Contexte et équipe → Nom 1 ; technique et sécurité → Nom 2 ; fonctions et profils → Nom 3 ; tests, limites et évolutions → Nom 4. Les annexes qui suivent servent d'appui.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Annexe, hors temps de parole. À montrer si le jury demande le détail des droits. Précisions utiles : l'administrateur agit sur tous les projets sans en être membre. Le gestionnaire n'a accès à aucun projet, même public. Un utilisateur « simple » (non membre) voit un projet public en lecture seule, jamais un projet privé. La clôture automatique (dernière tâche terminée) vaut archivage et libère les réservations.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Annexe, hors temps de parole. Réponse type si le jury demande « que se passe-t-il si deux personnes réservent en même temps ? » : « Le contrôle n'est pas seulement dans le code. La table des réservations porte une contrainte d'exclusion PostgreSQL : pour un même matériel, deux réservations actives ne peuvent pas avoir des intervalles qui se recouvrent. Si deux demandes arrivent en même temps, la base en accepte une et rejette l'autre ; l'API renvoie une erreur 409 et l'interface affiche "Ce matériel est déjà réservé sur tout ou partie de ce créneau". » Les réservations annulées ou libérées ne comptent plus (clause WHERE statut = 'active').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Remplacer chaque cadre par une vraie capture lors de la dernière répétition (ou dupliquer ce slide : une capture plein écran par étape clé). CHECK-LIST AVANT L'ORAL - Un profil Chrome par personnage (Gestionnaire, Léa, Marc, Paul, Admin), chacun avec une couleur de thème, déjà connecté (sauf Paul, qui se connecte en direct). - État de départ : projet privé « Campagne de mesures » avec Léa seule membre ; 2 tâches : 1 terminée, 1 « À faire » qui passe en cours à l'acte 2 puis terminée à l'acte 4 (c'est elle qui déclenche la clôture : aucune autre tâche ne doit rester ouverte) ; caméra thermique réservée par le projet ; analyseur pas encore créé. - Remise à zéro de cet état après chaque répétition. - PDF de facture sur le bureau ; fichiers exportés qui s'ouvrent sans fenêtre bloquante. - Notifications du poste coupées, onglets inutiles fermés, zoom navigateur à 125 %. - Copie PDF du support sur clé USB. - Recompter les tests (npm test) et mettre à jour le slide 09.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Slide-background-1-image-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Slide-background-2-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4F7FB"/>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60"/>
            <a:ext cx="10566400" cy="447040"/>
          </a:xfrm>
          <a:prstGeom prst="rect">
            <a:avLst/>
          </a:prstGeom>
          <a:noFill/>
          <a:ln/>
        </p:spPr>
        <p:txBody>
          <a:bodyPr wrap="square" lIns="0" tIns="0" rIns="0" bIns="0" rtlCol="0" anchor="t"/>
          <a:lstStyle>
            <a:lvl1pPr algn="l" indent="0" marL="0">
              <a:lnSpc>
                <a:spcPct val="115000"/>
              </a:lnSpc>
              <a:buNone/>
              <a:defRPr lang="en-US" sz="3200" dirty="0">
                <a:solidFill>
                  <a:srgbClr val="0D2046"/>
                </a:solidFill>
                <a:latin typeface="Arial" pitchFamily="34" charset="0"/>
                <a:ea typeface="Arial" pitchFamily="34" charset="-122"/>
                <a:cs typeface="Arial"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79600"/>
            <a:ext cx="10566400" cy="4165600"/>
          </a:xfrm>
          <a:prstGeom prst="rect">
            <a:avLst/>
          </a:prstGeom>
          <a:noFill/>
          <a:ln/>
        </p:spPr>
        <p:txBody>
          <a:bodyPr wrap="square" lIns="0" tIns="0" rIns="0" bIns="0" rtlCol="0" anchor="t"/>
          <a:lstStyle>
            <a:lvl1pPr algn="l" indent="0" marL="0">
              <a:lnSpc>
                <a:spcPct val="140000"/>
              </a:lnSpc>
              <a:buNone/>
              <a:defRPr lang="en-US" sz="1600" dirty="0">
                <a:solidFill>
                  <a:srgbClr val="0D2046"/>
                </a:solidFill>
                <a:latin typeface="Arial" pitchFamily="34" charset="0"/>
                <a:ea typeface="Arial" pitchFamily="34" charset="-122"/>
                <a:cs typeface="Arial" pitchFamily="34" charset="-120"/>
              </a:defRPr>
            </a:lvl1pPr>
          </a:lstStyle>
          <a:p>
            <a:pPr algn="l" indent="0" marL="0">
              <a:lnSpc>
                <a:spcPct val="140000"/>
              </a:lnSpc>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background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p:nvPr>
            <p:ph type="title"/>
          </p:nvPr>
        </p:nvSpPr>
        <p:spPr>
          <a:xfrm>
            <a:off x="812800" y="1127760"/>
            <a:ext cx="10566400" cy="447040"/>
          </a:xfrm>
          <a:prstGeom prst="rect">
            <a:avLst/>
          </a:prstGeom>
          <a:noFill/>
          <a:ln/>
        </p:spPr>
        <p:txBody>
          <a:bodyPr wrap="square" lIns="0" tIns="0" rIns="0" bIns="0" rtlCol="0" anchor="t"/>
          <a:lstStyle>
            <a:lvl1pPr algn="l" indent="0" marL="0">
              <a:lnSpc>
                <a:spcPct val="115000"/>
              </a:lnSpc>
              <a:buNone/>
              <a:defRPr lang="en-US" sz="3200" dirty="0">
                <a:solidFill>
                  <a:srgbClr val="F4F7FB"/>
                </a:solidFill>
                <a:latin typeface="Arial" pitchFamily="34" charset="0"/>
                <a:ea typeface="Arial" pitchFamily="34" charset="-122"/>
                <a:cs typeface="Arial"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79600"/>
            <a:ext cx="10566400" cy="4165600"/>
          </a:xfrm>
          <a:prstGeom prst="rect">
            <a:avLst/>
          </a:prstGeom>
          <a:noFill/>
          <a:ln/>
        </p:spPr>
        <p:txBody>
          <a:bodyPr wrap="square" lIns="0" tIns="0" rIns="0" bIns="0" rtlCol="0" anchor="t"/>
          <a:lstStyle>
            <a:lvl1pPr algn="l" indent="0" marL="0">
              <a:lnSpc>
                <a:spcPct val="140000"/>
              </a:lnSpc>
              <a:buNone/>
              <a:defRPr lang="en-US" sz="1600" dirty="0">
                <a:solidFill>
                  <a:srgbClr val="F4F7FB"/>
                </a:solidFill>
                <a:latin typeface="Arial" pitchFamily="34" charset="0"/>
                <a:ea typeface="Arial" pitchFamily="34" charset="-122"/>
                <a:cs typeface="Arial" pitchFamily="34" charset="-120"/>
              </a:defRPr>
            </a:lvl1pPr>
          </a:lstStyle>
          <a:p>
            <a:pPr algn="l" indent="0" marL="0">
              <a:lnSpc>
                <a:spcPct val="140000"/>
              </a:lnSpc>
              <a:buNone/>
            </a:pPr>
            <a:endParaRPr lang="en-US" sz="16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background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p:nvPr>
            <p:ph type="title"/>
          </p:nvPr>
        </p:nvSpPr>
        <p:spPr>
          <a:xfrm>
            <a:off x="812800" y="1127760"/>
            <a:ext cx="10566400" cy="447040"/>
          </a:xfrm>
          <a:prstGeom prst="rect">
            <a:avLst/>
          </a:prstGeom>
          <a:noFill/>
          <a:ln/>
        </p:spPr>
        <p:txBody>
          <a:bodyPr wrap="square" lIns="0" tIns="0" rIns="0" bIns="0" rtlCol="0" anchor="t"/>
          <a:lstStyle>
            <a:lvl1pPr algn="l" indent="0" marL="0">
              <a:lnSpc>
                <a:spcPct val="115000"/>
              </a:lnSpc>
              <a:buNone/>
              <a:defRPr lang="en-US" sz="3200" dirty="0">
                <a:solidFill>
                  <a:srgbClr val="F4F7FB"/>
                </a:solidFill>
                <a:latin typeface="Arial" pitchFamily="34" charset="0"/>
                <a:ea typeface="Arial" pitchFamily="34" charset="-122"/>
                <a:cs typeface="Arial"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79600"/>
            <a:ext cx="10566400" cy="4165600"/>
          </a:xfrm>
          <a:prstGeom prst="rect">
            <a:avLst/>
          </a:prstGeom>
          <a:noFill/>
          <a:ln/>
        </p:spPr>
        <p:txBody>
          <a:bodyPr wrap="square" lIns="0" tIns="0" rIns="0" bIns="0" rtlCol="0" anchor="t"/>
          <a:lstStyle>
            <a:lvl1pPr algn="l" indent="0" marL="0">
              <a:lnSpc>
                <a:spcPct val="140000"/>
              </a:lnSpc>
              <a:buNone/>
              <a:defRPr lang="en-US" sz="1600" dirty="0">
                <a:solidFill>
                  <a:srgbClr val="F4F7FB"/>
                </a:solidFill>
                <a:latin typeface="Arial" pitchFamily="34" charset="0"/>
                <a:ea typeface="Arial" pitchFamily="34" charset="-122"/>
                <a:cs typeface="Arial"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4F7FB"/>
        </a:solidFill>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2.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2.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2.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algn="l" indent="0" marL="0">
              <a:lnSpc>
                <a:spcPts val="1820"/>
              </a:lnSpc>
              <a:buNone/>
            </a:pPr>
            <a:r>
              <a:rPr lang="en-US" sz="1300" b="1" spc="200" kern="0" dirty="0">
                <a:solidFill>
                  <a:srgbClr val="8FB0FF"/>
                </a:solidFill>
                <a:latin typeface="Arial" pitchFamily="34" charset="0"/>
                <a:ea typeface="Arial" pitchFamily="34" charset="-122"/>
                <a:cs typeface="Arial" pitchFamily="34" charset="-120"/>
              </a:rPr>
              <a:t>PRÉSENTATION PROJET · WD12</a:t>
            </a:r>
            <a:endParaRPr lang="en-US" sz="1300" dirty="0"/>
          </a:p>
        </p:txBody>
      </p:sp>
      <p:sp>
        <p:nvSpPr>
          <p:cNvPr id="3" name="Shape 1"/>
          <p:cNvSpPr/>
          <p:nvPr/>
        </p:nvSpPr>
        <p:spPr>
          <a:xfrm>
            <a:off x="812800" y="2099310"/>
            <a:ext cx="889000" cy="63500"/>
          </a:xfrm>
          <a:prstGeom prst="roundRect">
            <a:avLst>
              <a:gd name="adj" fmla="val 50000"/>
            </a:avLst>
          </a:prstGeom>
          <a:solidFill>
            <a:srgbClr val="2864E8"/>
          </a:solidFill>
          <a:ln/>
        </p:spPr>
      </p:sp>
      <p:sp>
        <p:nvSpPr>
          <p:cNvPr id="4" name="Text 2"/>
          <p:cNvSpPr/>
          <p:nvPr>
            <p:ph type="title"/>
          </p:nvPr>
        </p:nvSpPr>
        <p:spPr>
          <a:xfrm>
            <a:off x="812800" y="2340610"/>
            <a:ext cx="10883392" cy="1422400"/>
          </a:xfrm>
          <a:prstGeom prst="rect">
            <a:avLst/>
          </a:prstGeom>
          <a:noFill/>
          <a:ln/>
        </p:spPr>
        <p:txBody>
          <a:bodyPr wrap="square" lIns="0" tIns="0" rIns="0" bIns="0" rtlCol="0" anchor="t">
            <a:normAutofit/>
          </a:bodyPr>
          <a:lstStyle/>
          <a:p>
            <a:pPr algn="l" indent="0" marL="0">
              <a:lnSpc>
                <a:spcPts val="11000"/>
              </a:lnSpc>
              <a:buNone/>
            </a:pPr>
            <a:r>
              <a:rPr lang="en-US" sz="11000" b="1" i="0" spc="-200" kern="0" dirty="0">
                <a:solidFill>
                  <a:srgbClr val="F4F7FB"/>
                </a:solidFill>
                <a:latin typeface="Arial" pitchFamily="34" charset="0"/>
                <a:ea typeface="Arial" pitchFamily="34" charset="-122"/>
                <a:cs typeface="Arial" pitchFamily="34" charset="-120"/>
              </a:rPr>
              <a:t>SUIVI</a:t>
            </a:r>
            <a:endParaRPr lang="en-US" sz="11000" dirty="0"/>
          </a:p>
        </p:txBody>
      </p:sp>
      <p:sp>
        <p:nvSpPr>
          <p:cNvPr id="5" name="Text 3"/>
          <p:cNvSpPr/>
          <p:nvPr/>
        </p:nvSpPr>
        <p:spPr>
          <a:xfrm>
            <a:off x="812800" y="3915410"/>
            <a:ext cx="10883392" cy="388620"/>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C9D6EE"/>
                </a:solidFill>
                <a:latin typeface="Arial" pitchFamily="34" charset="0"/>
                <a:ea typeface="Arial" pitchFamily="34" charset="-122"/>
                <a:cs typeface="Arial" pitchFamily="34" charset="-120"/>
              </a:rPr>
              <a:t>Suivi des Usages, Inventaires, Vie des projets et IA</a:t>
            </a:r>
            <a:endParaRPr lang="en-US" sz="2200" dirty="0"/>
          </a:p>
        </p:txBody>
      </p:sp>
      <p:sp>
        <p:nvSpPr>
          <p:cNvPr id="6" name="Text 4"/>
          <p:cNvSpPr/>
          <p:nvPr/>
        </p:nvSpPr>
        <p:spPr>
          <a:xfrm>
            <a:off x="812800" y="4456430"/>
            <a:ext cx="1088339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9FB1D1"/>
                </a:solidFill>
                <a:latin typeface="Arial" pitchFamily="34" charset="0"/>
                <a:ea typeface="Arial" pitchFamily="34" charset="-122"/>
                <a:cs typeface="Arial" pitchFamily="34" charset="-120"/>
              </a:rPr>
              <a:t>L'application qui réunit l'inventaire, les projets et les réservations d'un laboratoire.</a:t>
            </a:r>
            <a:endParaRPr lang="en-US" sz="1500" dirty="0"/>
          </a:p>
        </p:txBody>
      </p:sp>
      <p:sp>
        <p:nvSpPr>
          <p:cNvPr id="7" name="Text 5"/>
          <p:cNvSpPr/>
          <p:nvPr/>
        </p:nvSpPr>
        <p:spPr>
          <a:xfrm>
            <a:off x="812800" y="5778500"/>
            <a:ext cx="3403727"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4F7FB"/>
                </a:solidFill>
                <a:latin typeface="Arial" pitchFamily="34" charset="0"/>
                <a:ea typeface="Arial" pitchFamily="34" charset="-122"/>
                <a:cs typeface="Arial" pitchFamily="34" charset="-120"/>
              </a:rPr>
              <a:t>Nom 1 · Nom 2 · Nom 3 · Nom 4</a:t>
            </a:r>
            <a:endParaRPr lang="en-US" sz="1500" dirty="0"/>
          </a:p>
        </p:txBody>
      </p:sp>
      <p:sp>
        <p:nvSpPr>
          <p:cNvPr id="8" name="Text 6"/>
          <p:cNvSpPr/>
          <p:nvPr/>
        </p:nvSpPr>
        <p:spPr>
          <a:xfrm>
            <a:off x="9374886" y="5796280"/>
            <a:ext cx="2004314" cy="274320"/>
          </a:xfrm>
          <a:prstGeom prst="rect">
            <a:avLst/>
          </a:prstGeom>
          <a:noFill/>
          <a:ln/>
        </p:spPr>
        <p:txBody>
          <a:bodyPr wrap="square" lIns="0" tIns="0" rIns="0" bIns="0" rtlCol="0" anchor="t">
            <a:normAutofit/>
          </a:bodyPr>
          <a:lstStyle/>
          <a:p>
            <a:pPr algn="r" indent="0" marL="0">
              <a:lnSpc>
                <a:spcPts val="1960"/>
              </a:lnSpc>
              <a:buNone/>
            </a:pPr>
            <a:r>
              <a:rPr lang="en-US" sz="1400" dirty="0">
                <a:solidFill>
                  <a:srgbClr val="9FB1D1"/>
                </a:solidFill>
                <a:latin typeface="Arial" pitchFamily="34" charset="0"/>
                <a:ea typeface="Arial" pitchFamily="34" charset="-122"/>
                <a:cs typeface="Arial" pitchFamily="34" charset="-120"/>
              </a:rPr>
              <a:t>Lundi 5 octobre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864E8"/>
                </a:solidFill>
                <a:latin typeface="Arial" pitchFamily="34" charset="0"/>
                <a:ea typeface="Arial" pitchFamily="34" charset="-122"/>
                <a:cs typeface="Arial" pitchFamily="34" charset="-120"/>
              </a:rPr>
              <a:t>CONTEXTE · NOM 1</a:t>
            </a:r>
            <a:endParaRPr lang="en-US" sz="1200" dirty="0"/>
          </a:p>
        </p:txBody>
      </p:sp>
      <p:sp>
        <p:nvSpPr>
          <p:cNvPr id="3" name="Text 1"/>
          <p:cNvSpPr/>
          <p:nvPr>
            <p:ph type="title"/>
          </p:nvPr>
        </p:nvSpPr>
        <p:spPr>
          <a:xfrm>
            <a:off x="812800" y="112776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0D2046"/>
                </a:solidFill>
                <a:latin typeface="Arial" pitchFamily="34" charset="0"/>
                <a:ea typeface="Arial" pitchFamily="34" charset="-122"/>
                <a:cs typeface="Arial" pitchFamily="34" charset="-120"/>
              </a:rPr>
              <a:t>Trois questions que se pose le laboratoire</a:t>
            </a:r>
            <a:endParaRPr lang="en-US" sz="3200" dirty="0"/>
          </a:p>
        </p:txBody>
      </p:sp>
      <p:sp>
        <p:nvSpPr>
          <p:cNvPr id="4" name="Shape 2"/>
          <p:cNvSpPr/>
          <p:nvPr/>
        </p:nvSpPr>
        <p:spPr>
          <a:xfrm>
            <a:off x="815975" y="1933575"/>
            <a:ext cx="3380317" cy="2207472"/>
          </a:xfrm>
          <a:prstGeom prst="roundRect">
            <a:avLst>
              <a:gd name="adj" fmla="val 5609"/>
            </a:avLst>
          </a:prstGeom>
          <a:solidFill>
            <a:srgbClr val="FCFDFF"/>
          </a:solidFill>
          <a:ln w="6350">
            <a:solidFill>
              <a:srgbClr val="DCE3EE"/>
            </a:solidFill>
            <a:prstDash val="solid"/>
          </a:ln>
        </p:spPr>
      </p:sp>
      <p:pic>
        <p:nvPicPr>
          <p:cNvPr id="5" name="Image 0" descr="Search">    </p:cNvPr>
          <p:cNvPicPr>
            <a:picLocks noChangeAspect="1"/>
          </p:cNvPicPr>
          <p:nvPr/>
        </p:nvPicPr>
        <p:blipFill>
          <a:blip r:embed="rId1"/>
          <a:srcRect l="0" r="0" t="0" b="0"/>
          <a:stretch/>
        </p:blipFill>
        <p:spPr>
          <a:xfrm>
            <a:off x="1073891" y="2191491"/>
            <a:ext cx="355600" cy="355600"/>
          </a:xfrm>
          <a:prstGeom prst="rect">
            <a:avLst/>
          </a:prstGeom>
        </p:spPr>
      </p:pic>
      <p:sp>
        <p:nvSpPr>
          <p:cNvPr id="6" name="Text 3"/>
          <p:cNvSpPr/>
          <p:nvPr/>
        </p:nvSpPr>
        <p:spPr>
          <a:xfrm>
            <a:off x="1073891" y="2674091"/>
            <a:ext cx="2950419"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0D2046"/>
                </a:solidFill>
                <a:latin typeface="Arial" pitchFamily="34" charset="0"/>
                <a:ea typeface="Arial" pitchFamily="34" charset="-122"/>
                <a:cs typeface="Arial" pitchFamily="34" charset="-120"/>
              </a:rPr>
              <a:t>Où est ce matériel ?</a:t>
            </a:r>
            <a:endParaRPr lang="en-US" sz="2200" dirty="0"/>
          </a:p>
        </p:txBody>
      </p:sp>
      <p:sp>
        <p:nvSpPr>
          <p:cNvPr id="7" name="Text 4"/>
          <p:cNvSpPr/>
          <p:nvPr/>
        </p:nvSpPr>
        <p:spPr>
          <a:xfrm>
            <a:off x="1073891" y="3136371"/>
            <a:ext cx="2950419"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6526B"/>
                </a:solidFill>
                <a:latin typeface="Arial" pitchFamily="34" charset="0"/>
                <a:ea typeface="Arial" pitchFamily="34" charset="-122"/>
                <a:cs typeface="Arial" pitchFamily="34" charset="-120"/>
              </a:rPr>
              <a:t>Retrouver vite un appareil, ses références et ses documents : factures, bons de commande.</a:t>
            </a:r>
            <a:endParaRPr lang="en-US" sz="1400" dirty="0"/>
          </a:p>
        </p:txBody>
      </p:sp>
      <p:sp>
        <p:nvSpPr>
          <p:cNvPr id="8" name="Shape 5"/>
          <p:cNvSpPr/>
          <p:nvPr/>
        </p:nvSpPr>
        <p:spPr>
          <a:xfrm>
            <a:off x="4405842" y="1933575"/>
            <a:ext cx="3380317" cy="2207472"/>
          </a:xfrm>
          <a:prstGeom prst="roundRect">
            <a:avLst>
              <a:gd name="adj" fmla="val 5609"/>
            </a:avLst>
          </a:prstGeom>
          <a:solidFill>
            <a:srgbClr val="FCFDFF"/>
          </a:solidFill>
          <a:ln w="6350">
            <a:solidFill>
              <a:srgbClr val="DCE3EE"/>
            </a:solidFill>
            <a:prstDash val="solid"/>
          </a:ln>
        </p:spPr>
      </p:sp>
      <p:pic>
        <p:nvPicPr>
          <p:cNvPr id="9" name="Image 1" descr="Clock">    </p:cNvPr>
          <p:cNvPicPr>
            <a:picLocks noChangeAspect="1"/>
          </p:cNvPicPr>
          <p:nvPr/>
        </p:nvPicPr>
        <p:blipFill>
          <a:blip r:embed="rId2"/>
          <a:srcRect l="0" r="0" t="0" b="0"/>
          <a:stretch/>
        </p:blipFill>
        <p:spPr>
          <a:xfrm>
            <a:off x="4663758" y="2191491"/>
            <a:ext cx="355600" cy="355600"/>
          </a:xfrm>
          <a:prstGeom prst="rect">
            <a:avLst/>
          </a:prstGeom>
        </p:spPr>
      </p:pic>
      <p:sp>
        <p:nvSpPr>
          <p:cNvPr id="10" name="Text 6"/>
          <p:cNvSpPr/>
          <p:nvPr/>
        </p:nvSpPr>
        <p:spPr>
          <a:xfrm>
            <a:off x="4663758" y="2674091"/>
            <a:ext cx="2950420"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0D2046"/>
                </a:solidFill>
                <a:latin typeface="Arial" pitchFamily="34" charset="0"/>
                <a:ea typeface="Arial" pitchFamily="34" charset="-122"/>
                <a:cs typeface="Arial" pitchFamily="34" charset="-120"/>
              </a:rPr>
              <a:t>Est-il libre jeudi ?</a:t>
            </a:r>
            <a:endParaRPr lang="en-US" sz="2200" dirty="0"/>
          </a:p>
        </p:txBody>
      </p:sp>
      <p:sp>
        <p:nvSpPr>
          <p:cNvPr id="11" name="Text 7"/>
          <p:cNvSpPr/>
          <p:nvPr/>
        </p:nvSpPr>
        <p:spPr>
          <a:xfrm>
            <a:off x="4663758" y="3136371"/>
            <a:ext cx="2950420"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6526B"/>
                </a:solidFill>
                <a:latin typeface="Arial" pitchFamily="34" charset="0"/>
                <a:ea typeface="Arial" pitchFamily="34" charset="-122"/>
                <a:cs typeface="Arial" pitchFamily="34" charset="-120"/>
              </a:rPr>
              <a:t>Réserver un appareil pour un projet, sans risque de double réservation.</a:t>
            </a:r>
            <a:endParaRPr lang="en-US" sz="1400" dirty="0"/>
          </a:p>
        </p:txBody>
      </p:sp>
      <p:sp>
        <p:nvSpPr>
          <p:cNvPr id="12" name="Shape 8"/>
          <p:cNvSpPr/>
          <p:nvPr/>
        </p:nvSpPr>
        <p:spPr>
          <a:xfrm>
            <a:off x="7995708" y="1933575"/>
            <a:ext cx="3380317" cy="2207472"/>
          </a:xfrm>
          <a:prstGeom prst="roundRect">
            <a:avLst>
              <a:gd name="adj" fmla="val 5609"/>
            </a:avLst>
          </a:prstGeom>
          <a:solidFill>
            <a:srgbClr val="FCFDFF"/>
          </a:solidFill>
          <a:ln w="6350">
            <a:solidFill>
              <a:srgbClr val="DCE3EE"/>
            </a:solidFill>
            <a:prstDash val="solid"/>
          </a:ln>
        </p:spPr>
      </p:sp>
      <p:pic>
        <p:nvPicPr>
          <p:cNvPr id="13" name="Image 2" descr="Book">    </p:cNvPr>
          <p:cNvPicPr>
            <a:picLocks noChangeAspect="1"/>
          </p:cNvPicPr>
          <p:nvPr/>
        </p:nvPicPr>
        <p:blipFill>
          <a:blip r:embed="rId3"/>
          <a:srcRect l="0" r="0" t="0" b="0"/>
          <a:stretch/>
        </p:blipFill>
        <p:spPr>
          <a:xfrm>
            <a:off x="8253624" y="2191491"/>
            <a:ext cx="355600" cy="355600"/>
          </a:xfrm>
          <a:prstGeom prst="rect">
            <a:avLst/>
          </a:prstGeom>
        </p:spPr>
      </p:pic>
      <p:sp>
        <p:nvSpPr>
          <p:cNvPr id="14" name="Text 9"/>
          <p:cNvSpPr/>
          <p:nvPr/>
        </p:nvSpPr>
        <p:spPr>
          <a:xfrm>
            <a:off x="8253624" y="2674091"/>
            <a:ext cx="2950419"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0D2046"/>
                </a:solidFill>
                <a:latin typeface="Arial" pitchFamily="34" charset="0"/>
                <a:ea typeface="Arial" pitchFamily="34" charset="-122"/>
                <a:cs typeface="Arial" pitchFamily="34" charset="-120"/>
              </a:rPr>
              <a:t>Qui a fait quoi ?</a:t>
            </a:r>
            <a:endParaRPr lang="en-US" sz="2200" dirty="0"/>
          </a:p>
        </p:txBody>
      </p:sp>
      <p:sp>
        <p:nvSpPr>
          <p:cNvPr id="15" name="Text 10"/>
          <p:cNvSpPr/>
          <p:nvPr/>
        </p:nvSpPr>
        <p:spPr>
          <a:xfrm>
            <a:off x="8253624" y="3136371"/>
            <a:ext cx="2950419"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6526B"/>
                </a:solidFill>
                <a:latin typeface="Arial" pitchFamily="34" charset="0"/>
                <a:ea typeface="Arial" pitchFamily="34" charset="-122"/>
                <a:cs typeface="Arial" pitchFamily="34" charset="-120"/>
              </a:rPr>
              <a:t>Garder la trace des modifications, des réservations et de la vie des projets.</a:t>
            </a:r>
            <a:endParaRPr lang="en-US" sz="1400" dirty="0"/>
          </a:p>
        </p:txBody>
      </p:sp>
      <p:sp>
        <p:nvSpPr>
          <p:cNvPr id="16" name="Shape 11"/>
          <p:cNvSpPr/>
          <p:nvPr/>
        </p:nvSpPr>
        <p:spPr>
          <a:xfrm>
            <a:off x="838200" y="4499821"/>
            <a:ext cx="0" cy="706120"/>
          </a:xfrm>
          <a:prstGeom prst="line">
            <a:avLst/>
          </a:prstGeom>
          <a:noFill/>
          <a:ln w="50800">
            <a:solidFill>
              <a:srgbClr val="2864E8"/>
            </a:solidFill>
            <a:prstDash val="solid"/>
          </a:ln>
        </p:spPr>
      </p:sp>
      <p:sp>
        <p:nvSpPr>
          <p:cNvPr id="17" name="Text 12"/>
          <p:cNvSpPr/>
          <p:nvPr/>
        </p:nvSpPr>
        <p:spPr>
          <a:xfrm>
            <a:off x="1065636" y="4550621"/>
            <a:ext cx="10622971" cy="62992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0D2046"/>
                </a:solidFill>
                <a:latin typeface="Arial" pitchFamily="34" charset="0"/>
                <a:ea typeface="Arial" pitchFamily="34" charset="-122"/>
                <a:cs typeface="Arial" pitchFamily="34" charset="-120"/>
              </a:rPr>
              <a:t>SUIVI réunit l'inventaire, les projets et les réservations</a:t>
            </a:r>
            <a:r>
              <a:rPr lang="en-US" sz="1700" dirty="0">
                <a:solidFill>
                  <a:srgbClr val="0D2046"/>
                </a:solidFill>
                <a:latin typeface="Arial" pitchFamily="34" charset="0"/>
                <a:ea typeface="Arial" pitchFamily="34" charset="-122"/>
                <a:cs typeface="Arial" pitchFamily="34" charset="-120"/>
              </a:rPr>
              <a:t> dans un seul outil, avec les bons droits pour chacun et une trace de tout.</a:t>
            </a:r>
            <a:endParaRPr lang="en-US" sz="1700" dirty="0"/>
          </a:p>
        </p:txBody>
      </p:sp>
      <p:sp>
        <p:nvSpPr>
          <p:cNvPr id="18" name="Text 13"/>
          <p:cNvSpPr/>
          <p:nvPr/>
        </p:nvSpPr>
        <p:spPr>
          <a:xfrm>
            <a:off x="812800" y="6238239"/>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28A"/>
                </a:solidFill>
                <a:latin typeface="Arial" pitchFamily="34" charset="0"/>
                <a:ea typeface="Arial" pitchFamily="34" charset="-122"/>
                <a:cs typeface="Arial" pitchFamily="34" charset="-120"/>
              </a:rPr>
              <a:t>SUIVI · Présentation WD12</a:t>
            </a:r>
            <a:endParaRPr lang="en-US" sz="1200" dirty="0"/>
          </a:p>
        </p:txBody>
      </p:sp>
      <p:sp>
        <p:nvSpPr>
          <p:cNvPr id="19" name="Text 14"/>
          <p:cNvSpPr/>
          <p:nvPr/>
        </p:nvSpPr>
        <p:spPr>
          <a:xfrm>
            <a:off x="10058400" y="6238239"/>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6728A"/>
                </a:solidFill>
                <a:latin typeface="Arial" pitchFamily="34" charset="0"/>
                <a:ea typeface="Arial" pitchFamily="34" charset="-122"/>
                <a:cs typeface="Arial" pitchFamily="34" charset="-120"/>
              </a:rPr>
              <a:t>02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864E8"/>
                </a:solidFill>
                <a:latin typeface="Arial" pitchFamily="34" charset="0"/>
                <a:ea typeface="Arial" pitchFamily="34" charset="-122"/>
                <a:cs typeface="Arial" pitchFamily="34" charset="-120"/>
              </a:rPr>
              <a:t>ÉQUIPE · CHACUN SE PRÉSENTE</a:t>
            </a:r>
            <a:endParaRPr lang="en-US" sz="1200" dirty="0"/>
          </a:p>
        </p:txBody>
      </p:sp>
      <p:sp>
        <p:nvSpPr>
          <p:cNvPr id="3" name="Text 1"/>
          <p:cNvSpPr/>
          <p:nvPr>
            <p:ph type="title"/>
          </p:nvPr>
        </p:nvSpPr>
        <p:spPr>
          <a:xfrm>
            <a:off x="812800" y="112776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0D2046"/>
                </a:solidFill>
                <a:latin typeface="Arial" pitchFamily="34" charset="0"/>
                <a:ea typeface="Arial" pitchFamily="34" charset="-122"/>
                <a:cs typeface="Arial" pitchFamily="34" charset="-120"/>
              </a:rPr>
              <a:t>Quatre personnes, un rôle chacun</a:t>
            </a:r>
            <a:endParaRPr lang="en-US" sz="3200" dirty="0"/>
          </a:p>
        </p:txBody>
      </p:sp>
      <p:sp>
        <p:nvSpPr>
          <p:cNvPr id="4" name="Shape 2"/>
          <p:cNvSpPr/>
          <p:nvPr/>
        </p:nvSpPr>
        <p:spPr>
          <a:xfrm>
            <a:off x="815975" y="1933575"/>
            <a:ext cx="2482850" cy="3905250"/>
          </a:xfrm>
          <a:prstGeom prst="roundRect">
            <a:avLst>
              <a:gd name="adj" fmla="val 4987"/>
            </a:avLst>
          </a:prstGeom>
          <a:solidFill>
            <a:srgbClr val="FCFDFF"/>
          </a:solidFill>
          <a:ln w="6350">
            <a:solidFill>
              <a:srgbClr val="DCE3EE"/>
            </a:solidFill>
            <a:prstDash val="solid"/>
          </a:ln>
        </p:spPr>
      </p:sp>
      <p:sp>
        <p:nvSpPr>
          <p:cNvPr id="5" name="Text 3"/>
          <p:cNvSpPr/>
          <p:nvPr/>
        </p:nvSpPr>
        <p:spPr>
          <a:xfrm>
            <a:off x="1073891" y="2191491"/>
            <a:ext cx="2026029"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0D2046"/>
                </a:solidFill>
                <a:latin typeface="Arial" pitchFamily="34" charset="0"/>
                <a:ea typeface="Arial" pitchFamily="34" charset="-122"/>
                <a:cs typeface="Arial" pitchFamily="34" charset="-120"/>
              </a:rPr>
              <a:t>Nom 1</a:t>
            </a:r>
            <a:endParaRPr lang="en-US" sz="2200" dirty="0"/>
          </a:p>
        </p:txBody>
      </p:sp>
      <p:sp>
        <p:nvSpPr>
          <p:cNvPr id="6" name="Text 4"/>
          <p:cNvSpPr/>
          <p:nvPr/>
        </p:nvSpPr>
        <p:spPr>
          <a:xfrm>
            <a:off x="1073891" y="2653771"/>
            <a:ext cx="2026029"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F55CC"/>
                </a:solidFill>
                <a:latin typeface="Arial" pitchFamily="34" charset="0"/>
                <a:ea typeface="Arial" pitchFamily="34" charset="-122"/>
                <a:cs typeface="Arial" pitchFamily="34" charset="-120"/>
              </a:rPr>
              <a:t>[Rôle dans le projet]</a:t>
            </a:r>
            <a:endParaRPr lang="en-US" sz="1400" dirty="0"/>
          </a:p>
        </p:txBody>
      </p:sp>
      <p:sp>
        <p:nvSpPr>
          <p:cNvPr id="7" name="Text 5"/>
          <p:cNvSpPr/>
          <p:nvPr/>
        </p:nvSpPr>
        <p:spPr>
          <a:xfrm>
            <a:off x="1073891" y="3029691"/>
            <a:ext cx="2026029"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6526B"/>
                </a:solidFill>
                <a:latin typeface="Arial" pitchFamily="34" charset="0"/>
                <a:ea typeface="Arial" pitchFamily="34" charset="-122"/>
                <a:cs typeface="Arial" pitchFamily="34" charset="-120"/>
              </a:rPr>
              <a:t>[Une réalisation concrète, visible dans l'application]</a:t>
            </a:r>
            <a:endParaRPr lang="en-US" sz="1300" dirty="0"/>
          </a:p>
        </p:txBody>
      </p:sp>
      <p:sp>
        <p:nvSpPr>
          <p:cNvPr id="8" name="Text 6"/>
          <p:cNvSpPr/>
          <p:nvPr/>
        </p:nvSpPr>
        <p:spPr>
          <a:xfrm>
            <a:off x="1073891" y="5184670"/>
            <a:ext cx="2026029" cy="42164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B85A12"/>
                </a:solidFill>
                <a:latin typeface="Arial" pitchFamily="34" charset="0"/>
                <a:ea typeface="Arial" pitchFamily="34" charset="-122"/>
                <a:cs typeface="Arial" pitchFamily="34" charset="-120"/>
              </a:rPr>
              <a:t>Démo : acte 1, Gestionnaire</a:t>
            </a:r>
            <a:endParaRPr lang="en-US" sz="1200" dirty="0"/>
          </a:p>
        </p:txBody>
      </p:sp>
      <p:sp>
        <p:nvSpPr>
          <p:cNvPr id="9" name="Shape 7"/>
          <p:cNvSpPr/>
          <p:nvPr/>
        </p:nvSpPr>
        <p:spPr>
          <a:xfrm>
            <a:off x="3508375" y="1933575"/>
            <a:ext cx="2482850" cy="3905250"/>
          </a:xfrm>
          <a:prstGeom prst="roundRect">
            <a:avLst>
              <a:gd name="adj" fmla="val 4987"/>
            </a:avLst>
          </a:prstGeom>
          <a:solidFill>
            <a:srgbClr val="FCFDFF"/>
          </a:solidFill>
          <a:ln w="6350">
            <a:solidFill>
              <a:srgbClr val="DCE3EE"/>
            </a:solidFill>
            <a:prstDash val="solid"/>
          </a:ln>
        </p:spPr>
      </p:sp>
      <p:sp>
        <p:nvSpPr>
          <p:cNvPr id="10" name="Text 8"/>
          <p:cNvSpPr/>
          <p:nvPr/>
        </p:nvSpPr>
        <p:spPr>
          <a:xfrm>
            <a:off x="3766291" y="2191491"/>
            <a:ext cx="2026029"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0D2046"/>
                </a:solidFill>
                <a:latin typeface="Arial" pitchFamily="34" charset="0"/>
                <a:ea typeface="Arial" pitchFamily="34" charset="-122"/>
                <a:cs typeface="Arial" pitchFamily="34" charset="-120"/>
              </a:rPr>
              <a:t>Nom 2</a:t>
            </a:r>
            <a:endParaRPr lang="en-US" sz="2200" dirty="0"/>
          </a:p>
        </p:txBody>
      </p:sp>
      <p:sp>
        <p:nvSpPr>
          <p:cNvPr id="11" name="Text 9"/>
          <p:cNvSpPr/>
          <p:nvPr/>
        </p:nvSpPr>
        <p:spPr>
          <a:xfrm>
            <a:off x="3766291" y="2653771"/>
            <a:ext cx="2026029"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F55CC"/>
                </a:solidFill>
                <a:latin typeface="Arial" pitchFamily="34" charset="0"/>
                <a:ea typeface="Arial" pitchFamily="34" charset="-122"/>
                <a:cs typeface="Arial" pitchFamily="34" charset="-120"/>
              </a:rPr>
              <a:t>[Rôle dans le projet]</a:t>
            </a:r>
            <a:endParaRPr lang="en-US" sz="1400" dirty="0"/>
          </a:p>
        </p:txBody>
      </p:sp>
      <p:sp>
        <p:nvSpPr>
          <p:cNvPr id="12" name="Text 10"/>
          <p:cNvSpPr/>
          <p:nvPr/>
        </p:nvSpPr>
        <p:spPr>
          <a:xfrm>
            <a:off x="3766291" y="3029691"/>
            <a:ext cx="2026029"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6526B"/>
                </a:solidFill>
                <a:latin typeface="Arial" pitchFamily="34" charset="0"/>
                <a:ea typeface="Arial" pitchFamily="34" charset="-122"/>
                <a:cs typeface="Arial" pitchFamily="34" charset="-120"/>
              </a:rPr>
              <a:t>[Une réalisation concrète, visible dans l'application]</a:t>
            </a:r>
            <a:endParaRPr lang="en-US" sz="1300" dirty="0"/>
          </a:p>
        </p:txBody>
      </p:sp>
      <p:sp>
        <p:nvSpPr>
          <p:cNvPr id="13" name="Text 11"/>
          <p:cNvSpPr/>
          <p:nvPr/>
        </p:nvSpPr>
        <p:spPr>
          <a:xfrm>
            <a:off x="3766291" y="5184670"/>
            <a:ext cx="2026029" cy="42164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1F55CC"/>
                </a:solidFill>
                <a:latin typeface="Arial" pitchFamily="34" charset="0"/>
                <a:ea typeface="Arial" pitchFamily="34" charset="-122"/>
                <a:cs typeface="Arial" pitchFamily="34" charset="-120"/>
              </a:rPr>
              <a:t>Démo : acte 2, Responsable</a:t>
            </a:r>
            <a:endParaRPr lang="en-US" sz="1200" dirty="0"/>
          </a:p>
        </p:txBody>
      </p:sp>
      <p:sp>
        <p:nvSpPr>
          <p:cNvPr id="14" name="Shape 12"/>
          <p:cNvSpPr/>
          <p:nvPr/>
        </p:nvSpPr>
        <p:spPr>
          <a:xfrm>
            <a:off x="6200775" y="1933575"/>
            <a:ext cx="2482850" cy="3905250"/>
          </a:xfrm>
          <a:prstGeom prst="roundRect">
            <a:avLst>
              <a:gd name="adj" fmla="val 4987"/>
            </a:avLst>
          </a:prstGeom>
          <a:solidFill>
            <a:srgbClr val="FCFDFF"/>
          </a:solidFill>
          <a:ln w="6350">
            <a:solidFill>
              <a:srgbClr val="DCE3EE"/>
            </a:solidFill>
            <a:prstDash val="solid"/>
          </a:ln>
        </p:spPr>
      </p:sp>
      <p:sp>
        <p:nvSpPr>
          <p:cNvPr id="15" name="Text 13"/>
          <p:cNvSpPr/>
          <p:nvPr/>
        </p:nvSpPr>
        <p:spPr>
          <a:xfrm>
            <a:off x="6458691" y="2191491"/>
            <a:ext cx="2026029"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0D2046"/>
                </a:solidFill>
                <a:latin typeface="Arial" pitchFamily="34" charset="0"/>
                <a:ea typeface="Arial" pitchFamily="34" charset="-122"/>
                <a:cs typeface="Arial" pitchFamily="34" charset="-120"/>
              </a:rPr>
              <a:t>Nom 3</a:t>
            </a:r>
            <a:endParaRPr lang="en-US" sz="2200" dirty="0"/>
          </a:p>
        </p:txBody>
      </p:sp>
      <p:sp>
        <p:nvSpPr>
          <p:cNvPr id="16" name="Text 14"/>
          <p:cNvSpPr/>
          <p:nvPr/>
        </p:nvSpPr>
        <p:spPr>
          <a:xfrm>
            <a:off x="6458691" y="2653771"/>
            <a:ext cx="2026029"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F55CC"/>
                </a:solidFill>
                <a:latin typeface="Arial" pitchFamily="34" charset="0"/>
                <a:ea typeface="Arial" pitchFamily="34" charset="-122"/>
                <a:cs typeface="Arial" pitchFamily="34" charset="-120"/>
              </a:rPr>
              <a:t>[Rôle dans le projet]</a:t>
            </a:r>
            <a:endParaRPr lang="en-US" sz="1400" dirty="0"/>
          </a:p>
        </p:txBody>
      </p:sp>
      <p:sp>
        <p:nvSpPr>
          <p:cNvPr id="17" name="Text 15"/>
          <p:cNvSpPr/>
          <p:nvPr/>
        </p:nvSpPr>
        <p:spPr>
          <a:xfrm>
            <a:off x="6458691" y="3029691"/>
            <a:ext cx="2026029"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6526B"/>
                </a:solidFill>
                <a:latin typeface="Arial" pitchFamily="34" charset="0"/>
                <a:ea typeface="Arial" pitchFamily="34" charset="-122"/>
                <a:cs typeface="Arial" pitchFamily="34" charset="-120"/>
              </a:rPr>
              <a:t>[Une réalisation concrète, visible dans l'application]</a:t>
            </a:r>
            <a:endParaRPr lang="en-US" sz="1300" dirty="0"/>
          </a:p>
        </p:txBody>
      </p:sp>
      <p:sp>
        <p:nvSpPr>
          <p:cNvPr id="18" name="Text 16"/>
          <p:cNvSpPr/>
          <p:nvPr/>
        </p:nvSpPr>
        <p:spPr>
          <a:xfrm>
            <a:off x="6458691" y="5382789"/>
            <a:ext cx="2026029" cy="22352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067046"/>
                </a:solidFill>
                <a:latin typeface="Arial" pitchFamily="34" charset="0"/>
                <a:ea typeface="Arial" pitchFamily="34" charset="-122"/>
                <a:cs typeface="Arial" pitchFamily="34" charset="-120"/>
              </a:rPr>
              <a:t>Démo : acte 3, Membre</a:t>
            </a:r>
            <a:endParaRPr lang="en-US" sz="1200" dirty="0"/>
          </a:p>
        </p:txBody>
      </p:sp>
      <p:sp>
        <p:nvSpPr>
          <p:cNvPr id="19" name="Shape 17"/>
          <p:cNvSpPr/>
          <p:nvPr/>
        </p:nvSpPr>
        <p:spPr>
          <a:xfrm>
            <a:off x="8893175" y="1933575"/>
            <a:ext cx="2482850" cy="3905250"/>
          </a:xfrm>
          <a:prstGeom prst="roundRect">
            <a:avLst>
              <a:gd name="adj" fmla="val 4987"/>
            </a:avLst>
          </a:prstGeom>
          <a:solidFill>
            <a:srgbClr val="FCFDFF"/>
          </a:solidFill>
          <a:ln w="6350">
            <a:solidFill>
              <a:srgbClr val="DCE3EE"/>
            </a:solidFill>
            <a:prstDash val="solid"/>
          </a:ln>
        </p:spPr>
      </p:sp>
      <p:sp>
        <p:nvSpPr>
          <p:cNvPr id="20" name="Text 18"/>
          <p:cNvSpPr/>
          <p:nvPr/>
        </p:nvSpPr>
        <p:spPr>
          <a:xfrm>
            <a:off x="9151091" y="2191491"/>
            <a:ext cx="2026029"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0D2046"/>
                </a:solidFill>
                <a:latin typeface="Arial" pitchFamily="34" charset="0"/>
                <a:ea typeface="Arial" pitchFamily="34" charset="-122"/>
                <a:cs typeface="Arial" pitchFamily="34" charset="-120"/>
              </a:rPr>
              <a:t>Nom 4</a:t>
            </a:r>
            <a:endParaRPr lang="en-US" sz="2200" dirty="0"/>
          </a:p>
        </p:txBody>
      </p:sp>
      <p:sp>
        <p:nvSpPr>
          <p:cNvPr id="21" name="Text 19"/>
          <p:cNvSpPr/>
          <p:nvPr/>
        </p:nvSpPr>
        <p:spPr>
          <a:xfrm>
            <a:off x="9151091" y="2653771"/>
            <a:ext cx="2026029"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F55CC"/>
                </a:solidFill>
                <a:latin typeface="Arial" pitchFamily="34" charset="0"/>
                <a:ea typeface="Arial" pitchFamily="34" charset="-122"/>
                <a:cs typeface="Arial" pitchFamily="34" charset="-120"/>
              </a:rPr>
              <a:t>[Rôle dans le projet]</a:t>
            </a:r>
            <a:endParaRPr lang="en-US" sz="1400" dirty="0"/>
          </a:p>
        </p:txBody>
      </p:sp>
      <p:sp>
        <p:nvSpPr>
          <p:cNvPr id="22" name="Text 20"/>
          <p:cNvSpPr/>
          <p:nvPr/>
        </p:nvSpPr>
        <p:spPr>
          <a:xfrm>
            <a:off x="9151091" y="3029691"/>
            <a:ext cx="2026029"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6526B"/>
                </a:solidFill>
                <a:latin typeface="Arial" pitchFamily="34" charset="0"/>
                <a:ea typeface="Arial" pitchFamily="34" charset="-122"/>
                <a:cs typeface="Arial" pitchFamily="34" charset="-120"/>
              </a:rPr>
              <a:t>[Une réalisation concrète, visible dans l'application]</a:t>
            </a:r>
            <a:endParaRPr lang="en-US" sz="1300" dirty="0"/>
          </a:p>
        </p:txBody>
      </p:sp>
      <p:sp>
        <p:nvSpPr>
          <p:cNvPr id="23" name="Text 21"/>
          <p:cNvSpPr/>
          <p:nvPr/>
        </p:nvSpPr>
        <p:spPr>
          <a:xfrm>
            <a:off x="9151091" y="5382789"/>
            <a:ext cx="2026029" cy="22352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6A3FC4"/>
                </a:solidFill>
                <a:latin typeface="Arial" pitchFamily="34" charset="0"/>
                <a:ea typeface="Arial" pitchFamily="34" charset="-122"/>
                <a:cs typeface="Arial" pitchFamily="34" charset="-120"/>
              </a:rPr>
              <a:t>Démo : acte 4, Admin</a:t>
            </a:r>
            <a:endParaRPr lang="en-US" sz="1200" dirty="0"/>
          </a:p>
        </p:txBody>
      </p:sp>
      <p:sp>
        <p:nvSpPr>
          <p:cNvPr id="24" name="Text 22"/>
          <p:cNvSpPr/>
          <p:nvPr/>
        </p:nvSpPr>
        <p:spPr>
          <a:xfrm>
            <a:off x="812800" y="6238239"/>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28A"/>
                </a:solidFill>
                <a:latin typeface="Arial" pitchFamily="34" charset="0"/>
                <a:ea typeface="Arial" pitchFamily="34" charset="-122"/>
                <a:cs typeface="Arial" pitchFamily="34" charset="-120"/>
              </a:rPr>
              <a:t>SUIVI · Présentation WD12</a:t>
            </a:r>
            <a:endParaRPr lang="en-US" sz="1200" dirty="0"/>
          </a:p>
        </p:txBody>
      </p:sp>
      <p:sp>
        <p:nvSpPr>
          <p:cNvPr id="25" name="Text 23"/>
          <p:cNvSpPr/>
          <p:nvPr/>
        </p:nvSpPr>
        <p:spPr>
          <a:xfrm>
            <a:off x="10058400" y="6238239"/>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6728A"/>
                </a:solidFill>
                <a:latin typeface="Arial" pitchFamily="34" charset="0"/>
                <a:ea typeface="Arial" pitchFamily="34" charset="-122"/>
                <a:cs typeface="Arial" pitchFamily="34" charset="-120"/>
              </a:rPr>
              <a:t>03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864E8"/>
                </a:solidFill>
                <a:latin typeface="Arial" pitchFamily="34" charset="0"/>
                <a:ea typeface="Arial" pitchFamily="34" charset="-122"/>
                <a:cs typeface="Arial" pitchFamily="34" charset="-120"/>
              </a:rPr>
              <a:t>TECHNOLOGIES · NOM 2</a:t>
            </a:r>
            <a:endParaRPr lang="en-US" sz="1200" dirty="0"/>
          </a:p>
        </p:txBody>
      </p:sp>
      <p:sp>
        <p:nvSpPr>
          <p:cNvPr id="3" name="Text 1"/>
          <p:cNvSpPr/>
          <p:nvPr>
            <p:ph type="title"/>
          </p:nvPr>
        </p:nvSpPr>
        <p:spPr>
          <a:xfrm>
            <a:off x="812800" y="112776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0D2046"/>
                </a:solidFill>
                <a:latin typeface="Arial" pitchFamily="34" charset="0"/>
                <a:ea typeface="Arial" pitchFamily="34" charset="-122"/>
                <a:cs typeface="Arial" pitchFamily="34" charset="-120"/>
              </a:rPr>
              <a:t>Chaque choix répond à un besoin</a:t>
            </a:r>
            <a:endParaRPr lang="en-US" sz="3200" dirty="0"/>
          </a:p>
        </p:txBody>
      </p:sp>
      <p:sp>
        <p:nvSpPr>
          <p:cNvPr id="4" name="Shape 2"/>
          <p:cNvSpPr/>
          <p:nvPr/>
        </p:nvSpPr>
        <p:spPr>
          <a:xfrm>
            <a:off x="815975" y="1882775"/>
            <a:ext cx="3380317" cy="1798532"/>
          </a:xfrm>
          <a:prstGeom prst="roundRect">
            <a:avLst>
              <a:gd name="adj" fmla="val 6885"/>
            </a:avLst>
          </a:prstGeom>
          <a:solidFill>
            <a:srgbClr val="FCFDFF"/>
          </a:solidFill>
          <a:ln w="6350">
            <a:solidFill>
              <a:srgbClr val="DCE3EE"/>
            </a:solidFill>
            <a:prstDash val="solid"/>
          </a:ln>
        </p:spPr>
      </p:sp>
      <p:sp>
        <p:nvSpPr>
          <p:cNvPr id="5" name="Text 3"/>
          <p:cNvSpPr/>
          <p:nvPr/>
        </p:nvSpPr>
        <p:spPr>
          <a:xfrm>
            <a:off x="1048491" y="2115291"/>
            <a:ext cx="3002743"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864E8"/>
                </a:solidFill>
                <a:latin typeface="Arial" pitchFamily="34" charset="0"/>
                <a:ea typeface="Arial" pitchFamily="34" charset="-122"/>
                <a:cs typeface="Arial" pitchFamily="34" charset="-120"/>
              </a:rPr>
              <a:t>INTERFACE</a:t>
            </a:r>
            <a:endParaRPr lang="en-US" sz="1200" dirty="0"/>
          </a:p>
        </p:txBody>
      </p:sp>
      <p:sp>
        <p:nvSpPr>
          <p:cNvPr id="6" name="Text 4"/>
          <p:cNvSpPr/>
          <p:nvPr/>
        </p:nvSpPr>
        <p:spPr>
          <a:xfrm>
            <a:off x="1048491" y="2404850"/>
            <a:ext cx="3002743"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D2046"/>
                </a:solidFill>
                <a:latin typeface="Arial" pitchFamily="34" charset="0"/>
                <a:ea typeface="Arial" pitchFamily="34" charset="-122"/>
                <a:cs typeface="Arial" pitchFamily="34" charset="-120"/>
              </a:rPr>
              <a:t>Vue 3 + Vite</a:t>
            </a:r>
            <a:endParaRPr lang="en-US" sz="1800" dirty="0"/>
          </a:p>
        </p:txBody>
      </p:sp>
      <p:sp>
        <p:nvSpPr>
          <p:cNvPr id="7" name="Text 5"/>
          <p:cNvSpPr/>
          <p:nvPr/>
        </p:nvSpPr>
        <p:spPr>
          <a:xfrm>
            <a:off x="1048491" y="2755371"/>
            <a:ext cx="3002743"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6526B"/>
                </a:solidFill>
                <a:latin typeface="Arial" pitchFamily="34" charset="0"/>
                <a:ea typeface="Arial" pitchFamily="34" charset="-122"/>
                <a:cs typeface="Arial" pitchFamily="34" charset="-120"/>
              </a:rPr>
              <a:t>Tableaux, Kanban, fenêtres : des écrans qui changent selon le profil.</a:t>
            </a:r>
            <a:endParaRPr lang="en-US" sz="1300" dirty="0"/>
          </a:p>
        </p:txBody>
      </p:sp>
      <p:sp>
        <p:nvSpPr>
          <p:cNvPr id="8" name="Shape 6"/>
          <p:cNvSpPr/>
          <p:nvPr/>
        </p:nvSpPr>
        <p:spPr>
          <a:xfrm>
            <a:off x="4405842" y="1882775"/>
            <a:ext cx="3380317" cy="1798532"/>
          </a:xfrm>
          <a:prstGeom prst="roundRect">
            <a:avLst>
              <a:gd name="adj" fmla="val 6885"/>
            </a:avLst>
          </a:prstGeom>
          <a:solidFill>
            <a:srgbClr val="FCFDFF"/>
          </a:solidFill>
          <a:ln w="6350">
            <a:solidFill>
              <a:srgbClr val="DCE3EE"/>
            </a:solidFill>
            <a:prstDash val="solid"/>
          </a:ln>
        </p:spPr>
      </p:sp>
      <p:sp>
        <p:nvSpPr>
          <p:cNvPr id="9" name="Text 7"/>
          <p:cNvSpPr/>
          <p:nvPr/>
        </p:nvSpPr>
        <p:spPr>
          <a:xfrm>
            <a:off x="4638358" y="2115291"/>
            <a:ext cx="3002744"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864E8"/>
                </a:solidFill>
                <a:latin typeface="Arial" pitchFamily="34" charset="0"/>
                <a:ea typeface="Arial" pitchFamily="34" charset="-122"/>
                <a:cs typeface="Arial" pitchFamily="34" charset="-120"/>
              </a:rPr>
              <a:t>API</a:t>
            </a:r>
            <a:endParaRPr lang="en-US" sz="1200" dirty="0"/>
          </a:p>
        </p:txBody>
      </p:sp>
      <p:sp>
        <p:nvSpPr>
          <p:cNvPr id="10" name="Text 8"/>
          <p:cNvSpPr/>
          <p:nvPr/>
        </p:nvSpPr>
        <p:spPr>
          <a:xfrm>
            <a:off x="4638358" y="2404850"/>
            <a:ext cx="3002744"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D2046"/>
                </a:solidFill>
                <a:latin typeface="Arial" pitchFamily="34" charset="0"/>
                <a:ea typeface="Arial" pitchFamily="34" charset="-122"/>
                <a:cs typeface="Arial" pitchFamily="34" charset="-120"/>
              </a:rPr>
              <a:t>Express 5 · Node.js 24</a:t>
            </a:r>
            <a:endParaRPr lang="en-US" sz="1800" dirty="0"/>
          </a:p>
        </p:txBody>
      </p:sp>
      <p:sp>
        <p:nvSpPr>
          <p:cNvPr id="11" name="Text 9"/>
          <p:cNvSpPr/>
          <p:nvPr/>
        </p:nvSpPr>
        <p:spPr>
          <a:xfrm>
            <a:off x="4638358" y="2755371"/>
            <a:ext cx="3002744"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6526B"/>
                </a:solidFill>
                <a:latin typeface="Arial" pitchFamily="34" charset="0"/>
                <a:ea typeface="Arial" pitchFamily="34" charset="-122"/>
                <a:cs typeface="Arial" pitchFamily="34" charset="-120"/>
              </a:rPr>
              <a:t>Un seul endroit où tous les droits sont vérifiés.</a:t>
            </a:r>
            <a:endParaRPr lang="en-US" sz="1300" dirty="0"/>
          </a:p>
        </p:txBody>
      </p:sp>
      <p:sp>
        <p:nvSpPr>
          <p:cNvPr id="12" name="Shape 10"/>
          <p:cNvSpPr/>
          <p:nvPr/>
        </p:nvSpPr>
        <p:spPr>
          <a:xfrm>
            <a:off x="7995708" y="1882775"/>
            <a:ext cx="3380317" cy="1798532"/>
          </a:xfrm>
          <a:prstGeom prst="roundRect">
            <a:avLst>
              <a:gd name="adj" fmla="val 6885"/>
            </a:avLst>
          </a:prstGeom>
          <a:solidFill>
            <a:srgbClr val="FCFDFF"/>
          </a:solidFill>
          <a:ln w="6350">
            <a:solidFill>
              <a:srgbClr val="DCE3EE"/>
            </a:solidFill>
            <a:prstDash val="solid"/>
          </a:ln>
        </p:spPr>
      </p:sp>
      <p:sp>
        <p:nvSpPr>
          <p:cNvPr id="13" name="Text 11"/>
          <p:cNvSpPr/>
          <p:nvPr/>
        </p:nvSpPr>
        <p:spPr>
          <a:xfrm>
            <a:off x="8228224" y="2115291"/>
            <a:ext cx="3002743"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864E8"/>
                </a:solidFill>
                <a:latin typeface="Arial" pitchFamily="34" charset="0"/>
                <a:ea typeface="Arial" pitchFamily="34" charset="-122"/>
                <a:cs typeface="Arial" pitchFamily="34" charset="-120"/>
              </a:rPr>
              <a:t>DONNÉES</a:t>
            </a:r>
            <a:endParaRPr lang="en-US" sz="1200" dirty="0"/>
          </a:p>
        </p:txBody>
      </p:sp>
      <p:sp>
        <p:nvSpPr>
          <p:cNvPr id="14" name="Text 12"/>
          <p:cNvSpPr/>
          <p:nvPr/>
        </p:nvSpPr>
        <p:spPr>
          <a:xfrm>
            <a:off x="8228224" y="2404850"/>
            <a:ext cx="3002743"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D2046"/>
                </a:solidFill>
                <a:latin typeface="Arial" pitchFamily="34" charset="0"/>
                <a:ea typeface="Arial" pitchFamily="34" charset="-122"/>
                <a:cs typeface="Arial" pitchFamily="34" charset="-120"/>
              </a:rPr>
              <a:t>PostgreSQL 17</a:t>
            </a:r>
            <a:endParaRPr lang="en-US" sz="1800" dirty="0"/>
          </a:p>
        </p:txBody>
      </p:sp>
      <p:sp>
        <p:nvSpPr>
          <p:cNvPr id="15" name="Text 13"/>
          <p:cNvSpPr/>
          <p:nvPr/>
        </p:nvSpPr>
        <p:spPr>
          <a:xfrm>
            <a:off x="8228224" y="2755371"/>
            <a:ext cx="3002743" cy="7188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6526B"/>
                </a:solidFill>
                <a:latin typeface="Arial" pitchFamily="34" charset="0"/>
                <a:ea typeface="Arial" pitchFamily="34" charset="-122"/>
                <a:cs typeface="Arial" pitchFamily="34" charset="-120"/>
              </a:rPr>
              <a:t>Des données très liées, et une base qui bloque elle-même les doubles réservations.</a:t>
            </a:r>
            <a:endParaRPr lang="en-US" sz="1300" dirty="0"/>
          </a:p>
        </p:txBody>
      </p:sp>
      <p:sp>
        <p:nvSpPr>
          <p:cNvPr id="16" name="Shape 14"/>
          <p:cNvSpPr/>
          <p:nvPr/>
        </p:nvSpPr>
        <p:spPr>
          <a:xfrm>
            <a:off x="815975" y="3890857"/>
            <a:ext cx="3380317" cy="1567392"/>
          </a:xfrm>
          <a:prstGeom prst="roundRect">
            <a:avLst>
              <a:gd name="adj" fmla="val 7900"/>
            </a:avLst>
          </a:prstGeom>
          <a:solidFill>
            <a:srgbClr val="FCFDFF"/>
          </a:solidFill>
          <a:ln w="6350">
            <a:solidFill>
              <a:srgbClr val="DCE3EE"/>
            </a:solidFill>
            <a:prstDash val="solid"/>
          </a:ln>
        </p:spPr>
      </p:sp>
      <p:sp>
        <p:nvSpPr>
          <p:cNvPr id="17" name="Text 15"/>
          <p:cNvSpPr/>
          <p:nvPr/>
        </p:nvSpPr>
        <p:spPr>
          <a:xfrm>
            <a:off x="1048491" y="4123373"/>
            <a:ext cx="3002743"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864E8"/>
                </a:solidFill>
                <a:latin typeface="Arial" pitchFamily="34" charset="0"/>
                <a:ea typeface="Arial" pitchFamily="34" charset="-122"/>
                <a:cs typeface="Arial" pitchFamily="34" charset="-120"/>
              </a:rPr>
              <a:t>ACCÈS AUX DONNÉES</a:t>
            </a:r>
            <a:endParaRPr lang="en-US" sz="1200" dirty="0"/>
          </a:p>
        </p:txBody>
      </p:sp>
      <p:sp>
        <p:nvSpPr>
          <p:cNvPr id="18" name="Text 16"/>
          <p:cNvSpPr/>
          <p:nvPr/>
        </p:nvSpPr>
        <p:spPr>
          <a:xfrm>
            <a:off x="1048491" y="4412932"/>
            <a:ext cx="3002743"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D2046"/>
                </a:solidFill>
                <a:latin typeface="Arial" pitchFamily="34" charset="0"/>
                <a:ea typeface="Arial" pitchFamily="34" charset="-122"/>
                <a:cs typeface="Arial" pitchFamily="34" charset="-120"/>
              </a:rPr>
              <a:t>Prisma 7</a:t>
            </a:r>
            <a:endParaRPr lang="en-US" sz="1800" dirty="0"/>
          </a:p>
        </p:txBody>
      </p:sp>
      <p:sp>
        <p:nvSpPr>
          <p:cNvPr id="19" name="Text 17"/>
          <p:cNvSpPr/>
          <p:nvPr/>
        </p:nvSpPr>
        <p:spPr>
          <a:xfrm>
            <a:off x="1048491" y="4763452"/>
            <a:ext cx="3002743"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6526B"/>
                </a:solidFill>
                <a:latin typeface="Arial" pitchFamily="34" charset="0"/>
                <a:ea typeface="Arial" pitchFamily="34" charset="-122"/>
                <a:cs typeface="Arial" pitchFamily="34" charset="-120"/>
              </a:rPr>
              <a:t>Un modèle central, des migrations versionnées, des transactions.</a:t>
            </a:r>
            <a:endParaRPr lang="en-US" sz="1300" dirty="0"/>
          </a:p>
        </p:txBody>
      </p:sp>
      <p:sp>
        <p:nvSpPr>
          <p:cNvPr id="20" name="Shape 18"/>
          <p:cNvSpPr/>
          <p:nvPr/>
        </p:nvSpPr>
        <p:spPr>
          <a:xfrm>
            <a:off x="4405842" y="3890857"/>
            <a:ext cx="3380317" cy="1567392"/>
          </a:xfrm>
          <a:prstGeom prst="roundRect">
            <a:avLst>
              <a:gd name="adj" fmla="val 7900"/>
            </a:avLst>
          </a:prstGeom>
          <a:solidFill>
            <a:srgbClr val="FCFDFF"/>
          </a:solidFill>
          <a:ln w="6350">
            <a:solidFill>
              <a:srgbClr val="DCE3EE"/>
            </a:solidFill>
            <a:prstDash val="solid"/>
          </a:ln>
        </p:spPr>
      </p:sp>
      <p:sp>
        <p:nvSpPr>
          <p:cNvPr id="21" name="Text 19"/>
          <p:cNvSpPr/>
          <p:nvPr/>
        </p:nvSpPr>
        <p:spPr>
          <a:xfrm>
            <a:off x="4638358" y="4123373"/>
            <a:ext cx="3002744"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864E8"/>
                </a:solidFill>
                <a:latin typeface="Arial" pitchFamily="34" charset="0"/>
                <a:ea typeface="Arial" pitchFamily="34" charset="-122"/>
                <a:cs typeface="Arial" pitchFamily="34" charset="-120"/>
              </a:rPr>
              <a:t>FICHIERS</a:t>
            </a:r>
            <a:endParaRPr lang="en-US" sz="1200" dirty="0"/>
          </a:p>
        </p:txBody>
      </p:sp>
      <p:sp>
        <p:nvSpPr>
          <p:cNvPr id="22" name="Text 20"/>
          <p:cNvSpPr/>
          <p:nvPr/>
        </p:nvSpPr>
        <p:spPr>
          <a:xfrm>
            <a:off x="4638358" y="4412932"/>
            <a:ext cx="3002744"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D2046"/>
                </a:solidFill>
                <a:latin typeface="Arial" pitchFamily="34" charset="0"/>
                <a:ea typeface="Arial" pitchFamily="34" charset="-122"/>
                <a:cs typeface="Arial" pitchFamily="34" charset="-120"/>
              </a:rPr>
              <a:t>Stockage S3 privé</a:t>
            </a:r>
            <a:endParaRPr lang="en-US" sz="1800" dirty="0"/>
          </a:p>
        </p:txBody>
      </p:sp>
      <p:sp>
        <p:nvSpPr>
          <p:cNvPr id="23" name="Text 21"/>
          <p:cNvSpPr/>
          <p:nvPr/>
        </p:nvSpPr>
        <p:spPr>
          <a:xfrm>
            <a:off x="4638358" y="4763452"/>
            <a:ext cx="3002744"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6526B"/>
                </a:solidFill>
                <a:latin typeface="Arial" pitchFamily="34" charset="0"/>
                <a:ea typeface="Arial" pitchFamily="34" charset="-122"/>
                <a:cs typeface="Arial" pitchFamily="34" charset="-120"/>
              </a:rPr>
              <a:t>Les factures restent hors de la base, dans un espace privé.</a:t>
            </a:r>
            <a:endParaRPr lang="en-US" sz="1300" dirty="0"/>
          </a:p>
        </p:txBody>
      </p:sp>
      <p:sp>
        <p:nvSpPr>
          <p:cNvPr id="24" name="Shape 22"/>
          <p:cNvSpPr/>
          <p:nvPr/>
        </p:nvSpPr>
        <p:spPr>
          <a:xfrm>
            <a:off x="7995708" y="3890857"/>
            <a:ext cx="3380317" cy="1567392"/>
          </a:xfrm>
          <a:prstGeom prst="roundRect">
            <a:avLst>
              <a:gd name="adj" fmla="val 7900"/>
            </a:avLst>
          </a:prstGeom>
          <a:solidFill>
            <a:srgbClr val="FCFDFF"/>
          </a:solidFill>
          <a:ln w="6350">
            <a:solidFill>
              <a:srgbClr val="DCE3EE"/>
            </a:solidFill>
            <a:prstDash val="solid"/>
          </a:ln>
        </p:spPr>
      </p:sp>
      <p:sp>
        <p:nvSpPr>
          <p:cNvPr id="25" name="Text 23"/>
          <p:cNvSpPr/>
          <p:nvPr/>
        </p:nvSpPr>
        <p:spPr>
          <a:xfrm>
            <a:off x="8228224" y="4123373"/>
            <a:ext cx="3002743"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864E8"/>
                </a:solidFill>
                <a:latin typeface="Arial" pitchFamily="34" charset="0"/>
                <a:ea typeface="Arial" pitchFamily="34" charset="-122"/>
                <a:cs typeface="Arial" pitchFamily="34" charset="-120"/>
              </a:rPr>
              <a:t>DÉPLOIEMENT</a:t>
            </a:r>
            <a:endParaRPr lang="en-US" sz="1200" dirty="0"/>
          </a:p>
        </p:txBody>
      </p:sp>
      <p:sp>
        <p:nvSpPr>
          <p:cNvPr id="26" name="Text 24"/>
          <p:cNvSpPr/>
          <p:nvPr/>
        </p:nvSpPr>
        <p:spPr>
          <a:xfrm>
            <a:off x="8228224" y="4412932"/>
            <a:ext cx="3002743"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D2046"/>
                </a:solidFill>
                <a:latin typeface="Arial" pitchFamily="34" charset="0"/>
                <a:ea typeface="Arial" pitchFamily="34" charset="-122"/>
                <a:cs typeface="Arial" pitchFamily="34" charset="-120"/>
              </a:rPr>
              <a:t>Docker Compose + Nginx</a:t>
            </a:r>
            <a:endParaRPr lang="en-US" sz="1800" dirty="0"/>
          </a:p>
        </p:txBody>
      </p:sp>
      <p:sp>
        <p:nvSpPr>
          <p:cNvPr id="27" name="Text 25"/>
          <p:cNvSpPr/>
          <p:nvPr/>
        </p:nvSpPr>
        <p:spPr>
          <a:xfrm>
            <a:off x="8228224" y="4763452"/>
            <a:ext cx="3002743"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6526B"/>
                </a:solidFill>
                <a:latin typeface="Arial" pitchFamily="34" charset="0"/>
                <a:ea typeface="Arial" pitchFamily="34" charset="-122"/>
                <a:cs typeface="Arial" pitchFamily="34" charset="-120"/>
              </a:rPr>
              <a:t>Toute l'application démarre en une commande.</a:t>
            </a:r>
            <a:endParaRPr lang="en-US" sz="1300" dirty="0"/>
          </a:p>
        </p:txBody>
      </p:sp>
      <p:sp>
        <p:nvSpPr>
          <p:cNvPr id="28" name="Text 26"/>
          <p:cNvSpPr/>
          <p:nvPr/>
        </p:nvSpPr>
        <p:spPr>
          <a:xfrm>
            <a:off x="812800" y="6238239"/>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28A"/>
                </a:solidFill>
                <a:latin typeface="Arial" pitchFamily="34" charset="0"/>
                <a:ea typeface="Arial" pitchFamily="34" charset="-122"/>
                <a:cs typeface="Arial" pitchFamily="34" charset="-120"/>
              </a:rPr>
              <a:t>SUIVI · Présentation WD12</a:t>
            </a:r>
            <a:endParaRPr lang="en-US" sz="1200" dirty="0"/>
          </a:p>
        </p:txBody>
      </p:sp>
      <p:sp>
        <p:nvSpPr>
          <p:cNvPr id="29" name="Text 27"/>
          <p:cNvSpPr/>
          <p:nvPr/>
        </p:nvSpPr>
        <p:spPr>
          <a:xfrm>
            <a:off x="10058400" y="6238239"/>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6728A"/>
                </a:solidFill>
                <a:latin typeface="Arial" pitchFamily="34" charset="0"/>
                <a:ea typeface="Arial" pitchFamily="34" charset="-122"/>
                <a:cs typeface="Arial" pitchFamily="34" charset="-120"/>
              </a:rPr>
              <a:t>04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864E8"/>
                </a:solidFill>
                <a:latin typeface="Arial" pitchFamily="34" charset="0"/>
                <a:ea typeface="Arial" pitchFamily="34" charset="-122"/>
                <a:cs typeface="Arial" pitchFamily="34" charset="-120"/>
              </a:rPr>
              <a:t>ARCHITECTURE · NOM 2</a:t>
            </a:r>
            <a:endParaRPr lang="en-US" sz="1200" dirty="0"/>
          </a:p>
        </p:txBody>
      </p:sp>
      <p:sp>
        <p:nvSpPr>
          <p:cNvPr id="3" name="Text 1"/>
          <p:cNvSpPr/>
          <p:nvPr>
            <p:ph type="title"/>
          </p:nvPr>
        </p:nvSpPr>
        <p:spPr>
          <a:xfrm>
            <a:off x="812800" y="112776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0D2046"/>
                </a:solidFill>
                <a:latin typeface="Arial" pitchFamily="34" charset="0"/>
                <a:ea typeface="Arial" pitchFamily="34" charset="-122"/>
                <a:cs typeface="Arial" pitchFamily="34" charset="-120"/>
              </a:rPr>
              <a:t>Une porte d'entrée, des droits vérifiés</a:t>
            </a:r>
            <a:endParaRPr lang="en-US" sz="3200" dirty="0"/>
          </a:p>
        </p:txBody>
      </p:sp>
      <p:sp>
        <p:nvSpPr>
          <p:cNvPr id="4" name="Text 2"/>
          <p:cNvSpPr/>
          <p:nvPr/>
        </p:nvSpPr>
        <p:spPr>
          <a:xfrm>
            <a:off x="812800" y="1828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66728A"/>
                </a:solidFill>
                <a:latin typeface="Arial" pitchFamily="34" charset="0"/>
                <a:ea typeface="Arial" pitchFamily="34" charset="-122"/>
                <a:cs typeface="Arial" pitchFamily="34" charset="-120"/>
              </a:rPr>
              <a:t>Une requête</a:t>
            </a:r>
            <a:endParaRPr lang="en-US" sz="1200" dirty="0"/>
          </a:p>
        </p:txBody>
      </p:sp>
      <p:sp>
        <p:nvSpPr>
          <p:cNvPr id="5" name="Shape 3"/>
          <p:cNvSpPr/>
          <p:nvPr/>
        </p:nvSpPr>
        <p:spPr>
          <a:xfrm>
            <a:off x="819150" y="2256789"/>
            <a:ext cx="2133600" cy="865082"/>
          </a:xfrm>
          <a:prstGeom prst="roundRect">
            <a:avLst>
              <a:gd name="adj" fmla="val 11011"/>
            </a:avLst>
          </a:prstGeom>
          <a:solidFill>
            <a:srgbClr val="FCFDFF"/>
          </a:solidFill>
          <a:ln w="12700">
            <a:solidFill>
              <a:srgbClr val="DCE3EE"/>
            </a:solidFill>
            <a:prstDash val="solid"/>
          </a:ln>
        </p:spPr>
      </p:sp>
      <p:sp>
        <p:nvSpPr>
          <p:cNvPr id="6" name="Text 4"/>
          <p:cNvSpPr/>
          <p:nvPr/>
        </p:nvSpPr>
        <p:spPr>
          <a:xfrm>
            <a:off x="997691" y="2435330"/>
            <a:ext cx="1829814"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D2046"/>
                </a:solidFill>
                <a:latin typeface="Arial" pitchFamily="34" charset="0"/>
                <a:ea typeface="Arial" pitchFamily="34" charset="-122"/>
                <a:cs typeface="Arial" pitchFamily="34" charset="-120"/>
              </a:rPr>
              <a:t>Navigateur</a:t>
            </a:r>
            <a:endParaRPr lang="en-US" sz="1600" dirty="0"/>
          </a:p>
        </p:txBody>
      </p:sp>
      <p:sp>
        <p:nvSpPr>
          <p:cNvPr id="7" name="Text 5"/>
          <p:cNvSpPr/>
          <p:nvPr/>
        </p:nvSpPr>
        <p:spPr>
          <a:xfrm>
            <a:off x="997691" y="2729970"/>
            <a:ext cx="182981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26B"/>
                </a:solidFill>
                <a:latin typeface="Arial" pitchFamily="34" charset="0"/>
                <a:ea typeface="Arial" pitchFamily="34" charset="-122"/>
                <a:cs typeface="Arial" pitchFamily="34" charset="-120"/>
              </a:rPr>
              <a:t>Interface Vue</a:t>
            </a:r>
            <a:endParaRPr lang="en-US" sz="1200" dirty="0"/>
          </a:p>
        </p:txBody>
      </p:sp>
      <p:pic>
        <p:nvPicPr>
          <p:cNvPr id="8" name="Image 0" descr="arrow-right">    </p:cNvPr>
          <p:cNvPicPr>
            <a:picLocks noChangeAspect="1"/>
          </p:cNvPicPr>
          <p:nvPr/>
        </p:nvPicPr>
        <p:blipFill>
          <a:blip r:embed="rId1"/>
          <a:srcRect l="0" r="0" t="0" b="0"/>
          <a:stretch/>
        </p:blipFill>
        <p:spPr>
          <a:xfrm>
            <a:off x="3111500" y="2600430"/>
            <a:ext cx="355600" cy="177800"/>
          </a:xfrm>
          <a:prstGeom prst="rect">
            <a:avLst/>
          </a:prstGeom>
        </p:spPr>
      </p:pic>
      <p:sp>
        <p:nvSpPr>
          <p:cNvPr id="9" name="Shape 6"/>
          <p:cNvSpPr/>
          <p:nvPr/>
        </p:nvSpPr>
        <p:spPr>
          <a:xfrm>
            <a:off x="3625850" y="2256789"/>
            <a:ext cx="2133600" cy="865082"/>
          </a:xfrm>
          <a:prstGeom prst="roundRect">
            <a:avLst>
              <a:gd name="adj" fmla="val 11011"/>
            </a:avLst>
          </a:prstGeom>
          <a:solidFill>
            <a:srgbClr val="FCFDFF"/>
          </a:solidFill>
          <a:ln w="12700">
            <a:solidFill>
              <a:srgbClr val="DCE3EE"/>
            </a:solidFill>
            <a:prstDash val="solid"/>
          </a:ln>
        </p:spPr>
      </p:sp>
      <p:sp>
        <p:nvSpPr>
          <p:cNvPr id="10" name="Text 7"/>
          <p:cNvSpPr/>
          <p:nvPr/>
        </p:nvSpPr>
        <p:spPr>
          <a:xfrm>
            <a:off x="3804391" y="2435330"/>
            <a:ext cx="1829814"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D2046"/>
                </a:solidFill>
                <a:latin typeface="Arial" pitchFamily="34" charset="0"/>
                <a:ea typeface="Arial" pitchFamily="34" charset="-122"/>
                <a:cs typeface="Arial" pitchFamily="34" charset="-120"/>
              </a:rPr>
              <a:t>Nginx</a:t>
            </a:r>
            <a:endParaRPr lang="en-US" sz="1600" dirty="0"/>
          </a:p>
        </p:txBody>
      </p:sp>
      <p:sp>
        <p:nvSpPr>
          <p:cNvPr id="11" name="Text 8"/>
          <p:cNvSpPr/>
          <p:nvPr/>
        </p:nvSpPr>
        <p:spPr>
          <a:xfrm>
            <a:off x="3804391" y="2729970"/>
            <a:ext cx="182981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26B"/>
                </a:solidFill>
                <a:latin typeface="Arial" pitchFamily="34" charset="0"/>
                <a:ea typeface="Arial" pitchFamily="34" charset="-122"/>
                <a:cs typeface="Arial" pitchFamily="34" charset="-120"/>
              </a:rPr>
              <a:t>Point d'entrée unique</a:t>
            </a:r>
            <a:endParaRPr lang="en-US" sz="1200" dirty="0"/>
          </a:p>
        </p:txBody>
      </p:sp>
      <p:pic>
        <p:nvPicPr>
          <p:cNvPr id="12" name="Image 1" descr="arrow-right">    </p:cNvPr>
          <p:cNvPicPr>
            <a:picLocks noChangeAspect="1"/>
          </p:cNvPicPr>
          <p:nvPr/>
        </p:nvPicPr>
        <p:blipFill>
          <a:blip r:embed="rId2"/>
          <a:srcRect l="0" r="0" t="0" b="0"/>
          <a:stretch/>
        </p:blipFill>
        <p:spPr>
          <a:xfrm>
            <a:off x="5918200" y="2600430"/>
            <a:ext cx="355600" cy="177800"/>
          </a:xfrm>
          <a:prstGeom prst="rect">
            <a:avLst/>
          </a:prstGeom>
        </p:spPr>
      </p:pic>
      <p:sp>
        <p:nvSpPr>
          <p:cNvPr id="13" name="Shape 9"/>
          <p:cNvSpPr/>
          <p:nvPr/>
        </p:nvSpPr>
        <p:spPr>
          <a:xfrm>
            <a:off x="6432550" y="2256789"/>
            <a:ext cx="2133600" cy="865082"/>
          </a:xfrm>
          <a:prstGeom prst="roundRect">
            <a:avLst>
              <a:gd name="adj" fmla="val 11011"/>
            </a:avLst>
          </a:prstGeom>
          <a:solidFill>
            <a:srgbClr val="EAF1FF"/>
          </a:solidFill>
          <a:ln w="12700">
            <a:solidFill>
              <a:srgbClr val="2864E8"/>
            </a:solidFill>
            <a:prstDash val="solid"/>
          </a:ln>
        </p:spPr>
      </p:sp>
      <p:sp>
        <p:nvSpPr>
          <p:cNvPr id="14" name="Text 10"/>
          <p:cNvSpPr/>
          <p:nvPr/>
        </p:nvSpPr>
        <p:spPr>
          <a:xfrm>
            <a:off x="6611091" y="2435330"/>
            <a:ext cx="1829814"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D2046"/>
                </a:solidFill>
                <a:latin typeface="Arial" pitchFamily="34" charset="0"/>
                <a:ea typeface="Arial" pitchFamily="34" charset="-122"/>
                <a:cs typeface="Arial" pitchFamily="34" charset="-120"/>
              </a:rPr>
              <a:t>API Express</a:t>
            </a:r>
            <a:endParaRPr lang="en-US" sz="1600" dirty="0"/>
          </a:p>
        </p:txBody>
      </p:sp>
      <p:sp>
        <p:nvSpPr>
          <p:cNvPr id="15" name="Text 11"/>
          <p:cNvSpPr/>
          <p:nvPr/>
        </p:nvSpPr>
        <p:spPr>
          <a:xfrm>
            <a:off x="6611091" y="2729970"/>
            <a:ext cx="182981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26B"/>
                </a:solidFill>
                <a:latin typeface="Arial" pitchFamily="34" charset="0"/>
                <a:ea typeface="Arial" pitchFamily="34" charset="-122"/>
                <a:cs typeface="Arial" pitchFamily="34" charset="-120"/>
              </a:rPr>
              <a:t>Droits et règles métier</a:t>
            </a:r>
            <a:endParaRPr lang="en-US" sz="1200" dirty="0"/>
          </a:p>
        </p:txBody>
      </p:sp>
      <p:pic>
        <p:nvPicPr>
          <p:cNvPr id="16" name="Image 2" descr="arrow-right">    </p:cNvPr>
          <p:cNvPicPr>
            <a:picLocks noChangeAspect="1"/>
          </p:cNvPicPr>
          <p:nvPr/>
        </p:nvPicPr>
        <p:blipFill>
          <a:blip r:embed="rId3"/>
          <a:srcRect l="0" r="0" t="0" b="0"/>
          <a:stretch/>
        </p:blipFill>
        <p:spPr>
          <a:xfrm>
            <a:off x="8724900" y="2600430"/>
            <a:ext cx="355600" cy="177800"/>
          </a:xfrm>
          <a:prstGeom prst="rect">
            <a:avLst/>
          </a:prstGeom>
        </p:spPr>
      </p:pic>
      <p:sp>
        <p:nvSpPr>
          <p:cNvPr id="17" name="Shape 12"/>
          <p:cNvSpPr/>
          <p:nvPr/>
        </p:nvSpPr>
        <p:spPr>
          <a:xfrm>
            <a:off x="9239250" y="2150111"/>
            <a:ext cx="2133600" cy="1078442"/>
          </a:xfrm>
          <a:prstGeom prst="roundRect">
            <a:avLst>
              <a:gd name="adj" fmla="val 8832"/>
            </a:avLst>
          </a:prstGeom>
          <a:solidFill>
            <a:srgbClr val="FCFDFF"/>
          </a:solidFill>
          <a:ln w="12700">
            <a:solidFill>
              <a:srgbClr val="DCE3EE"/>
            </a:solidFill>
            <a:prstDash val="solid"/>
          </a:ln>
        </p:spPr>
      </p:sp>
      <p:sp>
        <p:nvSpPr>
          <p:cNvPr id="18" name="Text 13"/>
          <p:cNvSpPr/>
          <p:nvPr/>
        </p:nvSpPr>
        <p:spPr>
          <a:xfrm>
            <a:off x="9417791" y="2328652"/>
            <a:ext cx="1829814"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D2046"/>
                </a:solidFill>
                <a:latin typeface="Arial" pitchFamily="34" charset="0"/>
                <a:ea typeface="Arial" pitchFamily="34" charset="-122"/>
                <a:cs typeface="Arial" pitchFamily="34" charset="-120"/>
              </a:rPr>
              <a:t>PostgreSQL</a:t>
            </a:r>
            <a:endParaRPr lang="en-US" sz="1600" dirty="0"/>
          </a:p>
        </p:txBody>
      </p:sp>
      <p:sp>
        <p:nvSpPr>
          <p:cNvPr id="19" name="Text 14"/>
          <p:cNvSpPr/>
          <p:nvPr/>
        </p:nvSpPr>
        <p:spPr>
          <a:xfrm>
            <a:off x="9417791" y="2623291"/>
            <a:ext cx="1829814"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26B"/>
                </a:solidFill>
                <a:latin typeface="Arial" pitchFamily="34" charset="0"/>
                <a:ea typeface="Arial" pitchFamily="34" charset="-122"/>
                <a:cs typeface="Arial" pitchFamily="34" charset="-120"/>
              </a:rPr>
              <a:t>Données et infos des fichiers</a:t>
            </a:r>
            <a:endParaRPr lang="en-US" sz="1200" dirty="0"/>
          </a:p>
        </p:txBody>
      </p:sp>
      <p:sp>
        <p:nvSpPr>
          <p:cNvPr id="20" name="Text 15"/>
          <p:cNvSpPr/>
          <p:nvPr/>
        </p:nvSpPr>
        <p:spPr>
          <a:xfrm>
            <a:off x="812800" y="34889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66728A"/>
                </a:solidFill>
                <a:latin typeface="Arial" pitchFamily="34" charset="0"/>
                <a:ea typeface="Arial" pitchFamily="34" charset="-122"/>
                <a:cs typeface="Arial" pitchFamily="34" charset="-120"/>
              </a:rPr>
              <a:t>Un fichier joint</a:t>
            </a:r>
            <a:endParaRPr lang="en-US" sz="1200" dirty="0"/>
          </a:p>
        </p:txBody>
      </p:sp>
      <p:sp>
        <p:nvSpPr>
          <p:cNvPr id="21" name="Shape 16"/>
          <p:cNvSpPr/>
          <p:nvPr/>
        </p:nvSpPr>
        <p:spPr>
          <a:xfrm>
            <a:off x="819150" y="3810211"/>
            <a:ext cx="3069167" cy="1078442"/>
          </a:xfrm>
          <a:prstGeom prst="roundRect">
            <a:avLst>
              <a:gd name="adj" fmla="val 8832"/>
            </a:avLst>
          </a:prstGeom>
          <a:solidFill>
            <a:srgbClr val="EAF1FF"/>
          </a:solidFill>
          <a:ln w="12700">
            <a:solidFill>
              <a:srgbClr val="2864E8"/>
            </a:solidFill>
            <a:prstDash val="solid"/>
          </a:ln>
        </p:spPr>
      </p:sp>
      <p:sp>
        <p:nvSpPr>
          <p:cNvPr id="22" name="Text 17"/>
          <p:cNvSpPr/>
          <p:nvPr/>
        </p:nvSpPr>
        <p:spPr>
          <a:xfrm>
            <a:off x="997691" y="3988752"/>
            <a:ext cx="2793447"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D2046"/>
                </a:solidFill>
                <a:latin typeface="Arial" pitchFamily="34" charset="0"/>
                <a:ea typeface="Arial" pitchFamily="34" charset="-122"/>
                <a:cs typeface="Arial" pitchFamily="34" charset="-120"/>
              </a:rPr>
              <a:t>API Express</a:t>
            </a:r>
            <a:endParaRPr lang="en-US" sz="1600" dirty="0"/>
          </a:p>
        </p:txBody>
      </p:sp>
      <p:sp>
        <p:nvSpPr>
          <p:cNvPr id="23" name="Text 18"/>
          <p:cNvSpPr/>
          <p:nvPr/>
        </p:nvSpPr>
        <p:spPr>
          <a:xfrm>
            <a:off x="997691" y="4283391"/>
            <a:ext cx="2793447"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26B"/>
                </a:solidFill>
                <a:latin typeface="Arial" pitchFamily="34" charset="0"/>
                <a:ea typeface="Arial" pitchFamily="34" charset="-122"/>
                <a:cs typeface="Arial" pitchFamily="34" charset="-120"/>
              </a:rPr>
              <a:t>Vérifie le droit, crée un lien signé temporaire</a:t>
            </a:r>
            <a:endParaRPr lang="en-US" sz="1200" dirty="0"/>
          </a:p>
        </p:txBody>
      </p:sp>
      <p:pic>
        <p:nvPicPr>
          <p:cNvPr id="24" name="Image 3" descr="arrow-right">    </p:cNvPr>
          <p:cNvPicPr>
            <a:picLocks noChangeAspect="1"/>
          </p:cNvPicPr>
          <p:nvPr/>
        </p:nvPicPr>
        <p:blipFill>
          <a:blip r:embed="rId4"/>
          <a:srcRect l="0" r="0" t="0" b="0"/>
          <a:stretch/>
        </p:blipFill>
        <p:spPr>
          <a:xfrm>
            <a:off x="4047067" y="4260534"/>
            <a:ext cx="355600" cy="177800"/>
          </a:xfrm>
          <a:prstGeom prst="rect">
            <a:avLst/>
          </a:prstGeom>
        </p:spPr>
      </p:pic>
      <p:sp>
        <p:nvSpPr>
          <p:cNvPr id="25" name="Shape 19"/>
          <p:cNvSpPr/>
          <p:nvPr/>
        </p:nvSpPr>
        <p:spPr>
          <a:xfrm>
            <a:off x="4561417" y="3916893"/>
            <a:ext cx="3069167" cy="865082"/>
          </a:xfrm>
          <a:prstGeom prst="roundRect">
            <a:avLst>
              <a:gd name="adj" fmla="val 11011"/>
            </a:avLst>
          </a:prstGeom>
          <a:solidFill>
            <a:srgbClr val="FCFDFF"/>
          </a:solidFill>
          <a:ln w="12700">
            <a:solidFill>
              <a:srgbClr val="DCE3EE"/>
            </a:solidFill>
            <a:prstDash val="solid"/>
          </a:ln>
        </p:spPr>
      </p:sp>
      <p:sp>
        <p:nvSpPr>
          <p:cNvPr id="26" name="Text 20"/>
          <p:cNvSpPr/>
          <p:nvPr/>
        </p:nvSpPr>
        <p:spPr>
          <a:xfrm>
            <a:off x="4739958" y="4095434"/>
            <a:ext cx="2793448"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D2046"/>
                </a:solidFill>
                <a:latin typeface="Arial" pitchFamily="34" charset="0"/>
                <a:ea typeface="Arial" pitchFamily="34" charset="-122"/>
                <a:cs typeface="Arial" pitchFamily="34" charset="-120"/>
              </a:rPr>
              <a:t>Navigateur</a:t>
            </a:r>
            <a:endParaRPr lang="en-US" sz="1600" dirty="0"/>
          </a:p>
        </p:txBody>
      </p:sp>
      <p:sp>
        <p:nvSpPr>
          <p:cNvPr id="27" name="Text 21"/>
          <p:cNvSpPr/>
          <p:nvPr/>
        </p:nvSpPr>
        <p:spPr>
          <a:xfrm>
            <a:off x="4739958" y="4390073"/>
            <a:ext cx="279344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26B"/>
                </a:solidFill>
                <a:latin typeface="Arial" pitchFamily="34" charset="0"/>
                <a:ea typeface="Arial" pitchFamily="34" charset="-122"/>
                <a:cs typeface="Arial" pitchFamily="34" charset="-120"/>
              </a:rPr>
              <a:t>Envoie le fichier avec ce lien</a:t>
            </a:r>
            <a:endParaRPr lang="en-US" sz="1200" dirty="0"/>
          </a:p>
        </p:txBody>
      </p:sp>
      <p:pic>
        <p:nvPicPr>
          <p:cNvPr id="28" name="Image 4" descr="arrow-right">    </p:cNvPr>
          <p:cNvPicPr>
            <a:picLocks noChangeAspect="1"/>
          </p:cNvPicPr>
          <p:nvPr/>
        </p:nvPicPr>
        <p:blipFill>
          <a:blip r:embed="rId5"/>
          <a:srcRect l="0" r="0" t="0" b="0"/>
          <a:stretch/>
        </p:blipFill>
        <p:spPr>
          <a:xfrm>
            <a:off x="7789333" y="4260534"/>
            <a:ext cx="355600" cy="177800"/>
          </a:xfrm>
          <a:prstGeom prst="rect">
            <a:avLst/>
          </a:prstGeom>
        </p:spPr>
      </p:pic>
      <p:sp>
        <p:nvSpPr>
          <p:cNvPr id="29" name="Shape 22"/>
          <p:cNvSpPr/>
          <p:nvPr/>
        </p:nvSpPr>
        <p:spPr>
          <a:xfrm>
            <a:off x="8303683" y="3916893"/>
            <a:ext cx="3069167" cy="865082"/>
          </a:xfrm>
          <a:prstGeom prst="roundRect">
            <a:avLst>
              <a:gd name="adj" fmla="val 11011"/>
            </a:avLst>
          </a:prstGeom>
          <a:solidFill>
            <a:srgbClr val="FCFDFF"/>
          </a:solidFill>
          <a:ln w="12700">
            <a:solidFill>
              <a:srgbClr val="DCE3EE"/>
            </a:solidFill>
            <a:prstDash val="solid"/>
          </a:ln>
        </p:spPr>
      </p:sp>
      <p:sp>
        <p:nvSpPr>
          <p:cNvPr id="30" name="Text 23"/>
          <p:cNvSpPr/>
          <p:nvPr/>
        </p:nvSpPr>
        <p:spPr>
          <a:xfrm>
            <a:off x="8482224" y="4095434"/>
            <a:ext cx="2793447"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D2046"/>
                </a:solidFill>
                <a:latin typeface="Arial" pitchFamily="34" charset="0"/>
                <a:ea typeface="Arial" pitchFamily="34" charset="-122"/>
                <a:cs typeface="Arial" pitchFamily="34" charset="-120"/>
              </a:rPr>
              <a:t>Stockage S3 privé</a:t>
            </a:r>
            <a:endParaRPr lang="en-US" sz="1600" dirty="0"/>
          </a:p>
        </p:txBody>
      </p:sp>
      <p:sp>
        <p:nvSpPr>
          <p:cNvPr id="31" name="Text 24"/>
          <p:cNvSpPr/>
          <p:nvPr/>
        </p:nvSpPr>
        <p:spPr>
          <a:xfrm>
            <a:off x="8482224" y="4390073"/>
            <a:ext cx="279344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26B"/>
                </a:solidFill>
                <a:latin typeface="Arial" pitchFamily="34" charset="0"/>
                <a:ea typeface="Arial" pitchFamily="34" charset="-122"/>
                <a:cs typeface="Arial" pitchFamily="34" charset="-120"/>
              </a:rPr>
              <a:t>Garde le fichier, jamais public</a:t>
            </a:r>
            <a:endParaRPr lang="en-US" sz="1200" dirty="0"/>
          </a:p>
        </p:txBody>
      </p:sp>
      <p:sp>
        <p:nvSpPr>
          <p:cNvPr id="32" name="Text 25"/>
          <p:cNvSpPr/>
          <p:nvPr/>
        </p:nvSpPr>
        <p:spPr>
          <a:xfrm>
            <a:off x="812800" y="5149004"/>
            <a:ext cx="3439371" cy="375920"/>
          </a:xfrm>
          <a:prstGeom prst="roundRect">
            <a:avLst>
              <a:gd name="adj" fmla="val 50000"/>
            </a:avLst>
          </a:prstGeom>
          <a:solidFill>
            <a:srgbClr val="E2E9F5"/>
          </a:solidFill>
          <a:ln/>
        </p:spPr>
        <p:txBody>
          <a:bodyPr wrap="none" lIns="0" tIns="0" rIns="0" bIns="0" rtlCol="0" anchor="ctr">
            <a:normAutofit/>
          </a:bodyPr>
          <a:lstStyle/>
          <a:p>
            <a:pPr algn="ctr" indent="0" marL="0">
              <a:lnSpc>
                <a:spcPts val="1560"/>
              </a:lnSpc>
              <a:buNone/>
            </a:pPr>
            <a:r>
              <a:rPr lang="en-US" sz="1200" dirty="0">
                <a:solidFill>
                  <a:srgbClr val="0D2046"/>
                </a:solidFill>
                <a:latin typeface="Arial" pitchFamily="34" charset="0"/>
                <a:ea typeface="Arial" pitchFamily="34" charset="-122"/>
                <a:cs typeface="Arial" pitchFamily="34" charset="-120"/>
              </a:rPr>
              <a:t>Session : jeton court dans un cookie HttpOnly</a:t>
            </a:r>
            <a:endParaRPr lang="en-US" sz="1200" dirty="0"/>
          </a:p>
        </p:txBody>
      </p:sp>
      <p:sp>
        <p:nvSpPr>
          <p:cNvPr id="33" name="Text 26"/>
          <p:cNvSpPr/>
          <p:nvPr/>
        </p:nvSpPr>
        <p:spPr>
          <a:xfrm>
            <a:off x="4404571" y="5149004"/>
            <a:ext cx="3058372" cy="375920"/>
          </a:xfrm>
          <a:prstGeom prst="roundRect">
            <a:avLst>
              <a:gd name="adj" fmla="val 50000"/>
            </a:avLst>
          </a:prstGeom>
          <a:solidFill>
            <a:srgbClr val="E2E9F5"/>
          </a:solidFill>
          <a:ln/>
        </p:spPr>
        <p:txBody>
          <a:bodyPr wrap="none" lIns="0" tIns="0" rIns="0" bIns="0" rtlCol="0" anchor="ctr">
            <a:normAutofit/>
          </a:bodyPr>
          <a:lstStyle/>
          <a:p>
            <a:pPr algn="ctr" indent="0" marL="0">
              <a:lnSpc>
                <a:spcPts val="1560"/>
              </a:lnSpc>
              <a:buNone/>
            </a:pPr>
            <a:r>
              <a:rPr lang="en-US" sz="1200" dirty="0">
                <a:solidFill>
                  <a:srgbClr val="0D2046"/>
                </a:solidFill>
                <a:latin typeface="Arial" pitchFamily="34" charset="0"/>
                <a:ea typeface="Arial" pitchFamily="34" charset="-122"/>
                <a:cs typeface="Arial" pitchFamily="34" charset="-120"/>
              </a:rPr>
              <a:t>API et base non exposées sur le réseau</a:t>
            </a:r>
            <a:endParaRPr lang="en-US" sz="1200" dirty="0"/>
          </a:p>
        </p:txBody>
      </p:sp>
      <p:sp>
        <p:nvSpPr>
          <p:cNvPr id="34" name="Text 27"/>
          <p:cNvSpPr/>
          <p:nvPr/>
        </p:nvSpPr>
        <p:spPr>
          <a:xfrm>
            <a:off x="7615343" y="5149004"/>
            <a:ext cx="2651760" cy="375920"/>
          </a:xfrm>
          <a:prstGeom prst="roundRect">
            <a:avLst>
              <a:gd name="adj" fmla="val 50000"/>
            </a:avLst>
          </a:prstGeom>
          <a:solidFill>
            <a:srgbClr val="E2E9F5"/>
          </a:solidFill>
          <a:ln/>
        </p:spPr>
        <p:txBody>
          <a:bodyPr wrap="none" lIns="0" tIns="0" rIns="0" bIns="0" rtlCol="0" anchor="ctr">
            <a:normAutofit/>
          </a:bodyPr>
          <a:lstStyle/>
          <a:p>
            <a:pPr algn="ctr" indent="0" marL="0">
              <a:lnSpc>
                <a:spcPts val="1560"/>
              </a:lnSpc>
              <a:buNone/>
            </a:pPr>
            <a:r>
              <a:rPr lang="en-US" sz="1200" dirty="0">
                <a:solidFill>
                  <a:srgbClr val="0D2046"/>
                </a:solidFill>
                <a:latin typeface="Arial" pitchFamily="34" charset="0"/>
                <a:ea typeface="Arial" pitchFamily="34" charset="-122"/>
                <a:cs typeface="Arial" pitchFamily="34" charset="-120"/>
              </a:rPr>
              <a:t>Données entrantes validées (Zod)</a:t>
            </a:r>
            <a:endParaRPr lang="en-US" sz="1200" dirty="0"/>
          </a:p>
        </p:txBody>
      </p:sp>
      <p:sp>
        <p:nvSpPr>
          <p:cNvPr id="35" name="Text 28"/>
          <p:cNvSpPr/>
          <p:nvPr/>
        </p:nvSpPr>
        <p:spPr>
          <a:xfrm>
            <a:off x="812800" y="6238239"/>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28A"/>
                </a:solidFill>
                <a:latin typeface="Arial" pitchFamily="34" charset="0"/>
                <a:ea typeface="Arial" pitchFamily="34" charset="-122"/>
                <a:cs typeface="Arial" pitchFamily="34" charset="-120"/>
              </a:rPr>
              <a:t>SUIVI · Présentation WD12</a:t>
            </a:r>
            <a:endParaRPr lang="en-US" sz="1200" dirty="0"/>
          </a:p>
        </p:txBody>
      </p:sp>
      <p:sp>
        <p:nvSpPr>
          <p:cNvPr id="36" name="Text 29"/>
          <p:cNvSpPr/>
          <p:nvPr/>
        </p:nvSpPr>
        <p:spPr>
          <a:xfrm>
            <a:off x="10058400" y="6238239"/>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6728A"/>
                </a:solidFill>
                <a:latin typeface="Arial" pitchFamily="34" charset="0"/>
                <a:ea typeface="Arial" pitchFamily="34" charset="-122"/>
                <a:cs typeface="Arial" pitchFamily="34" charset="-120"/>
              </a:rPr>
              <a:t>05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864E8"/>
                </a:solidFill>
                <a:latin typeface="Arial" pitchFamily="34" charset="0"/>
                <a:ea typeface="Arial" pitchFamily="34" charset="-122"/>
                <a:cs typeface="Arial" pitchFamily="34" charset="-120"/>
              </a:rPr>
              <a:t>L'APPLICATION · NOM 3</a:t>
            </a:r>
            <a:endParaRPr lang="en-US" sz="1200" dirty="0"/>
          </a:p>
        </p:txBody>
      </p:sp>
      <p:sp>
        <p:nvSpPr>
          <p:cNvPr id="3" name="Text 1"/>
          <p:cNvSpPr/>
          <p:nvPr>
            <p:ph type="title"/>
          </p:nvPr>
        </p:nvSpPr>
        <p:spPr>
          <a:xfrm>
            <a:off x="812800" y="112776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0D2046"/>
                </a:solidFill>
                <a:latin typeface="Arial" pitchFamily="34" charset="0"/>
                <a:ea typeface="Arial" pitchFamily="34" charset="-122"/>
                <a:cs typeface="Arial" pitchFamily="34" charset="-120"/>
              </a:rPr>
              <a:t>Un outil commun pour tout le laboratoire</a:t>
            </a:r>
            <a:endParaRPr lang="en-US" sz="3200" dirty="0"/>
          </a:p>
        </p:txBody>
      </p:sp>
      <p:sp>
        <p:nvSpPr>
          <p:cNvPr id="4" name="Text 2"/>
          <p:cNvSpPr/>
          <p:nvPr/>
        </p:nvSpPr>
        <p:spPr>
          <a:xfrm>
            <a:off x="812800" y="1930400"/>
            <a:ext cx="3401060"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864E8"/>
                </a:solidFill>
                <a:latin typeface="Arial" pitchFamily="34" charset="0"/>
                <a:ea typeface="Arial" pitchFamily="34" charset="-122"/>
                <a:cs typeface="Arial" pitchFamily="34" charset="-120"/>
              </a:rPr>
              <a:t>Pour qui ?</a:t>
            </a:r>
            <a:endParaRPr lang="en-US" sz="1800" dirty="0"/>
          </a:p>
        </p:txBody>
      </p:sp>
      <p:sp>
        <p:nvSpPr>
          <p:cNvPr id="5" name="Text 3"/>
          <p:cNvSpPr/>
          <p:nvPr/>
        </p:nvSpPr>
        <p:spPr>
          <a:xfrm>
            <a:off x="812800" y="2280921"/>
            <a:ext cx="3401060"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D2046"/>
                </a:solidFill>
                <a:latin typeface="Arial" pitchFamily="34" charset="0"/>
                <a:ea typeface="Arial" pitchFamily="34" charset="-122"/>
                <a:cs typeface="Arial" pitchFamily="34" charset="-120"/>
              </a:rPr>
              <a:t>Les équipes d'un laboratoire, sur PC, dans le réseau interne Intradef, sans accès Internet.</a:t>
            </a:r>
            <a:endParaRPr lang="en-US" sz="1400" dirty="0"/>
          </a:p>
        </p:txBody>
      </p:sp>
      <p:sp>
        <p:nvSpPr>
          <p:cNvPr id="6" name="Text 4"/>
          <p:cNvSpPr/>
          <p:nvPr/>
        </p:nvSpPr>
        <p:spPr>
          <a:xfrm>
            <a:off x="812800" y="3281679"/>
            <a:ext cx="3401060"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864E8"/>
                </a:solidFill>
                <a:latin typeface="Arial" pitchFamily="34" charset="0"/>
                <a:ea typeface="Arial" pitchFamily="34" charset="-122"/>
                <a:cs typeface="Arial" pitchFamily="34" charset="-120"/>
              </a:rPr>
              <a:t>Quel besoin ?</a:t>
            </a:r>
            <a:endParaRPr lang="en-US" sz="1800" dirty="0"/>
          </a:p>
        </p:txBody>
      </p:sp>
      <p:sp>
        <p:nvSpPr>
          <p:cNvPr id="7" name="Text 5"/>
          <p:cNvSpPr/>
          <p:nvPr/>
        </p:nvSpPr>
        <p:spPr>
          <a:xfrm>
            <a:off x="812800" y="3632200"/>
            <a:ext cx="3401060"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D2046"/>
                </a:solidFill>
                <a:latin typeface="Arial" pitchFamily="34" charset="0"/>
                <a:ea typeface="Arial" pitchFamily="34" charset="-122"/>
                <a:cs typeface="Arial" pitchFamily="34" charset="-120"/>
              </a:rPr>
              <a:t>Retrouver, réserver et tracer le matériel, et suivre les projets qui l'utilisent.</a:t>
            </a:r>
            <a:endParaRPr lang="en-US" sz="1400" dirty="0"/>
          </a:p>
        </p:txBody>
      </p:sp>
      <p:sp>
        <p:nvSpPr>
          <p:cNvPr id="8" name="Shape 6"/>
          <p:cNvSpPr/>
          <p:nvPr/>
        </p:nvSpPr>
        <p:spPr>
          <a:xfrm>
            <a:off x="4524375" y="1933575"/>
            <a:ext cx="3321050" cy="1277832"/>
          </a:xfrm>
          <a:prstGeom prst="roundRect">
            <a:avLst>
              <a:gd name="adj" fmla="val 9690"/>
            </a:avLst>
          </a:prstGeom>
          <a:solidFill>
            <a:srgbClr val="FCFDFF"/>
          </a:solidFill>
          <a:ln w="6350">
            <a:solidFill>
              <a:srgbClr val="DCE3EE"/>
            </a:solidFill>
            <a:prstDash val="solid"/>
          </a:ln>
        </p:spPr>
      </p:sp>
      <p:sp>
        <p:nvSpPr>
          <p:cNvPr id="9" name="Text 7"/>
          <p:cNvSpPr/>
          <p:nvPr/>
        </p:nvSpPr>
        <p:spPr>
          <a:xfrm>
            <a:off x="4756891" y="2166091"/>
            <a:ext cx="2941699"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D2046"/>
                </a:solidFill>
                <a:latin typeface="Arial" pitchFamily="34" charset="0"/>
                <a:ea typeface="Arial" pitchFamily="34" charset="-122"/>
                <a:cs typeface="Arial" pitchFamily="34" charset="-120"/>
              </a:rPr>
              <a:t>Inventaire</a:t>
            </a:r>
            <a:endParaRPr lang="en-US" sz="1800" dirty="0"/>
          </a:p>
        </p:txBody>
      </p:sp>
      <p:sp>
        <p:nvSpPr>
          <p:cNvPr id="10" name="Text 8"/>
          <p:cNvSpPr/>
          <p:nvPr/>
        </p:nvSpPr>
        <p:spPr>
          <a:xfrm>
            <a:off x="4756891" y="2516612"/>
            <a:ext cx="2941699"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6526B"/>
                </a:solidFill>
                <a:latin typeface="Arial" pitchFamily="34" charset="0"/>
                <a:ea typeface="Arial" pitchFamily="34" charset="-122"/>
                <a:cs typeface="Arial" pitchFamily="34" charset="-120"/>
              </a:rPr>
              <a:t>Catégories, recherche, fiches, pièces jointes, historique.</a:t>
            </a:r>
            <a:endParaRPr lang="en-US" sz="1300" dirty="0"/>
          </a:p>
        </p:txBody>
      </p:sp>
      <p:sp>
        <p:nvSpPr>
          <p:cNvPr id="11" name="Shape 9"/>
          <p:cNvSpPr/>
          <p:nvPr/>
        </p:nvSpPr>
        <p:spPr>
          <a:xfrm>
            <a:off x="8054975" y="1933575"/>
            <a:ext cx="3321050" cy="1277832"/>
          </a:xfrm>
          <a:prstGeom prst="roundRect">
            <a:avLst>
              <a:gd name="adj" fmla="val 9690"/>
            </a:avLst>
          </a:prstGeom>
          <a:solidFill>
            <a:srgbClr val="FCFDFF"/>
          </a:solidFill>
          <a:ln w="6350">
            <a:solidFill>
              <a:srgbClr val="DCE3EE"/>
            </a:solidFill>
            <a:prstDash val="solid"/>
          </a:ln>
        </p:spPr>
      </p:sp>
      <p:sp>
        <p:nvSpPr>
          <p:cNvPr id="12" name="Text 10"/>
          <p:cNvSpPr/>
          <p:nvPr/>
        </p:nvSpPr>
        <p:spPr>
          <a:xfrm>
            <a:off x="8287491" y="2166091"/>
            <a:ext cx="2941699"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D2046"/>
                </a:solidFill>
                <a:latin typeface="Arial" pitchFamily="34" charset="0"/>
                <a:ea typeface="Arial" pitchFamily="34" charset="-122"/>
                <a:cs typeface="Arial" pitchFamily="34" charset="-120"/>
              </a:rPr>
              <a:t>Projets</a:t>
            </a:r>
            <a:endParaRPr lang="en-US" sz="1800" dirty="0"/>
          </a:p>
        </p:txBody>
      </p:sp>
      <p:sp>
        <p:nvSpPr>
          <p:cNvPr id="13" name="Text 11"/>
          <p:cNvSpPr/>
          <p:nvPr/>
        </p:nvSpPr>
        <p:spPr>
          <a:xfrm>
            <a:off x="8287491" y="2516612"/>
            <a:ext cx="2941699"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6526B"/>
                </a:solidFill>
                <a:latin typeface="Arial" pitchFamily="34" charset="0"/>
                <a:ea typeface="Arial" pitchFamily="34" charset="-122"/>
                <a:cs typeface="Arial" pitchFamily="34" charset="-120"/>
              </a:rPr>
              <a:t>Publics ou privés, membres, Kanban, documentation exportée en Word.</a:t>
            </a:r>
            <a:endParaRPr lang="en-US" sz="1300" dirty="0"/>
          </a:p>
        </p:txBody>
      </p:sp>
      <p:sp>
        <p:nvSpPr>
          <p:cNvPr id="14" name="Shape 12"/>
          <p:cNvSpPr/>
          <p:nvPr/>
        </p:nvSpPr>
        <p:spPr>
          <a:xfrm>
            <a:off x="4524375" y="3420957"/>
            <a:ext cx="3321050" cy="1508972"/>
          </a:xfrm>
          <a:prstGeom prst="roundRect">
            <a:avLst>
              <a:gd name="adj" fmla="val 8206"/>
            </a:avLst>
          </a:prstGeom>
          <a:solidFill>
            <a:srgbClr val="FCFDFF"/>
          </a:solidFill>
          <a:ln w="6350">
            <a:solidFill>
              <a:srgbClr val="DCE3EE"/>
            </a:solidFill>
            <a:prstDash val="solid"/>
          </a:ln>
        </p:spPr>
      </p:sp>
      <p:sp>
        <p:nvSpPr>
          <p:cNvPr id="15" name="Text 13"/>
          <p:cNvSpPr/>
          <p:nvPr/>
        </p:nvSpPr>
        <p:spPr>
          <a:xfrm>
            <a:off x="4756891" y="3653473"/>
            <a:ext cx="2941699"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D2046"/>
                </a:solidFill>
                <a:latin typeface="Arial" pitchFamily="34" charset="0"/>
                <a:ea typeface="Arial" pitchFamily="34" charset="-122"/>
                <a:cs typeface="Arial" pitchFamily="34" charset="-120"/>
              </a:rPr>
              <a:t>Réservations</a:t>
            </a:r>
            <a:endParaRPr lang="en-US" sz="1800" dirty="0"/>
          </a:p>
        </p:txBody>
      </p:sp>
      <p:sp>
        <p:nvSpPr>
          <p:cNvPr id="16" name="Text 14"/>
          <p:cNvSpPr/>
          <p:nvPr/>
        </p:nvSpPr>
        <p:spPr>
          <a:xfrm>
            <a:off x="4756891" y="4003991"/>
            <a:ext cx="2941699" cy="7188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6526B"/>
                </a:solidFill>
                <a:latin typeface="Arial" pitchFamily="34" charset="0"/>
                <a:ea typeface="Arial" pitchFamily="34" charset="-122"/>
                <a:cs typeface="Arial" pitchFamily="34" charset="-120"/>
              </a:rPr>
              <a:t>Créneaux de 30 minutes, sans chevauchement, calendrier de la semaine.</a:t>
            </a:r>
            <a:endParaRPr lang="en-US" sz="1300" dirty="0"/>
          </a:p>
        </p:txBody>
      </p:sp>
      <p:sp>
        <p:nvSpPr>
          <p:cNvPr id="17" name="Shape 15"/>
          <p:cNvSpPr/>
          <p:nvPr/>
        </p:nvSpPr>
        <p:spPr>
          <a:xfrm>
            <a:off x="8054975" y="3420957"/>
            <a:ext cx="3321050" cy="1508972"/>
          </a:xfrm>
          <a:prstGeom prst="roundRect">
            <a:avLst>
              <a:gd name="adj" fmla="val 8206"/>
            </a:avLst>
          </a:prstGeom>
          <a:solidFill>
            <a:srgbClr val="FCFDFF"/>
          </a:solidFill>
          <a:ln w="6350">
            <a:solidFill>
              <a:srgbClr val="DCE3EE"/>
            </a:solidFill>
            <a:prstDash val="solid"/>
          </a:ln>
        </p:spPr>
      </p:sp>
      <p:sp>
        <p:nvSpPr>
          <p:cNvPr id="18" name="Text 16"/>
          <p:cNvSpPr/>
          <p:nvPr/>
        </p:nvSpPr>
        <p:spPr>
          <a:xfrm>
            <a:off x="8287491" y="3653473"/>
            <a:ext cx="2941699"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D2046"/>
                </a:solidFill>
                <a:latin typeface="Arial" pitchFamily="34" charset="0"/>
                <a:ea typeface="Arial" pitchFamily="34" charset="-122"/>
                <a:cs typeface="Arial" pitchFamily="34" charset="-120"/>
              </a:rPr>
              <a:t>Traçabilité</a:t>
            </a:r>
            <a:endParaRPr lang="en-US" sz="1800" dirty="0"/>
          </a:p>
        </p:txBody>
      </p:sp>
      <p:sp>
        <p:nvSpPr>
          <p:cNvPr id="19" name="Text 17"/>
          <p:cNvSpPr/>
          <p:nvPr/>
        </p:nvSpPr>
        <p:spPr>
          <a:xfrm>
            <a:off x="8287491" y="4003991"/>
            <a:ext cx="2941699"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6526B"/>
                </a:solidFill>
                <a:latin typeface="Arial" pitchFamily="34" charset="0"/>
                <a:ea typeface="Arial" pitchFamily="34" charset="-122"/>
                <a:cs typeface="Arial" pitchFamily="34" charset="-120"/>
              </a:rPr>
              <a:t>Historiques, archives, notifications, exports Excel et PDF.</a:t>
            </a:r>
            <a:endParaRPr lang="en-US" sz="1300" dirty="0"/>
          </a:p>
        </p:txBody>
      </p:sp>
      <p:sp>
        <p:nvSpPr>
          <p:cNvPr id="20" name="Text 18"/>
          <p:cNvSpPr/>
          <p:nvPr/>
        </p:nvSpPr>
        <p:spPr>
          <a:xfrm>
            <a:off x="812800" y="6238239"/>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28A"/>
                </a:solidFill>
                <a:latin typeface="Arial" pitchFamily="34" charset="0"/>
                <a:ea typeface="Arial" pitchFamily="34" charset="-122"/>
                <a:cs typeface="Arial" pitchFamily="34" charset="-120"/>
              </a:rPr>
              <a:t>SUIVI · Présentation WD12</a:t>
            </a:r>
            <a:endParaRPr lang="en-US" sz="1200" dirty="0"/>
          </a:p>
        </p:txBody>
      </p:sp>
      <p:sp>
        <p:nvSpPr>
          <p:cNvPr id="21" name="Text 19"/>
          <p:cNvSpPr/>
          <p:nvPr/>
        </p:nvSpPr>
        <p:spPr>
          <a:xfrm>
            <a:off x="10058400" y="6238239"/>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6728A"/>
                </a:solidFill>
                <a:latin typeface="Arial" pitchFamily="34" charset="0"/>
                <a:ea typeface="Arial" pitchFamily="34" charset="-122"/>
                <a:cs typeface="Arial" pitchFamily="34" charset="-120"/>
              </a:rPr>
              <a:t>06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864E8"/>
                </a:solidFill>
                <a:latin typeface="Arial" pitchFamily="34" charset="0"/>
                <a:ea typeface="Arial" pitchFamily="34" charset="-122"/>
                <a:cs typeface="Arial" pitchFamily="34" charset="-120"/>
              </a:rPr>
              <a:t>LES PROFILS · NOM 3</a:t>
            </a:r>
            <a:endParaRPr lang="en-US" sz="1200" dirty="0"/>
          </a:p>
        </p:txBody>
      </p:sp>
      <p:sp>
        <p:nvSpPr>
          <p:cNvPr id="3" name="Text 1"/>
          <p:cNvSpPr/>
          <p:nvPr>
            <p:ph type="title"/>
          </p:nvPr>
        </p:nvSpPr>
        <p:spPr>
          <a:xfrm>
            <a:off x="812800" y="112776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0D2046"/>
                </a:solidFill>
                <a:latin typeface="Arial" pitchFamily="34" charset="0"/>
                <a:ea typeface="Arial" pitchFamily="34" charset="-122"/>
                <a:cs typeface="Arial" pitchFamily="34" charset="-120"/>
              </a:rPr>
              <a:t>Trois profils, trois façons d'utiliser SUIVI</a:t>
            </a:r>
            <a:endParaRPr lang="en-US" sz="3200" dirty="0"/>
          </a:p>
        </p:txBody>
      </p:sp>
      <p:sp>
        <p:nvSpPr>
          <p:cNvPr id="4" name="Shape 2"/>
          <p:cNvSpPr/>
          <p:nvPr/>
        </p:nvSpPr>
        <p:spPr>
          <a:xfrm>
            <a:off x="815975" y="1882775"/>
            <a:ext cx="3380317" cy="2489729"/>
          </a:xfrm>
          <a:prstGeom prst="roundRect">
            <a:avLst>
              <a:gd name="adj" fmla="val 4973"/>
            </a:avLst>
          </a:prstGeom>
          <a:solidFill>
            <a:srgbClr val="FCFDFF"/>
          </a:solidFill>
          <a:ln w="6350">
            <a:solidFill>
              <a:srgbClr val="DCE3EE"/>
            </a:solidFill>
            <a:prstDash val="solid"/>
          </a:ln>
        </p:spPr>
      </p:sp>
      <p:sp>
        <p:nvSpPr>
          <p:cNvPr id="5" name="Text 3"/>
          <p:cNvSpPr/>
          <p:nvPr/>
        </p:nvSpPr>
        <p:spPr>
          <a:xfrm>
            <a:off x="1073891" y="2140691"/>
            <a:ext cx="2950419"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0D2046"/>
                </a:solidFill>
                <a:latin typeface="Arial" pitchFamily="34" charset="0"/>
                <a:ea typeface="Arial" pitchFamily="34" charset="-122"/>
                <a:cs typeface="Arial" pitchFamily="34" charset="-120"/>
              </a:rPr>
              <a:t>Administrateur</a:t>
            </a:r>
            <a:endParaRPr lang="en-US" sz="2200" dirty="0"/>
          </a:p>
        </p:txBody>
      </p:sp>
      <p:sp>
        <p:nvSpPr>
          <p:cNvPr id="6" name="Text 4"/>
          <p:cNvSpPr/>
          <p:nvPr/>
        </p:nvSpPr>
        <p:spPr>
          <a:xfrm>
            <a:off x="1073891" y="2552170"/>
            <a:ext cx="2950419"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6A3FC4"/>
                </a:solidFill>
                <a:latin typeface="Arial" pitchFamily="34" charset="0"/>
                <a:ea typeface="Arial" pitchFamily="34" charset="-122"/>
                <a:cs typeface="Arial" pitchFamily="34" charset="-120"/>
              </a:rPr>
              <a:t>Un seul, compte prédéfini</a:t>
            </a:r>
            <a:endParaRPr lang="en-US" sz="1300" dirty="0"/>
          </a:p>
        </p:txBody>
      </p:sp>
      <p:sp>
        <p:nvSpPr>
          <p:cNvPr id="7" name="Text 5"/>
          <p:cNvSpPr/>
          <p:nvPr/>
        </p:nvSpPr>
        <p:spPr>
          <a:xfrm>
            <a:off x="1171173" y="2859512"/>
            <a:ext cx="2845517" cy="1280477"/>
          </a:xfrm>
          <a:prstGeom prst="rect">
            <a:avLst/>
          </a:prstGeom>
          <a:noFill/>
          <a:ln/>
        </p:spPr>
        <p:txBody>
          <a:bodyPr wrap="square" lIns="0" tIns="0" rIns="0" bIns="0" rtlCol="0" anchor="t">
            <a:normAutofit/>
          </a:bodyPr>
          <a:lstStyle/>
          <a:p>
            <a:pPr algn="l" marL="156718" indent="-156718">
              <a:lnSpc>
                <a:spcPts val="1960"/>
              </a:lnSpc>
              <a:buSzPct val="100000"/>
              <a:buChar char="•"/>
            </a:pPr>
            <a:r>
              <a:rPr lang="en-US" sz="1400" dirty="0">
                <a:solidFill>
                  <a:srgbClr val="46526B"/>
                </a:solidFill>
                <a:latin typeface="Arial" pitchFamily="34" charset="0"/>
                <a:ea typeface="Arial" pitchFamily="34" charset="-122"/>
                <a:cs typeface="Arial" pitchFamily="34" charset="-120"/>
              </a:rPr>
              <a:t>Gère toutes les données et tous les projets</a:t>
            </a:r>
            <a:endParaRPr lang="en-US" sz="1400" dirty="0"/>
          </a:p>
          <a:p>
            <a:pPr algn="l" marL="156718" indent="-156718">
              <a:lnSpc>
                <a:spcPts val="1960"/>
              </a:lnSpc>
              <a:buSzPct val="100000"/>
              <a:buChar char="•"/>
            </a:pPr>
            <a:r>
              <a:rPr lang="en-US" sz="1400" dirty="0">
                <a:solidFill>
                  <a:srgbClr val="46526B"/>
                </a:solidFill>
                <a:latin typeface="Arial" pitchFamily="34" charset="0"/>
                <a:ea typeface="Arial" pitchFamily="34" charset="-122"/>
                <a:cs typeface="Arial" pitchFamily="34" charset="-120"/>
              </a:rPr>
              <a:t>Voit les archives et les historiques</a:t>
            </a:r>
            <a:endParaRPr lang="en-US" sz="1400" dirty="0"/>
          </a:p>
          <a:p>
            <a:pPr algn="l" marL="156718" indent="-156718">
              <a:lnSpc>
                <a:spcPts val="1960"/>
              </a:lnSpc>
              <a:buSzPct val="100000"/>
              <a:buChar char="•"/>
            </a:pPr>
            <a:r>
              <a:rPr lang="en-US" sz="1400" dirty="0">
                <a:solidFill>
                  <a:srgbClr val="46526B"/>
                </a:solidFill>
                <a:latin typeface="Arial" pitchFamily="34" charset="0"/>
                <a:ea typeface="Arial" pitchFamily="34" charset="-122"/>
                <a:cs typeface="Arial" pitchFamily="34" charset="-120"/>
              </a:rPr>
              <a:t>Nomme ou retire le gestionnaire</a:t>
            </a:r>
            <a:endParaRPr lang="en-US" sz="1400" dirty="0"/>
          </a:p>
        </p:txBody>
      </p:sp>
      <p:sp>
        <p:nvSpPr>
          <p:cNvPr id="8" name="Shape 6"/>
          <p:cNvSpPr/>
          <p:nvPr/>
        </p:nvSpPr>
        <p:spPr>
          <a:xfrm>
            <a:off x="4405842" y="1882775"/>
            <a:ext cx="3380317" cy="2489729"/>
          </a:xfrm>
          <a:prstGeom prst="roundRect">
            <a:avLst>
              <a:gd name="adj" fmla="val 4973"/>
            </a:avLst>
          </a:prstGeom>
          <a:solidFill>
            <a:srgbClr val="FCFDFF"/>
          </a:solidFill>
          <a:ln w="6350">
            <a:solidFill>
              <a:srgbClr val="DCE3EE"/>
            </a:solidFill>
            <a:prstDash val="solid"/>
          </a:ln>
        </p:spPr>
      </p:sp>
      <p:sp>
        <p:nvSpPr>
          <p:cNvPr id="9" name="Text 7"/>
          <p:cNvSpPr/>
          <p:nvPr/>
        </p:nvSpPr>
        <p:spPr>
          <a:xfrm>
            <a:off x="4663758" y="2140691"/>
            <a:ext cx="2950420"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0D2046"/>
                </a:solidFill>
                <a:latin typeface="Arial" pitchFamily="34" charset="0"/>
                <a:ea typeface="Arial" pitchFamily="34" charset="-122"/>
                <a:cs typeface="Arial" pitchFamily="34" charset="-120"/>
              </a:rPr>
              <a:t>Gestionnaire</a:t>
            </a:r>
            <a:endParaRPr lang="en-US" sz="2200" dirty="0"/>
          </a:p>
        </p:txBody>
      </p:sp>
      <p:sp>
        <p:nvSpPr>
          <p:cNvPr id="10" name="Text 8"/>
          <p:cNvSpPr/>
          <p:nvPr/>
        </p:nvSpPr>
        <p:spPr>
          <a:xfrm>
            <a:off x="4663758" y="2552170"/>
            <a:ext cx="2950420"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B85A12"/>
                </a:solidFill>
                <a:latin typeface="Arial" pitchFamily="34" charset="0"/>
                <a:ea typeface="Arial" pitchFamily="34" charset="-122"/>
                <a:cs typeface="Arial" pitchFamily="34" charset="-120"/>
              </a:rPr>
              <a:t>Zéro ou un</a:t>
            </a:r>
            <a:endParaRPr lang="en-US" sz="1300" dirty="0"/>
          </a:p>
        </p:txBody>
      </p:sp>
      <p:sp>
        <p:nvSpPr>
          <p:cNvPr id="11" name="Text 9"/>
          <p:cNvSpPr/>
          <p:nvPr/>
        </p:nvSpPr>
        <p:spPr>
          <a:xfrm>
            <a:off x="4761040" y="2859512"/>
            <a:ext cx="2845518" cy="1280477"/>
          </a:xfrm>
          <a:prstGeom prst="rect">
            <a:avLst/>
          </a:prstGeom>
          <a:noFill/>
          <a:ln/>
        </p:spPr>
        <p:txBody>
          <a:bodyPr wrap="square" lIns="0" tIns="0" rIns="0" bIns="0" rtlCol="0" anchor="t">
            <a:normAutofit/>
          </a:bodyPr>
          <a:lstStyle/>
          <a:p>
            <a:pPr algn="l" marL="156718" indent="-156718">
              <a:lnSpc>
                <a:spcPts val="1960"/>
              </a:lnSpc>
              <a:buSzPct val="100000"/>
              <a:buChar char="•"/>
            </a:pPr>
            <a:r>
              <a:rPr lang="en-US" sz="1400" dirty="0">
                <a:solidFill>
                  <a:srgbClr val="46526B"/>
                </a:solidFill>
                <a:latin typeface="Arial" pitchFamily="34" charset="0"/>
                <a:ea typeface="Arial" pitchFamily="34" charset="-122"/>
                <a:cs typeface="Arial" pitchFamily="34" charset="-120"/>
              </a:rPr>
              <a:t>Tient l'inventaire et les catégories</a:t>
            </a:r>
            <a:endParaRPr lang="en-US" sz="1400" dirty="0"/>
          </a:p>
          <a:p>
            <a:pPr algn="l" marL="156718" indent="-156718">
              <a:lnSpc>
                <a:spcPts val="1960"/>
              </a:lnSpc>
              <a:buSzPct val="100000"/>
              <a:buChar char="•"/>
            </a:pPr>
            <a:r>
              <a:rPr lang="en-US" sz="1400" dirty="0">
                <a:solidFill>
                  <a:srgbClr val="46526B"/>
                </a:solidFill>
                <a:latin typeface="Arial" pitchFamily="34" charset="0"/>
                <a:ea typeface="Arial" pitchFamily="34" charset="-122"/>
                <a:cs typeface="Arial" pitchFamily="34" charset="-120"/>
              </a:rPr>
              <a:t>Exporte l'inventaire en Excel ou PDF</a:t>
            </a:r>
            <a:endParaRPr lang="en-US" sz="1400" dirty="0"/>
          </a:p>
          <a:p>
            <a:pPr algn="l" marL="156718" indent="-156718">
              <a:lnSpc>
                <a:spcPts val="1960"/>
              </a:lnSpc>
              <a:buSzPct val="100000"/>
              <a:buChar char="•"/>
            </a:pPr>
            <a:r>
              <a:rPr lang="en-US" sz="1400" dirty="0">
                <a:solidFill>
                  <a:srgbClr val="46526B"/>
                </a:solidFill>
                <a:latin typeface="Arial" pitchFamily="34" charset="0"/>
                <a:ea typeface="Arial" pitchFamily="34" charset="-122"/>
                <a:cs typeface="Arial" pitchFamily="34" charset="-120"/>
              </a:rPr>
              <a:t>Aucun accès aux projets</a:t>
            </a:r>
            <a:endParaRPr lang="en-US" sz="1400" dirty="0"/>
          </a:p>
        </p:txBody>
      </p:sp>
      <p:sp>
        <p:nvSpPr>
          <p:cNvPr id="12" name="Shape 10"/>
          <p:cNvSpPr/>
          <p:nvPr/>
        </p:nvSpPr>
        <p:spPr>
          <a:xfrm>
            <a:off x="7995708" y="1882775"/>
            <a:ext cx="3380317" cy="2489729"/>
          </a:xfrm>
          <a:prstGeom prst="roundRect">
            <a:avLst>
              <a:gd name="adj" fmla="val 4973"/>
            </a:avLst>
          </a:prstGeom>
          <a:solidFill>
            <a:srgbClr val="FCFDFF"/>
          </a:solidFill>
          <a:ln w="6350">
            <a:solidFill>
              <a:srgbClr val="DCE3EE"/>
            </a:solidFill>
            <a:prstDash val="solid"/>
          </a:ln>
        </p:spPr>
      </p:sp>
      <p:sp>
        <p:nvSpPr>
          <p:cNvPr id="13" name="Text 11"/>
          <p:cNvSpPr/>
          <p:nvPr/>
        </p:nvSpPr>
        <p:spPr>
          <a:xfrm>
            <a:off x="8253624" y="2140691"/>
            <a:ext cx="2950419"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0D2046"/>
                </a:solidFill>
                <a:latin typeface="Arial" pitchFamily="34" charset="0"/>
                <a:ea typeface="Arial" pitchFamily="34" charset="-122"/>
                <a:cs typeface="Arial" pitchFamily="34" charset="-120"/>
              </a:rPr>
              <a:t>Utilisateur</a:t>
            </a:r>
            <a:endParaRPr lang="en-US" sz="2200" dirty="0"/>
          </a:p>
        </p:txBody>
      </p:sp>
      <p:sp>
        <p:nvSpPr>
          <p:cNvPr id="14" name="Text 12"/>
          <p:cNvSpPr/>
          <p:nvPr/>
        </p:nvSpPr>
        <p:spPr>
          <a:xfrm>
            <a:off x="8253624" y="2552170"/>
            <a:ext cx="2950419"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F55CC"/>
                </a:solidFill>
                <a:latin typeface="Arial" pitchFamily="34" charset="0"/>
                <a:ea typeface="Arial" pitchFamily="34" charset="-122"/>
                <a:cs typeface="Arial" pitchFamily="34" charset="-120"/>
              </a:rPr>
              <a:t>Créé à sa première connexion</a:t>
            </a:r>
            <a:endParaRPr lang="en-US" sz="1300" dirty="0"/>
          </a:p>
        </p:txBody>
      </p:sp>
      <p:sp>
        <p:nvSpPr>
          <p:cNvPr id="15" name="Text 13"/>
          <p:cNvSpPr/>
          <p:nvPr/>
        </p:nvSpPr>
        <p:spPr>
          <a:xfrm>
            <a:off x="8350906" y="2859512"/>
            <a:ext cx="2845517" cy="1280477"/>
          </a:xfrm>
          <a:prstGeom prst="rect">
            <a:avLst/>
          </a:prstGeom>
          <a:noFill/>
          <a:ln/>
        </p:spPr>
        <p:txBody>
          <a:bodyPr wrap="square" lIns="0" tIns="0" rIns="0" bIns="0" rtlCol="0" anchor="t">
            <a:normAutofit/>
          </a:bodyPr>
          <a:lstStyle/>
          <a:p>
            <a:pPr algn="l" marL="156718" indent="-156718">
              <a:lnSpc>
                <a:spcPts val="1960"/>
              </a:lnSpc>
              <a:buSzPct val="100000"/>
              <a:buChar char="•"/>
            </a:pPr>
            <a:r>
              <a:rPr lang="en-US" sz="1400" dirty="0">
                <a:solidFill>
                  <a:srgbClr val="46526B"/>
                </a:solidFill>
                <a:latin typeface="Arial" pitchFamily="34" charset="0"/>
                <a:ea typeface="Arial" pitchFamily="34" charset="-122"/>
                <a:cs typeface="Arial" pitchFamily="34" charset="-120"/>
              </a:rPr>
              <a:t>Consulte l'inventaire actif</a:t>
            </a:r>
            <a:endParaRPr lang="en-US" sz="1400" dirty="0"/>
          </a:p>
          <a:p>
            <a:pPr algn="l" marL="156718" indent="-156718">
              <a:lnSpc>
                <a:spcPts val="1960"/>
              </a:lnSpc>
              <a:buSzPct val="100000"/>
              <a:buChar char="•"/>
            </a:pPr>
            <a:r>
              <a:rPr lang="en-US" sz="1400" dirty="0">
                <a:solidFill>
                  <a:srgbClr val="46526B"/>
                </a:solidFill>
                <a:latin typeface="Arial" pitchFamily="34" charset="0"/>
                <a:ea typeface="Arial" pitchFamily="34" charset="-122"/>
                <a:cs typeface="Arial" pitchFamily="34" charset="-120"/>
              </a:rPr>
              <a:t>Crée des projets, réserve du matériel</a:t>
            </a:r>
            <a:endParaRPr lang="en-US" sz="1400" dirty="0"/>
          </a:p>
          <a:p>
            <a:pPr algn="l" marL="156718" indent="-156718">
              <a:lnSpc>
                <a:spcPts val="1960"/>
              </a:lnSpc>
              <a:buSzPct val="100000"/>
              <a:buChar char="•"/>
            </a:pPr>
            <a:r>
              <a:rPr lang="en-US" sz="1400" dirty="0">
                <a:solidFill>
                  <a:srgbClr val="46526B"/>
                </a:solidFill>
                <a:latin typeface="Arial" pitchFamily="34" charset="0"/>
                <a:ea typeface="Arial" pitchFamily="34" charset="-122"/>
                <a:cs typeface="Arial" pitchFamily="34" charset="-120"/>
              </a:rPr>
              <a:t>Selon le projet : responsable, membre ou simple</a:t>
            </a:r>
            <a:endParaRPr lang="en-US" sz="1400" dirty="0"/>
          </a:p>
        </p:txBody>
      </p:sp>
      <p:sp>
        <p:nvSpPr>
          <p:cNvPr id="16" name="Text 14"/>
          <p:cNvSpPr/>
          <p:nvPr/>
        </p:nvSpPr>
        <p:spPr>
          <a:xfrm>
            <a:off x="812800" y="4680480"/>
            <a:ext cx="10566400" cy="571500"/>
          </a:xfrm>
          <a:prstGeom prst="roundRect">
            <a:avLst>
              <a:gd name="adj" fmla="val 17778"/>
            </a:avLst>
          </a:prstGeom>
          <a:solidFill>
            <a:srgbClr val="EAF1FF"/>
          </a:solidFill>
          <a:ln/>
        </p:spPr>
        <p:txBody>
          <a:bodyPr wrap="square" lIns="173442" tIns="122642" rIns="0" bIns="97242" rtlCol="0" anchor="t">
            <a:normAutofit/>
          </a:bodyPr>
          <a:lstStyle/>
          <a:p>
            <a:pPr algn="l" indent="0" marL="0">
              <a:lnSpc>
                <a:spcPts val="2100"/>
              </a:lnSpc>
              <a:buNone/>
            </a:pPr>
            <a:r>
              <a:rPr lang="en-US" sz="1500" b="1" dirty="0">
                <a:solidFill>
                  <a:srgbClr val="0D2046"/>
                </a:solidFill>
                <a:latin typeface="Arial" pitchFamily="34" charset="0"/>
                <a:ea typeface="Arial" pitchFamily="34" charset="-122"/>
                <a:cs typeface="Arial" pitchFamily="34" charset="-120"/>
              </a:rPr>
              <a:t>Les droits sont vérifiés par l'API à chaque requête</a:t>
            </a:r>
            <a:r>
              <a:rPr lang="en-US" sz="1500" dirty="0">
                <a:solidFill>
                  <a:srgbClr val="0D2046"/>
                </a:solidFill>
                <a:latin typeface="Arial" pitchFamily="34" charset="0"/>
                <a:ea typeface="Arial" pitchFamily="34" charset="-122"/>
                <a:cs typeface="Arial" pitchFamily="34" charset="-120"/>
              </a:rPr>
              <a:t> : cacher un bouton ne suffit pas.</a:t>
            </a:r>
            <a:endParaRPr lang="en-US" sz="1500" dirty="0"/>
          </a:p>
        </p:txBody>
      </p:sp>
      <p:sp>
        <p:nvSpPr>
          <p:cNvPr id="17" name="Text 15"/>
          <p:cNvSpPr/>
          <p:nvPr/>
        </p:nvSpPr>
        <p:spPr>
          <a:xfrm>
            <a:off x="812800" y="6238239"/>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28A"/>
                </a:solidFill>
                <a:latin typeface="Arial" pitchFamily="34" charset="0"/>
                <a:ea typeface="Arial" pitchFamily="34" charset="-122"/>
                <a:cs typeface="Arial" pitchFamily="34" charset="-120"/>
              </a:rPr>
              <a:t>SUIVI · Présentation WD12</a:t>
            </a:r>
            <a:endParaRPr lang="en-US" sz="1200" dirty="0"/>
          </a:p>
        </p:txBody>
      </p:sp>
      <p:sp>
        <p:nvSpPr>
          <p:cNvPr id="18" name="Text 16"/>
          <p:cNvSpPr/>
          <p:nvPr/>
        </p:nvSpPr>
        <p:spPr>
          <a:xfrm>
            <a:off x="10058400" y="6238239"/>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6728A"/>
                </a:solidFill>
                <a:latin typeface="Arial" pitchFamily="34" charset="0"/>
                <a:ea typeface="Arial" pitchFamily="34" charset="-122"/>
                <a:cs typeface="Arial" pitchFamily="34" charset="-120"/>
              </a:rPr>
              <a:t>07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204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8FB0FF"/>
                </a:solidFill>
                <a:latin typeface="Arial" pitchFamily="34" charset="0"/>
                <a:ea typeface="Arial" pitchFamily="34" charset="-122"/>
                <a:cs typeface="Arial" pitchFamily="34" charset="-120"/>
              </a:rPr>
              <a:t>DÉMONSTRATION · 8 MIN 30</a:t>
            </a:r>
            <a:endParaRPr lang="en-US" sz="1200" dirty="0"/>
          </a:p>
        </p:txBody>
      </p:sp>
      <p:sp>
        <p:nvSpPr>
          <p:cNvPr id="3" name="Text 1"/>
          <p:cNvSpPr/>
          <p:nvPr>
            <p:ph type="title"/>
          </p:nvPr>
        </p:nvSpPr>
        <p:spPr>
          <a:xfrm>
            <a:off x="812800" y="112776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4F7FB"/>
                </a:solidFill>
                <a:latin typeface="Arial" pitchFamily="34" charset="0"/>
                <a:ea typeface="Arial" pitchFamily="34" charset="-122"/>
                <a:cs typeface="Arial" pitchFamily="34" charset="-120"/>
              </a:rPr>
              <a:t>Un appareil, un projet, du début à la fin</a:t>
            </a:r>
            <a:endParaRPr lang="en-US" sz="3200" dirty="0"/>
          </a:p>
        </p:txBody>
      </p:sp>
      <p:sp>
        <p:nvSpPr>
          <p:cNvPr id="4" name="Text 2"/>
          <p:cNvSpPr/>
          <p:nvPr/>
        </p:nvSpPr>
        <p:spPr>
          <a:xfrm>
            <a:off x="812800" y="1676400"/>
            <a:ext cx="10883392"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C9D6EE"/>
                </a:solidFill>
                <a:latin typeface="Arial" pitchFamily="34" charset="0"/>
                <a:ea typeface="Arial" pitchFamily="34" charset="-122"/>
                <a:cs typeface="Arial" pitchFamily="34" charset="-120"/>
              </a:rPr>
              <a:t>Le labo reçoit un analyseur de spectre. Une équipe le réserve pour sa campagne de mesures. Le projet se termine, l'appareil redevient libre.</a:t>
            </a:r>
            <a:endParaRPr lang="en-US" sz="1500" dirty="0"/>
          </a:p>
        </p:txBody>
      </p:sp>
      <p:sp>
        <p:nvSpPr>
          <p:cNvPr id="5" name="Shape 3"/>
          <p:cNvSpPr/>
          <p:nvPr/>
        </p:nvSpPr>
        <p:spPr>
          <a:xfrm>
            <a:off x="812800" y="2514600"/>
            <a:ext cx="2489200" cy="1774296"/>
          </a:xfrm>
          <a:prstGeom prst="roundRect">
            <a:avLst>
              <a:gd name="adj" fmla="val 5726"/>
            </a:avLst>
          </a:prstGeom>
          <a:solidFill>
            <a:srgbClr val="16305C"/>
          </a:solidFill>
          <a:ln/>
        </p:spPr>
      </p:sp>
      <p:sp>
        <p:nvSpPr>
          <p:cNvPr id="6" name="Shape 4"/>
          <p:cNvSpPr/>
          <p:nvPr/>
        </p:nvSpPr>
        <p:spPr>
          <a:xfrm>
            <a:off x="812800" y="2514600"/>
            <a:ext cx="2489200" cy="1774296"/>
          </a:xfrm>
          <a:custGeom>
            <a:avLst/>
            <a:gdLst/>
            <a:ahLst/>
            <a:cxnLst/>
            <a:rect l="l" t="t" r="r" b="b"/>
            <a:pathLst>
              <a:path w="2489200" h="1774296">
                <a:moveTo>
                  <a:pt x="0" y="101600"/>
                </a:moveTo>
                <a:lnTo>
                  <a:pt x="0" y="101600"/>
                </a:lnTo>
                <a:arcTo hR="101600" wR="101600" stAng="10800000" swAng="5400000"/>
                <a:lnTo>
                  <a:pt x="2387600" y="0"/>
                </a:lnTo>
                <a:arcTo hR="101600" wR="101600" stAng="16200000" swAng="5400000"/>
                <a:lnTo>
                  <a:pt x="2489200" y="101600"/>
                </a:lnTo>
                <a:arcTo hR="50800" wR="101600" stAng="0" swAng="-5400000"/>
                <a:lnTo>
                  <a:pt x="101600" y="50800"/>
                </a:lnTo>
                <a:arcTo hR="50800" wR="101600" stAng="16200000" swAng="-5400000"/>
                <a:close/>
              </a:path>
            </a:pathLst>
          </a:custGeom>
          <a:solidFill>
            <a:srgbClr val="F2A35E"/>
          </a:solidFill>
          <a:ln/>
        </p:spPr>
      </p:sp>
      <p:sp>
        <p:nvSpPr>
          <p:cNvPr id="7" name="Text 5"/>
          <p:cNvSpPr/>
          <p:nvPr/>
        </p:nvSpPr>
        <p:spPr>
          <a:xfrm>
            <a:off x="1016000" y="2767437"/>
            <a:ext cx="2145284"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2A35E"/>
                </a:solidFill>
                <a:latin typeface="Arial" pitchFamily="34" charset="0"/>
                <a:ea typeface="Arial" pitchFamily="34" charset="-122"/>
                <a:cs typeface="Arial" pitchFamily="34" charset="-120"/>
              </a:rPr>
              <a:t>ACTE 1 · NOM 1</a:t>
            </a:r>
            <a:endParaRPr lang="en-US" sz="1200" dirty="0"/>
          </a:p>
        </p:txBody>
      </p:sp>
      <p:sp>
        <p:nvSpPr>
          <p:cNvPr id="8" name="Text 6"/>
          <p:cNvSpPr/>
          <p:nvPr/>
        </p:nvSpPr>
        <p:spPr>
          <a:xfrm>
            <a:off x="1016000" y="3056995"/>
            <a:ext cx="2145284"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F4F7FB"/>
                </a:solidFill>
                <a:latin typeface="Arial" pitchFamily="34" charset="0"/>
                <a:ea typeface="Arial" pitchFamily="34" charset="-122"/>
                <a:cs typeface="Arial" pitchFamily="34" charset="-120"/>
              </a:rPr>
              <a:t>Gestionnaire</a:t>
            </a:r>
            <a:endParaRPr lang="en-US" sz="1700" dirty="0"/>
          </a:p>
        </p:txBody>
      </p:sp>
      <p:sp>
        <p:nvSpPr>
          <p:cNvPr id="9" name="Text 7"/>
          <p:cNvSpPr/>
          <p:nvPr/>
        </p:nvSpPr>
        <p:spPr>
          <a:xfrm>
            <a:off x="1016000" y="3392277"/>
            <a:ext cx="2145284"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D6EE"/>
                </a:solidFill>
                <a:latin typeface="Arial" pitchFamily="34" charset="0"/>
                <a:ea typeface="Arial" pitchFamily="34" charset="-122"/>
                <a:cs typeface="Arial" pitchFamily="34" charset="-120"/>
              </a:rPr>
              <a:t>Ajoute l'analyseur, joint sa facture, exporte l'inventaire.</a:t>
            </a:r>
            <a:endParaRPr lang="en-US" sz="1300" dirty="0"/>
          </a:p>
        </p:txBody>
      </p:sp>
      <p:sp>
        <p:nvSpPr>
          <p:cNvPr id="10" name="Shape 8"/>
          <p:cNvSpPr/>
          <p:nvPr/>
        </p:nvSpPr>
        <p:spPr>
          <a:xfrm>
            <a:off x="3505200" y="2514600"/>
            <a:ext cx="2489200" cy="1774296"/>
          </a:xfrm>
          <a:prstGeom prst="roundRect">
            <a:avLst>
              <a:gd name="adj" fmla="val 5726"/>
            </a:avLst>
          </a:prstGeom>
          <a:solidFill>
            <a:srgbClr val="16305C"/>
          </a:solidFill>
          <a:ln/>
        </p:spPr>
      </p:sp>
      <p:sp>
        <p:nvSpPr>
          <p:cNvPr id="11" name="Shape 9"/>
          <p:cNvSpPr/>
          <p:nvPr/>
        </p:nvSpPr>
        <p:spPr>
          <a:xfrm>
            <a:off x="3505200" y="2514600"/>
            <a:ext cx="2489200" cy="1774296"/>
          </a:xfrm>
          <a:custGeom>
            <a:avLst/>
            <a:gdLst/>
            <a:ahLst/>
            <a:cxnLst/>
            <a:rect l="l" t="t" r="r" b="b"/>
            <a:pathLst>
              <a:path w="2489200" h="1774296">
                <a:moveTo>
                  <a:pt x="0" y="101600"/>
                </a:moveTo>
                <a:lnTo>
                  <a:pt x="0" y="101600"/>
                </a:lnTo>
                <a:arcTo hR="101600" wR="101600" stAng="10800000" swAng="5400000"/>
                <a:lnTo>
                  <a:pt x="2387600" y="0"/>
                </a:lnTo>
                <a:arcTo hR="101600" wR="101600" stAng="16200000" swAng="5400000"/>
                <a:lnTo>
                  <a:pt x="2489200" y="101600"/>
                </a:lnTo>
                <a:arcTo hR="50800" wR="101600" stAng="0" swAng="-5400000"/>
                <a:lnTo>
                  <a:pt x="101600" y="50800"/>
                </a:lnTo>
                <a:arcTo hR="50800" wR="101600" stAng="16200000" swAng="-5400000"/>
                <a:close/>
              </a:path>
            </a:pathLst>
          </a:custGeom>
          <a:solidFill>
            <a:srgbClr val="8FB0FF"/>
          </a:solidFill>
          <a:ln/>
        </p:spPr>
      </p:sp>
      <p:sp>
        <p:nvSpPr>
          <p:cNvPr id="12" name="Text 10"/>
          <p:cNvSpPr/>
          <p:nvPr/>
        </p:nvSpPr>
        <p:spPr>
          <a:xfrm>
            <a:off x="3708400" y="2767437"/>
            <a:ext cx="2145284"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8FB0FF"/>
                </a:solidFill>
                <a:latin typeface="Arial" pitchFamily="34" charset="0"/>
                <a:ea typeface="Arial" pitchFamily="34" charset="-122"/>
                <a:cs typeface="Arial" pitchFamily="34" charset="-120"/>
              </a:rPr>
              <a:t>ACTE 2 · NOM 2</a:t>
            </a:r>
            <a:endParaRPr lang="en-US" sz="1200" dirty="0"/>
          </a:p>
        </p:txBody>
      </p:sp>
      <p:sp>
        <p:nvSpPr>
          <p:cNvPr id="13" name="Text 11"/>
          <p:cNvSpPr/>
          <p:nvPr/>
        </p:nvSpPr>
        <p:spPr>
          <a:xfrm>
            <a:off x="3708400" y="3056995"/>
            <a:ext cx="2145284"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F4F7FB"/>
                </a:solidFill>
                <a:latin typeface="Arial" pitchFamily="34" charset="0"/>
                <a:ea typeface="Arial" pitchFamily="34" charset="-122"/>
                <a:cs typeface="Arial" pitchFamily="34" charset="-120"/>
              </a:rPr>
              <a:t>Responsable</a:t>
            </a:r>
            <a:endParaRPr lang="en-US" sz="1700" dirty="0"/>
          </a:p>
        </p:txBody>
      </p:sp>
      <p:sp>
        <p:nvSpPr>
          <p:cNvPr id="14" name="Text 12"/>
          <p:cNvSpPr/>
          <p:nvPr/>
        </p:nvSpPr>
        <p:spPr>
          <a:xfrm>
            <a:off x="3708400" y="3392277"/>
            <a:ext cx="2145284" cy="7188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D6EE"/>
                </a:solidFill>
                <a:latin typeface="Arial" pitchFamily="34" charset="0"/>
                <a:ea typeface="Arial" pitchFamily="34" charset="-122"/>
                <a:cs typeface="Arial" pitchFamily="34" charset="-120"/>
              </a:rPr>
              <a:t>Ajoute un membre, fait avancer le Kanban, exporte la doc.</a:t>
            </a:r>
            <a:endParaRPr lang="en-US" sz="1300" dirty="0"/>
          </a:p>
        </p:txBody>
      </p:sp>
      <p:sp>
        <p:nvSpPr>
          <p:cNvPr id="15" name="Shape 13"/>
          <p:cNvSpPr/>
          <p:nvPr/>
        </p:nvSpPr>
        <p:spPr>
          <a:xfrm>
            <a:off x="6197600" y="2514600"/>
            <a:ext cx="2489200" cy="1774296"/>
          </a:xfrm>
          <a:prstGeom prst="roundRect">
            <a:avLst>
              <a:gd name="adj" fmla="val 5726"/>
            </a:avLst>
          </a:prstGeom>
          <a:solidFill>
            <a:srgbClr val="16305C"/>
          </a:solidFill>
          <a:ln/>
        </p:spPr>
      </p:sp>
      <p:sp>
        <p:nvSpPr>
          <p:cNvPr id="16" name="Shape 14"/>
          <p:cNvSpPr/>
          <p:nvPr/>
        </p:nvSpPr>
        <p:spPr>
          <a:xfrm>
            <a:off x="6197600" y="2514600"/>
            <a:ext cx="2489200" cy="1774296"/>
          </a:xfrm>
          <a:custGeom>
            <a:avLst/>
            <a:gdLst/>
            <a:ahLst/>
            <a:cxnLst/>
            <a:rect l="l" t="t" r="r" b="b"/>
            <a:pathLst>
              <a:path w="2489200" h="1774296">
                <a:moveTo>
                  <a:pt x="0" y="101600"/>
                </a:moveTo>
                <a:lnTo>
                  <a:pt x="0" y="101600"/>
                </a:lnTo>
                <a:arcTo hR="101600" wR="101600" stAng="10800000" swAng="5400000"/>
                <a:lnTo>
                  <a:pt x="2387600" y="0"/>
                </a:lnTo>
                <a:arcTo hR="101600" wR="101600" stAng="16200000" swAng="5400000"/>
                <a:lnTo>
                  <a:pt x="2489200" y="101600"/>
                </a:lnTo>
                <a:arcTo hR="50800" wR="101600" stAng="0" swAng="-5400000"/>
                <a:lnTo>
                  <a:pt x="101600" y="50800"/>
                </a:lnTo>
                <a:arcTo hR="50800" wR="101600" stAng="16200000" swAng="-5400000"/>
                <a:close/>
              </a:path>
            </a:pathLst>
          </a:custGeom>
          <a:solidFill>
            <a:srgbClr val="5FD39B"/>
          </a:solidFill>
          <a:ln/>
        </p:spPr>
      </p:sp>
      <p:sp>
        <p:nvSpPr>
          <p:cNvPr id="17" name="Text 15"/>
          <p:cNvSpPr/>
          <p:nvPr/>
        </p:nvSpPr>
        <p:spPr>
          <a:xfrm>
            <a:off x="6400800" y="2767437"/>
            <a:ext cx="2145284"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FD39B"/>
                </a:solidFill>
                <a:latin typeface="Arial" pitchFamily="34" charset="0"/>
                <a:ea typeface="Arial" pitchFamily="34" charset="-122"/>
                <a:cs typeface="Arial" pitchFamily="34" charset="-120"/>
              </a:rPr>
              <a:t>ACTE 3 · NOM 3</a:t>
            </a:r>
            <a:endParaRPr lang="en-US" sz="1200" dirty="0"/>
          </a:p>
        </p:txBody>
      </p:sp>
      <p:sp>
        <p:nvSpPr>
          <p:cNvPr id="18" name="Text 16"/>
          <p:cNvSpPr/>
          <p:nvPr/>
        </p:nvSpPr>
        <p:spPr>
          <a:xfrm>
            <a:off x="6400800" y="3056995"/>
            <a:ext cx="2145284"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F4F7FB"/>
                </a:solidFill>
                <a:latin typeface="Arial" pitchFamily="34" charset="0"/>
                <a:ea typeface="Arial" pitchFamily="34" charset="-122"/>
                <a:cs typeface="Arial" pitchFamily="34" charset="-120"/>
              </a:rPr>
              <a:t>Membre</a:t>
            </a:r>
            <a:endParaRPr lang="en-US" sz="1700" dirty="0"/>
          </a:p>
        </p:txBody>
      </p:sp>
      <p:sp>
        <p:nvSpPr>
          <p:cNvPr id="19" name="Text 17"/>
          <p:cNvSpPr/>
          <p:nvPr/>
        </p:nvSpPr>
        <p:spPr>
          <a:xfrm>
            <a:off x="6400800" y="3392277"/>
            <a:ext cx="2145284" cy="7188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D6EE"/>
                </a:solidFill>
                <a:latin typeface="Arial" pitchFamily="34" charset="0"/>
                <a:ea typeface="Arial" pitchFamily="34" charset="-122"/>
                <a:cs typeface="Arial" pitchFamily="34" charset="-120"/>
              </a:rPr>
              <a:t>Réserve, se fait refuser un chevauchement, ouvre le calendrier.</a:t>
            </a:r>
            <a:endParaRPr lang="en-US" sz="1300" dirty="0"/>
          </a:p>
        </p:txBody>
      </p:sp>
      <p:sp>
        <p:nvSpPr>
          <p:cNvPr id="20" name="Shape 18"/>
          <p:cNvSpPr/>
          <p:nvPr/>
        </p:nvSpPr>
        <p:spPr>
          <a:xfrm>
            <a:off x="8890000" y="2514600"/>
            <a:ext cx="2489200" cy="1774296"/>
          </a:xfrm>
          <a:prstGeom prst="roundRect">
            <a:avLst>
              <a:gd name="adj" fmla="val 5726"/>
            </a:avLst>
          </a:prstGeom>
          <a:solidFill>
            <a:srgbClr val="16305C"/>
          </a:solidFill>
          <a:ln/>
        </p:spPr>
      </p:sp>
      <p:sp>
        <p:nvSpPr>
          <p:cNvPr id="21" name="Shape 19"/>
          <p:cNvSpPr/>
          <p:nvPr/>
        </p:nvSpPr>
        <p:spPr>
          <a:xfrm>
            <a:off x="8890000" y="2514600"/>
            <a:ext cx="2489200" cy="1774296"/>
          </a:xfrm>
          <a:custGeom>
            <a:avLst/>
            <a:gdLst/>
            <a:ahLst/>
            <a:cxnLst/>
            <a:rect l="l" t="t" r="r" b="b"/>
            <a:pathLst>
              <a:path w="2489200" h="1774296">
                <a:moveTo>
                  <a:pt x="0" y="101600"/>
                </a:moveTo>
                <a:lnTo>
                  <a:pt x="0" y="101600"/>
                </a:lnTo>
                <a:arcTo hR="101600" wR="101600" stAng="10800000" swAng="5400000"/>
                <a:lnTo>
                  <a:pt x="2387600" y="0"/>
                </a:lnTo>
                <a:arcTo hR="101600" wR="101600" stAng="16200000" swAng="5400000"/>
                <a:lnTo>
                  <a:pt x="2489200" y="101600"/>
                </a:lnTo>
                <a:arcTo hR="50800" wR="101600" stAng="0" swAng="-5400000"/>
                <a:lnTo>
                  <a:pt x="101600" y="50800"/>
                </a:lnTo>
                <a:arcTo hR="50800" wR="101600" stAng="16200000" swAng="-5400000"/>
                <a:close/>
              </a:path>
            </a:pathLst>
          </a:custGeom>
          <a:solidFill>
            <a:srgbClr val="B9A0F5"/>
          </a:solidFill>
          <a:ln/>
        </p:spPr>
      </p:sp>
      <p:sp>
        <p:nvSpPr>
          <p:cNvPr id="22" name="Text 20"/>
          <p:cNvSpPr/>
          <p:nvPr/>
        </p:nvSpPr>
        <p:spPr>
          <a:xfrm>
            <a:off x="9093200" y="2767437"/>
            <a:ext cx="2145284"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9A0F5"/>
                </a:solidFill>
                <a:latin typeface="Arial" pitchFamily="34" charset="0"/>
                <a:ea typeface="Arial" pitchFamily="34" charset="-122"/>
                <a:cs typeface="Arial" pitchFamily="34" charset="-120"/>
              </a:rPr>
              <a:t>ACTE 4 · NOM 4</a:t>
            </a:r>
            <a:endParaRPr lang="en-US" sz="1200" dirty="0"/>
          </a:p>
        </p:txBody>
      </p:sp>
      <p:sp>
        <p:nvSpPr>
          <p:cNvPr id="23" name="Text 21"/>
          <p:cNvSpPr/>
          <p:nvPr/>
        </p:nvSpPr>
        <p:spPr>
          <a:xfrm>
            <a:off x="9093200" y="3056995"/>
            <a:ext cx="2145284"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F4F7FB"/>
                </a:solidFill>
                <a:latin typeface="Arial" pitchFamily="34" charset="0"/>
                <a:ea typeface="Arial" pitchFamily="34" charset="-122"/>
                <a:cs typeface="Arial" pitchFamily="34" charset="-120"/>
              </a:rPr>
              <a:t>Administrateur</a:t>
            </a:r>
            <a:endParaRPr lang="en-US" sz="1700" dirty="0"/>
          </a:p>
        </p:txBody>
      </p:sp>
      <p:sp>
        <p:nvSpPr>
          <p:cNvPr id="24" name="Text 22"/>
          <p:cNvSpPr/>
          <p:nvPr/>
        </p:nvSpPr>
        <p:spPr>
          <a:xfrm>
            <a:off x="9093200" y="3392277"/>
            <a:ext cx="2145284" cy="7188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D6EE"/>
                </a:solidFill>
                <a:latin typeface="Arial" pitchFamily="34" charset="0"/>
                <a:ea typeface="Arial" pitchFamily="34" charset="-122"/>
                <a:cs typeface="Arial" pitchFamily="34" charset="-120"/>
              </a:rPr>
              <a:t>Archive un matériel, l'équipe est prévenue, le projet se clôt seul.</a:t>
            </a:r>
            <a:endParaRPr lang="en-US" sz="1300" dirty="0"/>
          </a:p>
        </p:txBody>
      </p:sp>
      <p:sp>
        <p:nvSpPr>
          <p:cNvPr id="25" name="Text 23"/>
          <p:cNvSpPr/>
          <p:nvPr/>
        </p:nvSpPr>
        <p:spPr>
          <a:xfrm>
            <a:off x="812800" y="6238242"/>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FB1D1"/>
                </a:solidFill>
                <a:latin typeface="Arial" pitchFamily="34" charset="0"/>
                <a:ea typeface="Arial" pitchFamily="34" charset="-122"/>
                <a:cs typeface="Arial" pitchFamily="34" charset="-120"/>
              </a:rPr>
              <a:t>SUIVI · Présentation WD12</a:t>
            </a:r>
            <a:endParaRPr lang="en-US" sz="1200" dirty="0"/>
          </a:p>
        </p:txBody>
      </p:sp>
      <p:sp>
        <p:nvSpPr>
          <p:cNvPr id="26" name="Text 24"/>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9FB1D1"/>
                </a:solidFill>
                <a:latin typeface="Arial" pitchFamily="34" charset="0"/>
                <a:ea typeface="Arial" pitchFamily="34" charset="-122"/>
                <a:cs typeface="Arial" pitchFamily="34" charset="-120"/>
              </a:rPr>
              <a:t>08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864E8"/>
                </a:solidFill>
                <a:latin typeface="Arial" pitchFamily="34" charset="0"/>
                <a:ea typeface="Arial" pitchFamily="34" charset="-122"/>
                <a:cs typeface="Arial" pitchFamily="34" charset="-120"/>
              </a:rPr>
              <a:t>BILAN · NOM 4</a:t>
            </a:r>
            <a:endParaRPr lang="en-US" sz="1200" dirty="0"/>
          </a:p>
        </p:txBody>
      </p:sp>
      <p:sp>
        <p:nvSpPr>
          <p:cNvPr id="3" name="Text 1"/>
          <p:cNvSpPr/>
          <p:nvPr>
            <p:ph type="title"/>
          </p:nvPr>
        </p:nvSpPr>
        <p:spPr>
          <a:xfrm>
            <a:off x="812800" y="1127758"/>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0D2046"/>
                </a:solidFill>
                <a:latin typeface="Arial" pitchFamily="34" charset="0"/>
                <a:ea typeface="Arial" pitchFamily="34" charset="-122"/>
                <a:cs typeface="Arial" pitchFamily="34" charset="-120"/>
              </a:rPr>
              <a:t>Ce qui est vérifié, ce qui reste à faire</a:t>
            </a:r>
            <a:endParaRPr lang="en-US" sz="3200" dirty="0"/>
          </a:p>
        </p:txBody>
      </p:sp>
      <p:sp>
        <p:nvSpPr>
          <p:cNvPr id="4" name="Text 2"/>
          <p:cNvSpPr/>
          <p:nvPr/>
        </p:nvSpPr>
        <p:spPr>
          <a:xfrm>
            <a:off x="812800" y="1930400"/>
            <a:ext cx="1130300"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2864E8"/>
                </a:solidFill>
                <a:latin typeface="Arial" pitchFamily="34" charset="0"/>
                <a:ea typeface="Arial" pitchFamily="34" charset="-122"/>
                <a:cs typeface="Arial" pitchFamily="34" charset="-120"/>
              </a:rPr>
              <a:t>34</a:t>
            </a:r>
            <a:endParaRPr lang="en-US" sz="4800" dirty="0"/>
          </a:p>
        </p:txBody>
      </p:sp>
      <p:sp>
        <p:nvSpPr>
          <p:cNvPr id="5" name="Text 3"/>
          <p:cNvSpPr/>
          <p:nvPr/>
        </p:nvSpPr>
        <p:spPr>
          <a:xfrm>
            <a:off x="2095500" y="2110742"/>
            <a:ext cx="2893060"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D2046"/>
                </a:solidFill>
                <a:latin typeface="Arial" pitchFamily="34" charset="0"/>
                <a:ea typeface="Arial" pitchFamily="34" charset="-122"/>
                <a:cs typeface="Arial" pitchFamily="34" charset="-120"/>
              </a:rPr>
              <a:t>tests automatisés côté serveur</a:t>
            </a:r>
            <a:endParaRPr lang="en-US" sz="1400" dirty="0"/>
          </a:p>
        </p:txBody>
      </p:sp>
      <p:sp>
        <p:nvSpPr>
          <p:cNvPr id="6" name="Text 4"/>
          <p:cNvSpPr/>
          <p:nvPr/>
        </p:nvSpPr>
        <p:spPr>
          <a:xfrm>
            <a:off x="812800" y="2768600"/>
            <a:ext cx="1130300"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2864E8"/>
                </a:solidFill>
                <a:latin typeface="Arial" pitchFamily="34" charset="0"/>
                <a:ea typeface="Arial" pitchFamily="34" charset="-122"/>
                <a:cs typeface="Arial" pitchFamily="34" charset="-120"/>
              </a:rPr>
              <a:t>14</a:t>
            </a:r>
            <a:endParaRPr lang="en-US" sz="4800" dirty="0"/>
          </a:p>
        </p:txBody>
      </p:sp>
      <p:sp>
        <p:nvSpPr>
          <p:cNvPr id="7" name="Text 5"/>
          <p:cNvSpPr/>
          <p:nvPr/>
        </p:nvSpPr>
        <p:spPr>
          <a:xfrm>
            <a:off x="2095500" y="2948942"/>
            <a:ext cx="2999994"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D2046"/>
                </a:solidFill>
                <a:latin typeface="Arial" pitchFamily="34" charset="0"/>
                <a:ea typeface="Arial" pitchFamily="34" charset="-122"/>
                <a:cs typeface="Arial" pitchFamily="34" charset="-120"/>
              </a:rPr>
              <a:t>tests automatisés côté interface</a:t>
            </a:r>
            <a:endParaRPr lang="en-US" sz="1400" dirty="0"/>
          </a:p>
        </p:txBody>
      </p:sp>
      <p:sp>
        <p:nvSpPr>
          <p:cNvPr id="8" name="Text 6"/>
          <p:cNvSpPr/>
          <p:nvPr/>
        </p:nvSpPr>
        <p:spPr>
          <a:xfrm>
            <a:off x="812800" y="3606800"/>
            <a:ext cx="1130300"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2864E8"/>
                </a:solidFill>
                <a:latin typeface="Arial" pitchFamily="34" charset="0"/>
                <a:ea typeface="Arial" pitchFamily="34" charset="-122"/>
                <a:cs typeface="Arial" pitchFamily="34" charset="-120"/>
              </a:rPr>
              <a:t>5</a:t>
            </a:r>
            <a:endParaRPr lang="en-US" sz="4800" dirty="0"/>
          </a:p>
        </p:txBody>
      </p:sp>
      <p:sp>
        <p:nvSpPr>
          <p:cNvPr id="9" name="Text 7"/>
          <p:cNvSpPr/>
          <p:nvPr/>
        </p:nvSpPr>
        <p:spPr>
          <a:xfrm>
            <a:off x="2095500" y="3787142"/>
            <a:ext cx="3187700"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D2046"/>
                </a:solidFill>
                <a:latin typeface="Arial" pitchFamily="34" charset="0"/>
                <a:ea typeface="Arial" pitchFamily="34" charset="-122"/>
                <a:cs typeface="Arial" pitchFamily="34" charset="-120"/>
              </a:rPr>
              <a:t>sprints livrés, du socle aux exports</a:t>
            </a:r>
            <a:endParaRPr lang="en-US" sz="1400" dirty="0"/>
          </a:p>
        </p:txBody>
      </p:sp>
      <p:sp>
        <p:nvSpPr>
          <p:cNvPr id="10" name="Shape 8"/>
          <p:cNvSpPr/>
          <p:nvPr/>
        </p:nvSpPr>
        <p:spPr>
          <a:xfrm>
            <a:off x="5286375" y="1933575"/>
            <a:ext cx="6089650" cy="2279650"/>
          </a:xfrm>
          <a:prstGeom prst="roundRect">
            <a:avLst>
              <a:gd name="adj" fmla="val 5432"/>
            </a:avLst>
          </a:prstGeom>
          <a:solidFill>
            <a:srgbClr val="FCFDFF"/>
          </a:solidFill>
          <a:ln w="6350">
            <a:solidFill>
              <a:srgbClr val="DCE3EE"/>
            </a:solidFill>
            <a:prstDash val="solid"/>
          </a:ln>
        </p:spPr>
      </p:sp>
      <p:sp>
        <p:nvSpPr>
          <p:cNvPr id="11" name="Text 9"/>
          <p:cNvSpPr/>
          <p:nvPr/>
        </p:nvSpPr>
        <p:spPr>
          <a:xfrm>
            <a:off x="5544291" y="2191488"/>
            <a:ext cx="5741033"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D2046"/>
                </a:solidFill>
                <a:latin typeface="Arial" pitchFamily="34" charset="0"/>
                <a:ea typeface="Arial" pitchFamily="34" charset="-122"/>
                <a:cs typeface="Arial" pitchFamily="34" charset="-120"/>
              </a:rPr>
              <a:t>Limites assumées</a:t>
            </a:r>
            <a:endParaRPr lang="en-US" sz="1800" dirty="0"/>
          </a:p>
        </p:txBody>
      </p:sp>
      <p:sp>
        <p:nvSpPr>
          <p:cNvPr id="12" name="Text 10"/>
          <p:cNvSpPr/>
          <p:nvPr/>
        </p:nvSpPr>
        <p:spPr>
          <a:xfrm>
            <a:off x="5641573" y="2592809"/>
            <a:ext cx="5636131" cy="1376363"/>
          </a:xfrm>
          <a:prstGeom prst="rect">
            <a:avLst/>
          </a:prstGeom>
          <a:noFill/>
          <a:ln/>
        </p:spPr>
        <p:txBody>
          <a:bodyPr wrap="square" lIns="0" tIns="0" rIns="0" bIns="0" rtlCol="0" anchor="t">
            <a:normAutofit/>
          </a:bodyPr>
          <a:lstStyle/>
          <a:p>
            <a:pPr algn="l" marL="156718" indent="-156718">
              <a:lnSpc>
                <a:spcPts val="2100"/>
              </a:lnSpc>
              <a:buSzPct val="100000"/>
              <a:buChar char="•"/>
            </a:pPr>
            <a:r>
              <a:rPr lang="en-US" sz="1400" dirty="0">
                <a:solidFill>
                  <a:srgbClr val="46526B"/>
                </a:solidFill>
                <a:latin typeface="Arial" pitchFamily="34" charset="0"/>
                <a:ea typeface="Arial" pitchFamily="34" charset="-122"/>
                <a:cs typeface="Arial" pitchFamily="34" charset="-120"/>
              </a:rPr>
              <a:t>Connexion Intradef simulée dans le prototype</a:t>
            </a:r>
            <a:endParaRPr lang="en-US" sz="1400" dirty="0"/>
          </a:p>
          <a:p>
            <a:pPr algn="l" marL="156718" indent="-156718">
              <a:lnSpc>
                <a:spcPts val="2100"/>
              </a:lnSpc>
              <a:buSzPct val="100000"/>
              <a:buChar char="•"/>
            </a:pPr>
            <a:r>
              <a:rPr lang="en-US" sz="1400" dirty="0">
                <a:solidFill>
                  <a:srgbClr val="46526B"/>
                </a:solidFill>
                <a:latin typeface="Arial" pitchFamily="34" charset="0"/>
                <a:ea typeface="Arial" pitchFamily="34" charset="-122"/>
                <a:cs typeface="Arial" pitchFamily="34" charset="-120"/>
              </a:rPr>
              <a:t>Aucune fonction d'IA livrée, malgré le nom</a:t>
            </a:r>
            <a:endParaRPr lang="en-US" sz="1400" dirty="0"/>
          </a:p>
          <a:p>
            <a:pPr algn="l" marL="156718" indent="-156718">
              <a:lnSpc>
                <a:spcPts val="2100"/>
              </a:lnSpc>
              <a:buSzPct val="100000"/>
              <a:buChar char="•"/>
            </a:pPr>
            <a:r>
              <a:rPr lang="en-US" sz="1400" dirty="0">
                <a:solidFill>
                  <a:srgbClr val="46526B"/>
                </a:solidFill>
                <a:latin typeface="Arial" pitchFamily="34" charset="0"/>
                <a:ea typeface="Arial" pitchFamily="34" charset="-122"/>
                <a:cs typeface="Arial" pitchFamily="34" charset="-120"/>
              </a:rPr>
              <a:t>Réservation depuis le projet, pas depuis le calendrier</a:t>
            </a:r>
            <a:endParaRPr lang="en-US" sz="1400" dirty="0"/>
          </a:p>
          <a:p>
            <a:pPr algn="l" marL="156718" indent="-156718">
              <a:lnSpc>
                <a:spcPts val="2100"/>
              </a:lnSpc>
              <a:buSzPct val="100000"/>
              <a:buChar char="•"/>
            </a:pPr>
            <a:r>
              <a:rPr lang="en-US" sz="1400" dirty="0">
                <a:solidFill>
                  <a:srgbClr val="46526B"/>
                </a:solidFill>
                <a:latin typeface="Arial" pitchFamily="34" charset="0"/>
                <a:ea typeface="Arial" pitchFamily="34" charset="-122"/>
                <a:cs typeface="Arial" pitchFamily="34" charset="-120"/>
              </a:rPr>
              <a:t>Notifications limitées à l'archivage d'un matériel</a:t>
            </a:r>
            <a:endParaRPr lang="en-US" sz="1400" dirty="0"/>
          </a:p>
          <a:p>
            <a:pPr algn="l" marL="156718" indent="-156718">
              <a:lnSpc>
                <a:spcPts val="2100"/>
              </a:lnSpc>
              <a:buSzPct val="100000"/>
              <a:buChar char="•"/>
            </a:pPr>
            <a:r>
              <a:rPr lang="en-US" sz="1400" dirty="0">
                <a:solidFill>
                  <a:srgbClr val="46526B"/>
                </a:solidFill>
                <a:latin typeface="Arial" pitchFamily="34" charset="0"/>
                <a:ea typeface="Arial" pitchFamily="34" charset="-122"/>
                <a:cs typeface="Arial" pitchFamily="34" charset="-120"/>
              </a:rPr>
              <a:t>Sauvegardes et volumes cibles encore à définir</a:t>
            </a:r>
            <a:endParaRPr lang="en-US" sz="1400" dirty="0"/>
          </a:p>
        </p:txBody>
      </p:sp>
      <p:sp>
        <p:nvSpPr>
          <p:cNvPr id="13" name="Text 11"/>
          <p:cNvSpPr/>
          <p:nvPr/>
        </p:nvSpPr>
        <p:spPr>
          <a:xfrm>
            <a:off x="812800" y="6238242"/>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28A"/>
                </a:solidFill>
                <a:latin typeface="Arial" pitchFamily="34" charset="0"/>
                <a:ea typeface="Arial" pitchFamily="34" charset="-122"/>
                <a:cs typeface="Arial" pitchFamily="34" charset="-120"/>
              </a:rPr>
              <a:t>SUIVI · Présentation WD12</a:t>
            </a:r>
            <a:endParaRPr lang="en-US" sz="1200" dirty="0"/>
          </a:p>
        </p:txBody>
      </p:sp>
      <p:sp>
        <p:nvSpPr>
          <p:cNvPr id="14" name="Text 12"/>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6728A"/>
                </a:solidFill>
                <a:latin typeface="Arial" pitchFamily="34" charset="0"/>
                <a:ea typeface="Arial" pitchFamily="34" charset="-122"/>
                <a:cs typeface="Arial" pitchFamily="34" charset="-120"/>
              </a:rPr>
              <a:t>09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864E8"/>
                </a:solidFill>
                <a:latin typeface="Arial" pitchFamily="34" charset="0"/>
                <a:ea typeface="Arial" pitchFamily="34" charset="-122"/>
                <a:cs typeface="Arial" pitchFamily="34" charset="-120"/>
              </a:rPr>
              <a:t>ÉVOLUTIONS · NOM 4</a:t>
            </a:r>
            <a:endParaRPr lang="en-US" sz="1200" dirty="0"/>
          </a:p>
        </p:txBody>
      </p:sp>
      <p:sp>
        <p:nvSpPr>
          <p:cNvPr id="3" name="Text 1"/>
          <p:cNvSpPr/>
          <p:nvPr>
            <p:ph type="title"/>
          </p:nvPr>
        </p:nvSpPr>
        <p:spPr>
          <a:xfrm>
            <a:off x="812800" y="1127758"/>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0D2046"/>
                </a:solidFill>
                <a:latin typeface="Arial" pitchFamily="34" charset="0"/>
                <a:ea typeface="Arial" pitchFamily="34" charset="-122"/>
                <a:cs typeface="Arial" pitchFamily="34" charset="-120"/>
              </a:rPr>
              <a:t>Quatre pistes réalistes pour la suite</a:t>
            </a:r>
            <a:endParaRPr lang="en-US" sz="3200" dirty="0"/>
          </a:p>
        </p:txBody>
      </p:sp>
      <p:sp>
        <p:nvSpPr>
          <p:cNvPr id="4" name="Shape 2"/>
          <p:cNvSpPr/>
          <p:nvPr/>
        </p:nvSpPr>
        <p:spPr>
          <a:xfrm>
            <a:off x="815975" y="1933575"/>
            <a:ext cx="5175250" cy="1384512"/>
          </a:xfrm>
          <a:prstGeom prst="roundRect">
            <a:avLst>
              <a:gd name="adj" fmla="val 8944"/>
            </a:avLst>
          </a:prstGeom>
          <a:solidFill>
            <a:srgbClr val="FCFDFF"/>
          </a:solidFill>
          <a:ln w="6350">
            <a:solidFill>
              <a:srgbClr val="DCE3EE"/>
            </a:solidFill>
            <a:prstDash val="solid"/>
          </a:ln>
        </p:spPr>
      </p:sp>
      <p:pic>
        <p:nvPicPr>
          <p:cNvPr id="5" name="Image 0" descr="Key">    </p:cNvPr>
          <p:cNvPicPr>
            <a:picLocks noChangeAspect="1"/>
          </p:cNvPicPr>
          <p:nvPr/>
        </p:nvPicPr>
        <p:blipFill>
          <a:blip r:embed="rId1"/>
          <a:srcRect l="0" r="0" t="0" b="0"/>
          <a:stretch/>
        </p:blipFill>
        <p:spPr>
          <a:xfrm>
            <a:off x="1073891" y="2191488"/>
            <a:ext cx="304800" cy="304800"/>
          </a:xfrm>
          <a:prstGeom prst="rect">
            <a:avLst/>
          </a:prstGeom>
        </p:spPr>
      </p:pic>
      <p:sp>
        <p:nvSpPr>
          <p:cNvPr id="6" name="Text 3"/>
          <p:cNvSpPr/>
          <p:nvPr/>
        </p:nvSpPr>
        <p:spPr>
          <a:xfrm>
            <a:off x="1505691" y="2206730"/>
            <a:ext cx="3291840"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D2046"/>
                </a:solidFill>
                <a:latin typeface="Arial" pitchFamily="34" charset="0"/>
                <a:ea typeface="Arial" pitchFamily="34" charset="-122"/>
                <a:cs typeface="Arial" pitchFamily="34" charset="-120"/>
              </a:rPr>
              <a:t>Connexion Intradef réelle</a:t>
            </a:r>
            <a:endParaRPr lang="en-US" sz="1800" dirty="0"/>
          </a:p>
        </p:txBody>
      </p:sp>
      <p:sp>
        <p:nvSpPr>
          <p:cNvPr id="7" name="Text 4"/>
          <p:cNvSpPr/>
          <p:nvPr/>
        </p:nvSpPr>
        <p:spPr>
          <a:xfrm>
            <a:off x="1073891" y="2597888"/>
            <a:ext cx="4799201"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6526B"/>
                </a:solidFill>
                <a:latin typeface="Arial" pitchFamily="34" charset="0"/>
                <a:ea typeface="Arial" pitchFamily="34" charset="-122"/>
                <a:cs typeface="Arial" pitchFamily="34" charset="-120"/>
              </a:rPr>
              <a:t>Brancher l'authentification du réseau cible à la place de la connexion simulée. Le reste de l'application ne change pas.</a:t>
            </a:r>
            <a:endParaRPr lang="en-US" sz="1300" dirty="0"/>
          </a:p>
        </p:txBody>
      </p:sp>
      <p:sp>
        <p:nvSpPr>
          <p:cNvPr id="8" name="Shape 5"/>
          <p:cNvSpPr/>
          <p:nvPr/>
        </p:nvSpPr>
        <p:spPr>
          <a:xfrm>
            <a:off x="6200775" y="1933575"/>
            <a:ext cx="5175250" cy="1384512"/>
          </a:xfrm>
          <a:prstGeom prst="roundRect">
            <a:avLst>
              <a:gd name="adj" fmla="val 8944"/>
            </a:avLst>
          </a:prstGeom>
          <a:solidFill>
            <a:srgbClr val="FCFDFF"/>
          </a:solidFill>
          <a:ln w="6350">
            <a:solidFill>
              <a:srgbClr val="DCE3EE"/>
            </a:solidFill>
            <a:prstDash val="solid"/>
          </a:ln>
        </p:spPr>
      </p:sp>
      <p:pic>
        <p:nvPicPr>
          <p:cNvPr id="9" name="Image 1" descr="Verified">    </p:cNvPr>
          <p:cNvPicPr>
            <a:picLocks noChangeAspect="1"/>
          </p:cNvPicPr>
          <p:nvPr/>
        </p:nvPicPr>
        <p:blipFill>
          <a:blip r:embed="rId2"/>
          <a:srcRect l="0" r="0" t="0" b="0"/>
          <a:stretch/>
        </p:blipFill>
        <p:spPr>
          <a:xfrm>
            <a:off x="6458691" y="2191488"/>
            <a:ext cx="304800" cy="304800"/>
          </a:xfrm>
          <a:prstGeom prst="rect">
            <a:avLst/>
          </a:prstGeom>
        </p:spPr>
      </p:pic>
      <p:sp>
        <p:nvSpPr>
          <p:cNvPr id="10" name="Text 6"/>
          <p:cNvSpPr/>
          <p:nvPr/>
        </p:nvSpPr>
        <p:spPr>
          <a:xfrm>
            <a:off x="6890491" y="2206730"/>
            <a:ext cx="3627501"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D2046"/>
                </a:solidFill>
                <a:latin typeface="Arial" pitchFamily="34" charset="0"/>
                <a:ea typeface="Arial" pitchFamily="34" charset="-122"/>
                <a:cs typeface="Arial" pitchFamily="34" charset="-120"/>
              </a:rPr>
              <a:t>Antivirus des pièces jointes</a:t>
            </a:r>
            <a:endParaRPr lang="en-US" sz="1800" dirty="0"/>
          </a:p>
        </p:txBody>
      </p:sp>
      <p:sp>
        <p:nvSpPr>
          <p:cNvPr id="11" name="Text 7"/>
          <p:cNvSpPr/>
          <p:nvPr/>
        </p:nvSpPr>
        <p:spPr>
          <a:xfrm>
            <a:off x="6458691" y="2597888"/>
            <a:ext cx="4799201"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6526B"/>
                </a:solidFill>
                <a:latin typeface="Arial" pitchFamily="34" charset="0"/>
                <a:ea typeface="Arial" pitchFamily="34" charset="-122"/>
                <a:cs typeface="Arial" pitchFamily="34" charset="-120"/>
              </a:rPr>
              <a:t>Analyser chaque fichier avant de le rendre téléchargeable. Le circuit d'envoi par lien signé s'y prête déjà.</a:t>
            </a:r>
            <a:endParaRPr lang="en-US" sz="1300" dirty="0"/>
          </a:p>
        </p:txBody>
      </p:sp>
      <p:sp>
        <p:nvSpPr>
          <p:cNvPr id="12" name="Shape 8"/>
          <p:cNvSpPr/>
          <p:nvPr/>
        </p:nvSpPr>
        <p:spPr>
          <a:xfrm>
            <a:off x="815975" y="3527636"/>
            <a:ext cx="5175250" cy="1384512"/>
          </a:xfrm>
          <a:prstGeom prst="roundRect">
            <a:avLst>
              <a:gd name="adj" fmla="val 8944"/>
            </a:avLst>
          </a:prstGeom>
          <a:solidFill>
            <a:srgbClr val="FCFDFF"/>
          </a:solidFill>
          <a:ln w="6350">
            <a:solidFill>
              <a:srgbClr val="DCE3EE"/>
            </a:solidFill>
            <a:prstDash val="solid"/>
          </a:ln>
        </p:spPr>
      </p:sp>
      <p:pic>
        <p:nvPicPr>
          <p:cNvPr id="13" name="Image 2" descr="Search">    </p:cNvPr>
          <p:cNvPicPr>
            <a:picLocks noChangeAspect="1"/>
          </p:cNvPicPr>
          <p:nvPr/>
        </p:nvPicPr>
        <p:blipFill>
          <a:blip r:embed="rId3"/>
          <a:srcRect l="0" r="0" t="0" b="0"/>
          <a:stretch/>
        </p:blipFill>
        <p:spPr>
          <a:xfrm>
            <a:off x="1073891" y="3785555"/>
            <a:ext cx="304800" cy="304800"/>
          </a:xfrm>
          <a:prstGeom prst="rect">
            <a:avLst/>
          </a:prstGeom>
        </p:spPr>
      </p:pic>
      <p:sp>
        <p:nvSpPr>
          <p:cNvPr id="14" name="Text 9"/>
          <p:cNvSpPr/>
          <p:nvPr/>
        </p:nvSpPr>
        <p:spPr>
          <a:xfrm>
            <a:off x="1505691" y="3800791"/>
            <a:ext cx="3795141"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D2046"/>
                </a:solidFill>
                <a:latin typeface="Arial" pitchFamily="34" charset="0"/>
                <a:ea typeface="Arial" pitchFamily="34" charset="-122"/>
                <a:cs typeface="Arial" pitchFamily="34" charset="-120"/>
              </a:rPr>
              <a:t>QR code sur chaque appareil</a:t>
            </a:r>
            <a:endParaRPr lang="en-US" sz="1800" dirty="0"/>
          </a:p>
        </p:txBody>
      </p:sp>
      <p:sp>
        <p:nvSpPr>
          <p:cNvPr id="15" name="Text 10"/>
          <p:cNvSpPr/>
          <p:nvPr/>
        </p:nvSpPr>
        <p:spPr>
          <a:xfrm>
            <a:off x="1073891" y="4191955"/>
            <a:ext cx="4799201"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6526B"/>
                </a:solidFill>
                <a:latin typeface="Arial" pitchFamily="34" charset="0"/>
                <a:ea typeface="Arial" pitchFamily="34" charset="-122"/>
                <a:cs typeface="Arial" pitchFamily="34" charset="-120"/>
              </a:rPr>
              <a:t>Scanner l'étiquette pour ouvrir la fiche ou réserver, directement depuis la paillasse.</a:t>
            </a:r>
            <a:endParaRPr lang="en-US" sz="1300" dirty="0"/>
          </a:p>
        </p:txBody>
      </p:sp>
      <p:sp>
        <p:nvSpPr>
          <p:cNvPr id="16" name="Shape 11"/>
          <p:cNvSpPr/>
          <p:nvPr/>
        </p:nvSpPr>
        <p:spPr>
          <a:xfrm>
            <a:off x="6200775" y="3527636"/>
            <a:ext cx="5175250" cy="1384512"/>
          </a:xfrm>
          <a:prstGeom prst="roundRect">
            <a:avLst>
              <a:gd name="adj" fmla="val 8944"/>
            </a:avLst>
          </a:prstGeom>
          <a:solidFill>
            <a:srgbClr val="FCFDFF"/>
          </a:solidFill>
          <a:ln w="6350">
            <a:solidFill>
              <a:srgbClr val="DCE3EE"/>
            </a:solidFill>
            <a:prstDash val="solid"/>
          </a:ln>
        </p:spPr>
      </p:sp>
      <p:pic>
        <p:nvPicPr>
          <p:cNvPr id="17" name="Image 3" descr="Lightbulb">    </p:cNvPr>
          <p:cNvPicPr>
            <a:picLocks noChangeAspect="1"/>
          </p:cNvPicPr>
          <p:nvPr/>
        </p:nvPicPr>
        <p:blipFill>
          <a:blip r:embed="rId4"/>
          <a:srcRect l="0" r="0" t="0" b="0"/>
          <a:stretch/>
        </p:blipFill>
        <p:spPr>
          <a:xfrm>
            <a:off x="6458691" y="3785555"/>
            <a:ext cx="304800" cy="304800"/>
          </a:xfrm>
          <a:prstGeom prst="rect">
            <a:avLst/>
          </a:prstGeom>
        </p:spPr>
      </p:pic>
      <p:sp>
        <p:nvSpPr>
          <p:cNvPr id="18" name="Text 12"/>
          <p:cNvSpPr/>
          <p:nvPr/>
        </p:nvSpPr>
        <p:spPr>
          <a:xfrm>
            <a:off x="6890491" y="3800791"/>
            <a:ext cx="3551174"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D2046"/>
                </a:solidFill>
                <a:latin typeface="Arial" pitchFamily="34" charset="0"/>
                <a:ea typeface="Arial" pitchFamily="34" charset="-122"/>
                <a:cs typeface="Arial" pitchFamily="34" charset="-120"/>
              </a:rPr>
              <a:t>Une IA hébergée en interne</a:t>
            </a:r>
            <a:endParaRPr lang="en-US" sz="1800" dirty="0"/>
          </a:p>
        </p:txBody>
      </p:sp>
      <p:sp>
        <p:nvSpPr>
          <p:cNvPr id="19" name="Text 13"/>
          <p:cNvSpPr/>
          <p:nvPr/>
        </p:nvSpPr>
        <p:spPr>
          <a:xfrm>
            <a:off x="6458691" y="4191955"/>
            <a:ext cx="4799201"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6526B"/>
                </a:solidFill>
                <a:latin typeface="Arial" pitchFamily="34" charset="0"/>
                <a:ea typeface="Arial" pitchFamily="34" charset="-122"/>
                <a:cs typeface="Arial" pitchFamily="34" charset="-120"/>
              </a:rPr>
              <a:t>Chercher dans l'inventaire en langage courant, sans que les données quittent le réseau.</a:t>
            </a:r>
            <a:endParaRPr lang="en-US" sz="1300" dirty="0"/>
          </a:p>
        </p:txBody>
      </p:sp>
      <p:sp>
        <p:nvSpPr>
          <p:cNvPr id="20" name="Text 14"/>
          <p:cNvSpPr/>
          <p:nvPr/>
        </p:nvSpPr>
        <p:spPr>
          <a:xfrm>
            <a:off x="812800" y="6238242"/>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28A"/>
                </a:solidFill>
                <a:latin typeface="Arial" pitchFamily="34" charset="0"/>
                <a:ea typeface="Arial" pitchFamily="34" charset="-122"/>
                <a:cs typeface="Arial" pitchFamily="34" charset="-120"/>
              </a:rPr>
              <a:t>SUIVI · Présentation WD12</a:t>
            </a:r>
            <a:endParaRPr lang="en-US" sz="1200" dirty="0"/>
          </a:p>
        </p:txBody>
      </p:sp>
      <p:sp>
        <p:nvSpPr>
          <p:cNvPr id="21" name="Text 15"/>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6728A"/>
                </a:solidFill>
                <a:latin typeface="Arial" pitchFamily="34" charset="0"/>
                <a:ea typeface="Arial" pitchFamily="34" charset="-122"/>
                <a:cs typeface="Arial"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8FB0FF"/>
                </a:solidFill>
                <a:latin typeface="Arial" pitchFamily="34" charset="0"/>
                <a:ea typeface="Arial" pitchFamily="34" charset="-122"/>
                <a:cs typeface="Arial" pitchFamily="34" charset="-120"/>
              </a:rPr>
              <a:t>CONCLUSION · NOM 4</a:t>
            </a:r>
            <a:endParaRPr lang="en-US" sz="1200" dirty="0"/>
          </a:p>
        </p:txBody>
      </p:sp>
      <p:sp>
        <p:nvSpPr>
          <p:cNvPr id="3" name="Shape 1"/>
          <p:cNvSpPr/>
          <p:nvPr/>
        </p:nvSpPr>
        <p:spPr>
          <a:xfrm>
            <a:off x="812800" y="2637792"/>
            <a:ext cx="889000" cy="63500"/>
          </a:xfrm>
          <a:prstGeom prst="roundRect">
            <a:avLst>
              <a:gd name="adj" fmla="val 50000"/>
            </a:avLst>
          </a:prstGeom>
          <a:solidFill>
            <a:srgbClr val="2864E8"/>
          </a:solidFill>
          <a:ln/>
        </p:spPr>
      </p:sp>
      <p:sp>
        <p:nvSpPr>
          <p:cNvPr id="4" name="Text 2"/>
          <p:cNvSpPr/>
          <p:nvPr>
            <p:ph type="title"/>
          </p:nvPr>
        </p:nvSpPr>
        <p:spPr>
          <a:xfrm>
            <a:off x="812800" y="2955292"/>
            <a:ext cx="10883392" cy="1076960"/>
          </a:xfrm>
          <a:prstGeom prst="rect">
            <a:avLst/>
          </a:prstGeom>
          <a:noFill/>
          <a:ln/>
        </p:spPr>
        <p:txBody>
          <a:bodyPr wrap="square" lIns="0" tIns="0" rIns="0" bIns="0" rtlCol="0" anchor="t">
            <a:normAutofit/>
          </a:bodyPr>
          <a:lstStyle/>
          <a:p>
            <a:pPr algn="l" indent="0" marL="0">
              <a:lnSpc>
                <a:spcPts val="4140"/>
              </a:lnSpc>
              <a:buNone/>
            </a:pPr>
            <a:r>
              <a:rPr lang="en-US" sz="3600" b="1" i="0" dirty="0">
                <a:solidFill>
                  <a:srgbClr val="F4F7FB"/>
                </a:solidFill>
                <a:latin typeface="Arial" pitchFamily="34" charset="0"/>
                <a:ea typeface="Arial" pitchFamily="34" charset="-122"/>
                <a:cs typeface="Arial" pitchFamily="34" charset="-120"/>
              </a:rPr>
              <a:t>Un seul outil pour savoir ce que le labo possède, qui l'utilise et ce qui s'est passé.</a:t>
            </a:r>
            <a:endParaRPr lang="en-US" sz="3600" dirty="0"/>
          </a:p>
        </p:txBody>
      </p:sp>
      <p:sp>
        <p:nvSpPr>
          <p:cNvPr id="5" name="Text 3"/>
          <p:cNvSpPr/>
          <p:nvPr/>
        </p:nvSpPr>
        <p:spPr>
          <a:xfrm>
            <a:off x="812800" y="5618479"/>
            <a:ext cx="5082159" cy="452120"/>
          </a:xfrm>
          <a:prstGeom prst="rect">
            <a:avLst/>
          </a:prstGeom>
          <a:noFill/>
          <a:ln/>
        </p:spPr>
        <p:txBody>
          <a:bodyPr wrap="square" lIns="0" tIns="0" rIns="0" bIns="0" rtlCol="0" anchor="t">
            <a:normAutofit/>
          </a:bodyPr>
          <a:lstStyle/>
          <a:p>
            <a:pPr algn="l" indent="0" marL="0">
              <a:lnSpc>
                <a:spcPts val="3360"/>
              </a:lnSpc>
              <a:buNone/>
            </a:pPr>
            <a:r>
              <a:rPr lang="en-US" sz="2400" b="1" dirty="0">
                <a:solidFill>
                  <a:srgbClr val="8FB0FF"/>
                </a:solidFill>
                <a:latin typeface="Arial" pitchFamily="34" charset="0"/>
                <a:ea typeface="Arial" pitchFamily="34" charset="-122"/>
                <a:cs typeface="Arial" pitchFamily="34" charset="-120"/>
              </a:rPr>
              <a:t>Merci. Place à vos questions.</a:t>
            </a:r>
            <a:endParaRPr lang="en-US" sz="2400" dirty="0"/>
          </a:p>
        </p:txBody>
      </p:sp>
      <p:sp>
        <p:nvSpPr>
          <p:cNvPr id="6" name="Text 4"/>
          <p:cNvSpPr/>
          <p:nvPr/>
        </p:nvSpPr>
        <p:spPr>
          <a:xfrm>
            <a:off x="8297291" y="5796279"/>
            <a:ext cx="3081909" cy="274320"/>
          </a:xfrm>
          <a:prstGeom prst="rect">
            <a:avLst/>
          </a:prstGeom>
          <a:noFill/>
          <a:ln/>
        </p:spPr>
        <p:txBody>
          <a:bodyPr wrap="square" lIns="0" tIns="0" rIns="0" bIns="0" rtlCol="0" anchor="t">
            <a:normAutofit/>
          </a:bodyPr>
          <a:lstStyle/>
          <a:p>
            <a:pPr algn="r" indent="0" marL="0">
              <a:lnSpc>
                <a:spcPts val="1960"/>
              </a:lnSpc>
              <a:buNone/>
            </a:pPr>
            <a:r>
              <a:rPr lang="en-US" sz="1400" dirty="0">
                <a:solidFill>
                  <a:srgbClr val="9FB1D1"/>
                </a:solidFill>
                <a:latin typeface="Arial" pitchFamily="34" charset="0"/>
                <a:ea typeface="Arial" pitchFamily="34" charset="-122"/>
                <a:cs typeface="Arial" pitchFamily="34" charset="-120"/>
              </a:rPr>
              <a:t>Nom 1 · Nom 2 · Nom 3 · Nom 4</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66728A"/>
                </a:solidFill>
                <a:latin typeface="Arial" pitchFamily="34" charset="0"/>
                <a:ea typeface="Arial" pitchFamily="34" charset="-122"/>
                <a:cs typeface="Arial" pitchFamily="34" charset="-120"/>
              </a:rPr>
              <a:t>ANNEXE A · MATRICE DES DROITS</a:t>
            </a:r>
            <a:endParaRPr lang="en-US" sz="1200" dirty="0"/>
          </a:p>
        </p:txBody>
      </p:sp>
      <p:sp>
        <p:nvSpPr>
          <p:cNvPr id="3" name="Text 1"/>
          <p:cNvSpPr/>
          <p:nvPr>
            <p:ph type="title"/>
          </p:nvPr>
        </p:nvSpPr>
        <p:spPr>
          <a:xfrm>
            <a:off x="812800" y="1127758"/>
            <a:ext cx="10883392" cy="41656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0D2046"/>
                </a:solidFill>
                <a:latin typeface="Arial" pitchFamily="34" charset="0"/>
                <a:ea typeface="Arial" pitchFamily="34" charset="-122"/>
                <a:cs typeface="Arial" pitchFamily="34" charset="-120"/>
              </a:rPr>
              <a:t>Qui peut faire quoi</a:t>
            </a:r>
            <a:endParaRPr lang="en-US" sz="2800" dirty="0"/>
          </a:p>
        </p:txBody>
      </p:sp>
      <p:sp>
        <p:nvSpPr>
          <p:cNvPr id="4" name="Shape 2"/>
          <p:cNvSpPr/>
          <p:nvPr/>
        </p:nvSpPr>
        <p:spPr>
          <a:xfrm>
            <a:off x="812800" y="1772921"/>
            <a:ext cx="10566400" cy="3605530"/>
          </a:xfrm>
          <a:prstGeom prst="rect">
            <a:avLst/>
          </a:prstGeom>
          <a:solidFill>
            <a:srgbClr val="FCFDFF"/>
          </a:solidFill>
          <a:ln/>
        </p:spPr>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19891" y="1780012"/>
          <a:ext cx="10559309" cy="3598439"/>
        </p:xfrm>
        <a:graphic>
          <a:graphicData uri="http://schemas.openxmlformats.org/drawingml/2006/table">
            <a:tbl>
              <a:tblPr/>
              <a:tblGrid>
                <a:gridCol w="4857282"/>
                <a:gridCol w="1900676"/>
                <a:gridCol w="1900676"/>
                <a:gridCol w="1900676"/>
              </a:tblGrid>
              <a:tr h="327131">
                <a:tc>
                  <a:txBody>
                    <a:bodyPr/>
                    <a:lstStyle/>
                    <a:p>
                      <a:pPr indent="0" marL="0">
                        <a:lnSpc>
                          <a:spcPts val="1680"/>
                        </a:lnSpc>
                        <a:buNone/>
                      </a:pPr>
                      <a:r>
                        <a:rPr lang="en-US" sz="1200" b="1" dirty="0">
                          <a:solidFill>
                            <a:srgbClr val="0D2046"/>
                          </a:solidFill>
                          <a:latin typeface="Arial" pitchFamily="34" charset="0"/>
                          <a:ea typeface="Arial" pitchFamily="34" charset="-122"/>
                          <a:cs typeface="Arial" pitchFamily="34" charset="-120"/>
                        </a:rPr>
                        <a:t>Action</a:t>
                      </a:r>
                      <a:endParaRPr lang="en-US" sz="1200" dirty="0">
                        <a:latin typeface="Arial" charset="0"/>
                        <a:ea typeface="Arial" charset="0"/>
                        <a:cs typeface="Arial" charset="0"/>
                      </a:endParaRPr>
                    </a:p>
                  </a:txBody>
                  <a:tcPr marL="53340" marR="53340" marT="53340" marB="53340" anchor="t">
                    <a:lnL w="12700" cap="flat" cmpd="sng" algn="ctr">
                      <a:solidFill>
                        <a:srgbClr val="C9CACB"/>
                      </a:solidFill>
                      <a:prstDash val="solid"/>
                      <a:round/>
                      <a:headEnd type="none" w="med" len="med"/>
                      <a:tailEnd type="none" w="med" len="med"/>
                    </a:lnL>
                    <a:lnR w="12700" cap="flat" cmpd="sng" algn="ctr">
                      <a:solidFill>
                        <a:srgbClr val="B5BAC3"/>
                      </a:solidFill>
                      <a:prstDash val="solid"/>
                      <a:round/>
                      <a:headEnd type="none" w="med" len="med"/>
                      <a:tailEnd type="none" w="med" len="med"/>
                    </a:lnR>
                    <a:lnT w="12700" cap="flat" cmpd="sng" algn="ctr">
                      <a:solidFill>
                        <a:srgbClr val="C9CACB"/>
                      </a:solidFill>
                      <a:prstDash val="solid"/>
                      <a:round/>
                      <a:headEnd type="none" w="med" len="med"/>
                      <a:tailEnd type="none" w="med" len="med"/>
                    </a:lnT>
                    <a:lnB w="12700" cap="flat" cmpd="sng" algn="ctr">
                      <a:solidFill>
                        <a:srgbClr val="B5BAC3"/>
                      </a:solidFill>
                      <a:prstDash val="solid"/>
                      <a:round/>
                      <a:headEnd type="none" w="med" len="med"/>
                      <a:tailEnd type="none" w="med" len="med"/>
                    </a:lnB>
                    <a:solidFill>
                      <a:srgbClr val="E2E9F5"/>
                    </a:solidFill>
                  </a:tcPr>
                </a:tc>
                <a:tc>
                  <a:txBody>
                    <a:bodyPr/>
                    <a:lstStyle/>
                    <a:p>
                      <a:pPr algn="ctr" indent="0" marL="0">
                        <a:lnSpc>
                          <a:spcPts val="1680"/>
                        </a:lnSpc>
                        <a:buNone/>
                      </a:pPr>
                      <a:r>
                        <a:rPr lang="en-US" sz="1200" b="1" dirty="0">
                          <a:solidFill>
                            <a:srgbClr val="0D2046"/>
                          </a:solidFill>
                          <a:latin typeface="Arial" pitchFamily="34" charset="0"/>
                          <a:ea typeface="Arial" pitchFamily="34" charset="-122"/>
                          <a:cs typeface="Arial" pitchFamily="34" charset="-120"/>
                        </a:rPr>
                        <a:t>Administrateur</a:t>
                      </a:r>
                      <a:endParaRPr lang="en-US" sz="1200" dirty="0">
                        <a:latin typeface="Arial" charset="0"/>
                        <a:ea typeface="Arial" charset="0"/>
                        <a:cs typeface="Arial" charset="0"/>
                      </a:endParaRPr>
                    </a:p>
                  </a:txBody>
                  <a:tcPr marL="53340" marR="53340" marT="53340" marB="53340" anchor="t">
                    <a:lnL w="12700" cap="flat" cmpd="sng" algn="ctr">
                      <a:solidFill>
                        <a:srgbClr val="B5BAC3"/>
                      </a:solidFill>
                      <a:prstDash val="solid"/>
                      <a:round/>
                      <a:headEnd type="none" w="med" len="med"/>
                      <a:tailEnd type="none" w="med" len="med"/>
                    </a:lnL>
                    <a:lnR w="12700" cap="flat" cmpd="sng" algn="ctr">
                      <a:solidFill>
                        <a:srgbClr val="B5BAC3"/>
                      </a:solidFill>
                      <a:prstDash val="solid"/>
                      <a:round/>
                      <a:headEnd type="none" w="med" len="med"/>
                      <a:tailEnd type="none" w="med" len="med"/>
                    </a:lnR>
                    <a:lnT w="12700" cap="flat" cmpd="sng" algn="ctr">
                      <a:solidFill>
                        <a:srgbClr val="C9CACB"/>
                      </a:solidFill>
                      <a:prstDash val="solid"/>
                      <a:round/>
                      <a:headEnd type="none" w="med" len="med"/>
                      <a:tailEnd type="none" w="med" len="med"/>
                    </a:lnT>
                    <a:lnB w="12700" cap="flat" cmpd="sng" algn="ctr">
                      <a:solidFill>
                        <a:srgbClr val="B5BAC3"/>
                      </a:solidFill>
                      <a:prstDash val="solid"/>
                      <a:round/>
                      <a:headEnd type="none" w="med" len="med"/>
                      <a:tailEnd type="none" w="med" len="med"/>
                    </a:lnB>
                    <a:solidFill>
                      <a:srgbClr val="E2E9F5"/>
                    </a:solidFill>
                  </a:tcPr>
                </a:tc>
                <a:tc>
                  <a:txBody>
                    <a:bodyPr/>
                    <a:lstStyle/>
                    <a:p>
                      <a:pPr algn="ctr" indent="0" marL="0">
                        <a:lnSpc>
                          <a:spcPts val="1680"/>
                        </a:lnSpc>
                        <a:buNone/>
                      </a:pPr>
                      <a:r>
                        <a:rPr lang="en-US" sz="1200" b="1" dirty="0">
                          <a:solidFill>
                            <a:srgbClr val="0D2046"/>
                          </a:solidFill>
                          <a:latin typeface="Arial" pitchFamily="34" charset="0"/>
                          <a:ea typeface="Arial" pitchFamily="34" charset="-122"/>
                          <a:cs typeface="Arial" pitchFamily="34" charset="-120"/>
                        </a:rPr>
                        <a:t>Gestionnaire</a:t>
                      </a:r>
                      <a:endParaRPr lang="en-US" sz="1200" dirty="0">
                        <a:latin typeface="Arial" charset="0"/>
                        <a:ea typeface="Arial" charset="0"/>
                        <a:cs typeface="Arial" charset="0"/>
                      </a:endParaRPr>
                    </a:p>
                  </a:txBody>
                  <a:tcPr marL="53340" marR="53340" marT="53340" marB="53340" anchor="t">
                    <a:lnL w="12700" cap="flat" cmpd="sng" algn="ctr">
                      <a:solidFill>
                        <a:srgbClr val="B5BAC3"/>
                      </a:solidFill>
                      <a:prstDash val="solid"/>
                      <a:round/>
                      <a:headEnd type="none" w="med" len="med"/>
                      <a:tailEnd type="none" w="med" len="med"/>
                    </a:lnL>
                    <a:lnR w="12700" cap="flat" cmpd="sng" algn="ctr">
                      <a:solidFill>
                        <a:srgbClr val="B5BAC3"/>
                      </a:solidFill>
                      <a:prstDash val="solid"/>
                      <a:round/>
                      <a:headEnd type="none" w="med" len="med"/>
                      <a:tailEnd type="none" w="med" len="med"/>
                    </a:lnR>
                    <a:lnT w="12700" cap="flat" cmpd="sng" algn="ctr">
                      <a:solidFill>
                        <a:srgbClr val="C9CACB"/>
                      </a:solidFill>
                      <a:prstDash val="solid"/>
                      <a:round/>
                      <a:headEnd type="none" w="med" len="med"/>
                      <a:tailEnd type="none" w="med" len="med"/>
                    </a:lnT>
                    <a:lnB w="12700" cap="flat" cmpd="sng" algn="ctr">
                      <a:solidFill>
                        <a:srgbClr val="B5BAC3"/>
                      </a:solidFill>
                      <a:prstDash val="solid"/>
                      <a:round/>
                      <a:headEnd type="none" w="med" len="med"/>
                      <a:tailEnd type="none" w="med" len="med"/>
                    </a:lnB>
                    <a:solidFill>
                      <a:srgbClr val="E2E9F5"/>
                    </a:solidFill>
                  </a:tcPr>
                </a:tc>
                <a:tc>
                  <a:txBody>
                    <a:bodyPr/>
                    <a:lstStyle/>
                    <a:p>
                      <a:pPr algn="ctr" indent="0" marL="0">
                        <a:lnSpc>
                          <a:spcPts val="1680"/>
                        </a:lnSpc>
                        <a:buNone/>
                      </a:pPr>
                      <a:r>
                        <a:rPr lang="en-US" sz="1200" b="1" dirty="0">
                          <a:solidFill>
                            <a:srgbClr val="0D2046"/>
                          </a:solidFill>
                          <a:latin typeface="Arial" pitchFamily="34" charset="0"/>
                          <a:ea typeface="Arial" pitchFamily="34" charset="-122"/>
                          <a:cs typeface="Arial" pitchFamily="34" charset="-120"/>
                        </a:rPr>
                        <a:t>Utilisateur</a:t>
                      </a:r>
                      <a:endParaRPr lang="en-US" sz="1200" dirty="0">
                        <a:latin typeface="Arial" charset="0"/>
                        <a:ea typeface="Arial" charset="0"/>
                        <a:cs typeface="Arial" charset="0"/>
                      </a:endParaRPr>
                    </a:p>
                  </a:txBody>
                  <a:tcPr marL="53340" marR="53340" marT="53340" marB="53340" anchor="t">
                    <a:lnL w="12700" cap="flat" cmpd="sng" algn="ctr">
                      <a:solidFill>
                        <a:srgbClr val="B5BAC3"/>
                      </a:solidFill>
                      <a:prstDash val="solid"/>
                      <a:round/>
                      <a:headEnd type="none" w="med" len="med"/>
                      <a:tailEnd type="none" w="med" len="med"/>
                    </a:lnL>
                    <a:lnR w="12700" cap="flat" cmpd="sng" algn="ctr">
                      <a:solidFill>
                        <a:srgbClr val="B5BAC3"/>
                      </a:solidFill>
                      <a:prstDash val="solid"/>
                      <a:round/>
                      <a:headEnd type="none" w="med" len="med"/>
                      <a:tailEnd type="none" w="med" len="med"/>
                    </a:lnR>
                    <a:lnT w="12700" cap="flat" cmpd="sng" algn="ctr">
                      <a:solidFill>
                        <a:srgbClr val="C9CACB"/>
                      </a:solidFill>
                      <a:prstDash val="solid"/>
                      <a:round/>
                      <a:headEnd type="none" w="med" len="med"/>
                      <a:tailEnd type="none" w="med" len="med"/>
                    </a:lnT>
                    <a:lnB w="12700" cap="flat" cmpd="sng" algn="ctr">
                      <a:solidFill>
                        <a:srgbClr val="B5BAC3"/>
                      </a:solidFill>
                      <a:prstDash val="solid"/>
                      <a:round/>
                      <a:headEnd type="none" w="med" len="med"/>
                      <a:tailEnd type="none" w="med" len="med"/>
                    </a:lnB>
                    <a:solidFill>
                      <a:srgbClr val="E2E9F5"/>
                    </a:solidFill>
                  </a:tcPr>
                </a:tc>
              </a:tr>
              <a:tr h="327131">
                <a:tc>
                  <a:txBody>
                    <a:bodyPr/>
                    <a:lstStyle/>
                    <a:p>
                      <a:pPr indent="0" marL="0">
                        <a:lnSpc>
                          <a:spcPts val="1680"/>
                        </a:lnSpc>
                        <a:buNone/>
                      </a:pPr>
                      <a:r>
                        <a:rPr lang="en-US" sz="1200" dirty="0">
                          <a:solidFill>
                            <a:srgbClr val="0D2046"/>
                          </a:solidFill>
                          <a:latin typeface="Arial" pitchFamily="34" charset="0"/>
                          <a:ea typeface="Arial" pitchFamily="34" charset="-122"/>
                          <a:cs typeface="Arial" pitchFamily="34" charset="-120"/>
                        </a:rPr>
                        <a:t>Consulter l'inventaire actif</a:t>
                      </a:r>
                      <a:endParaRPr lang="en-US" sz="1200" dirty="0">
                        <a:latin typeface="Arial" charset="0"/>
                        <a:ea typeface="Arial" charset="0"/>
                        <a:cs typeface="Arial" charset="0"/>
                      </a:endParaRPr>
                    </a:p>
                  </a:txBody>
                  <a:tcPr marL="53340" marR="53340" marT="53340" marB="53340" anchor="t">
                    <a:lnL w="12700" cap="flat" cmpd="sng" algn="ctr">
                      <a:solidFill>
                        <a:srgbClr val="C9CACB"/>
                      </a:solidFill>
                      <a:prstDash val="solid"/>
                      <a:round/>
                      <a:headEnd type="none" w="med" len="med"/>
                      <a:tailEnd type="none" w="med" len="med"/>
                    </a:lnL>
                    <a:lnR w="12700" cap="flat" cmpd="sng" algn="ctr">
                      <a:solidFill>
                        <a:srgbClr val="C9CACB"/>
                      </a:solidFill>
                      <a:prstDash val="solid"/>
                      <a:round/>
                      <a:headEnd type="none" w="med" len="med"/>
                      <a:tailEnd type="none" w="med" len="med"/>
                    </a:lnR>
                    <a:lnT w="12700" cap="flat" cmpd="sng" algn="ctr">
                      <a:solidFill>
                        <a:srgbClr val="B5BAC3"/>
                      </a:solidFill>
                      <a:prstDash val="solid"/>
                      <a:round/>
                      <a:headEnd type="none" w="med" len="med"/>
                      <a:tailEnd type="none" w="med" len="med"/>
                    </a:lnT>
                    <a:lnB w="12700" cap="flat" cmpd="sng" algn="ctr">
                      <a:solidFill>
                        <a:srgbClr val="C9CACB"/>
                      </a:solidFill>
                      <a:prstDash val="solid"/>
                      <a:round/>
                      <a:headEnd type="none" w="med" len="med"/>
                      <a:tailEnd type="none" w="med" len="med"/>
                    </a:lnB>
                  </a:tcPr>
                </a:tc>
                <a:tc>
                  <a:txBody>
                    <a:bodyPr/>
                    <a:lstStyle/>
                    <a:p>
                      <a:pPr algn="ctr" indent="0" marL="0">
                        <a:lnSpc>
                          <a:spcPts val="1680"/>
                        </a:lnSpc>
                        <a:buNone/>
                      </a:pPr>
                      <a:r>
                        <a:rPr lang="en-US" sz="1200" dirty="0">
                          <a:solidFill>
                            <a:srgbClr val="0D2046"/>
                          </a:solidFill>
                          <a:latin typeface="Arial" pitchFamily="34" charset="0"/>
                          <a:ea typeface="Arial" pitchFamily="34" charset="-122"/>
                          <a:cs typeface="Arial" pitchFamily="34" charset="-120"/>
                        </a:rPr>
                        <a:t>Oui</a:t>
                      </a:r>
                      <a:endParaRPr lang="en-US" sz="1200" dirty="0">
                        <a:latin typeface="Arial" charset="0"/>
                        <a:ea typeface="Arial" charset="0"/>
                        <a:cs typeface="Arial" charset="0"/>
                      </a:endParaRPr>
                    </a:p>
                  </a:txBody>
                  <a:tcPr marL="53340" marR="53340" marT="53340" marB="53340" anchor="t">
                    <a:lnL w="12700" cap="flat" cmpd="sng" algn="ctr">
                      <a:solidFill>
                        <a:srgbClr val="C9CACB"/>
                      </a:solidFill>
                      <a:prstDash val="solid"/>
                      <a:round/>
                      <a:headEnd type="none" w="med" len="med"/>
                      <a:tailEnd type="none" w="med" len="med"/>
                    </a:lnL>
                    <a:lnR w="12700" cap="flat" cmpd="sng" algn="ctr">
                      <a:solidFill>
                        <a:srgbClr val="C9CACB"/>
                      </a:solidFill>
                      <a:prstDash val="solid"/>
                      <a:round/>
                      <a:headEnd type="none" w="med" len="med"/>
                      <a:tailEnd type="none" w="med" len="med"/>
                    </a:lnR>
                    <a:lnT w="12700" cap="flat" cmpd="sng" algn="ctr">
                      <a:solidFill>
                        <a:srgbClr val="B5BAC3"/>
                      </a:solidFill>
                      <a:prstDash val="solid"/>
                      <a:round/>
                      <a:headEnd type="none" w="med" len="med"/>
                      <a:tailEnd type="none" w="med" len="med"/>
                    </a:lnT>
                    <a:lnB w="12700" cap="flat" cmpd="sng" algn="ctr">
                      <a:solidFill>
                        <a:srgbClr val="C9CACB"/>
                      </a:solidFill>
                      <a:prstDash val="solid"/>
                      <a:round/>
                      <a:headEnd type="none" w="med" len="med"/>
                      <a:tailEnd type="none" w="med" len="med"/>
                    </a:lnB>
                  </a:tcPr>
                </a:tc>
                <a:tc>
                  <a:txBody>
                    <a:bodyPr/>
                    <a:lstStyle/>
                    <a:p>
                      <a:pPr algn="ctr" indent="0" marL="0">
                        <a:lnSpc>
                          <a:spcPts val="1680"/>
                        </a:lnSpc>
                        <a:buNone/>
                      </a:pPr>
                      <a:r>
                        <a:rPr lang="en-US" sz="1200" dirty="0">
                          <a:solidFill>
                            <a:srgbClr val="0D2046"/>
                          </a:solidFill>
                          <a:latin typeface="Arial" pitchFamily="34" charset="0"/>
                          <a:ea typeface="Arial" pitchFamily="34" charset="-122"/>
                          <a:cs typeface="Arial" pitchFamily="34" charset="-120"/>
                        </a:rPr>
                        <a:t>Oui</a:t>
                      </a:r>
                      <a:endParaRPr lang="en-US" sz="1200" dirty="0">
                        <a:latin typeface="Arial" charset="0"/>
                        <a:ea typeface="Arial" charset="0"/>
                        <a:cs typeface="Arial" charset="0"/>
                      </a:endParaRPr>
                    </a:p>
                  </a:txBody>
                  <a:tcPr marL="53340" marR="53340" marT="53340" marB="53340" anchor="t">
                    <a:lnL w="12700" cap="flat" cmpd="sng" algn="ctr">
                      <a:solidFill>
                        <a:srgbClr val="C9CACB"/>
                      </a:solidFill>
                      <a:prstDash val="solid"/>
                      <a:round/>
                      <a:headEnd type="none" w="med" len="med"/>
                      <a:tailEnd type="none" w="med" len="med"/>
                    </a:lnL>
                    <a:lnR w="12700" cap="flat" cmpd="sng" algn="ctr">
                      <a:solidFill>
                        <a:srgbClr val="C9CACB"/>
                      </a:solidFill>
                      <a:prstDash val="solid"/>
                      <a:round/>
                      <a:headEnd type="none" w="med" len="med"/>
                      <a:tailEnd type="none" w="med" len="med"/>
                    </a:lnR>
                    <a:lnT w="12700" cap="flat" cmpd="sng" algn="ctr">
                      <a:solidFill>
                        <a:srgbClr val="B5BAC3"/>
                      </a:solidFill>
                      <a:prstDash val="solid"/>
                      <a:round/>
                      <a:headEnd type="none" w="med" len="med"/>
                      <a:tailEnd type="none" w="med" len="med"/>
                    </a:lnT>
                    <a:lnB w="12700" cap="flat" cmpd="sng" algn="ctr">
                      <a:solidFill>
                        <a:srgbClr val="C9CACB"/>
                      </a:solidFill>
                      <a:prstDash val="solid"/>
                      <a:round/>
                      <a:headEnd type="none" w="med" len="med"/>
                      <a:tailEnd type="none" w="med" len="med"/>
                    </a:lnB>
                  </a:tcPr>
                </a:tc>
                <a:tc>
                  <a:txBody>
                    <a:bodyPr/>
                    <a:lstStyle/>
                    <a:p>
                      <a:pPr algn="ctr" indent="0" marL="0">
                        <a:lnSpc>
                          <a:spcPts val="1680"/>
                        </a:lnSpc>
                        <a:buNone/>
                      </a:pPr>
                      <a:r>
                        <a:rPr lang="en-US" sz="1200" dirty="0">
                          <a:solidFill>
                            <a:srgbClr val="0D2046"/>
                          </a:solidFill>
                          <a:latin typeface="Arial" pitchFamily="34" charset="0"/>
                          <a:ea typeface="Arial" pitchFamily="34" charset="-122"/>
                          <a:cs typeface="Arial" pitchFamily="34" charset="-120"/>
                        </a:rPr>
                        <a:t>Oui</a:t>
                      </a:r>
                      <a:endParaRPr lang="en-US" sz="1200" dirty="0">
                        <a:latin typeface="Arial" charset="0"/>
                        <a:ea typeface="Arial" charset="0"/>
                        <a:cs typeface="Arial" charset="0"/>
                      </a:endParaRPr>
                    </a:p>
                  </a:txBody>
                  <a:tcPr marL="53340" marR="53340" marT="53340" marB="53340" anchor="t">
                    <a:lnL w="12700" cap="flat" cmpd="sng" algn="ctr">
                      <a:solidFill>
                        <a:srgbClr val="C9CACB"/>
                      </a:solidFill>
                      <a:prstDash val="solid"/>
                      <a:round/>
                      <a:headEnd type="none" w="med" len="med"/>
                      <a:tailEnd type="none" w="med" len="med"/>
                    </a:lnL>
                    <a:lnR w="12700" cap="flat" cmpd="sng" algn="ctr">
                      <a:solidFill>
                        <a:srgbClr val="C9CACB"/>
                      </a:solidFill>
                      <a:prstDash val="solid"/>
                      <a:round/>
                      <a:headEnd type="none" w="med" len="med"/>
                      <a:tailEnd type="none" w="med" len="med"/>
                    </a:lnR>
                    <a:lnT w="12700" cap="flat" cmpd="sng" algn="ctr">
                      <a:solidFill>
                        <a:srgbClr val="B5BAC3"/>
                      </a:solidFill>
                      <a:prstDash val="solid"/>
                      <a:round/>
                      <a:headEnd type="none" w="med" len="med"/>
                      <a:tailEnd type="none" w="med" len="med"/>
                    </a:lnT>
                    <a:lnB w="12700" cap="flat" cmpd="sng" algn="ctr">
                      <a:solidFill>
                        <a:srgbClr val="C9CACB"/>
                      </a:solidFill>
                      <a:prstDash val="solid"/>
                      <a:round/>
                      <a:headEnd type="none" w="med" len="med"/>
                      <a:tailEnd type="none" w="med" len="med"/>
                    </a:lnB>
                  </a:tcPr>
                </a:tc>
              </a:tr>
              <a:tr h="327131">
                <a:tc>
                  <a:txBody>
                    <a:bodyPr/>
                    <a:lstStyle/>
                    <a:p>
                      <a:pPr indent="0" marL="0">
                        <a:lnSpc>
                          <a:spcPts val="1680"/>
                        </a:lnSpc>
                        <a:buNone/>
                      </a:pPr>
                      <a:r>
                        <a:rPr lang="en-US" sz="1200" dirty="0">
                          <a:solidFill>
                            <a:srgbClr val="0D2046"/>
                          </a:solidFill>
                          <a:latin typeface="Arial" pitchFamily="34" charset="0"/>
                          <a:ea typeface="Arial" pitchFamily="34" charset="-122"/>
                          <a:cs typeface="Arial" pitchFamily="34" charset="-120"/>
                        </a:rPr>
                        <a:t>Gérer le matériel et les catégories</a:t>
                      </a:r>
                      <a:endParaRPr lang="en-US" sz="1200" dirty="0">
                        <a:latin typeface="Arial" charset="0"/>
                        <a:ea typeface="Arial" charset="0"/>
                        <a:cs typeface="Arial" charset="0"/>
                      </a:endParaRPr>
                    </a:p>
                  </a:txBody>
                  <a:tcPr marL="53340" marR="53340" marT="53340" marB="53340" anchor="t">
                    <a:lnL w="12700" cap="flat" cmpd="sng" algn="ctr">
                      <a:solidFill>
                        <a:srgbClr val="C9CACB"/>
                      </a:solidFill>
                      <a:prstDash val="solid"/>
                      <a:round/>
                      <a:headEnd type="none" w="med" len="med"/>
                      <a:tailEnd type="none" w="med" len="med"/>
                    </a:lnL>
                    <a:lnR w="12700" cap="flat" cmpd="sng" algn="ctr">
                      <a:solidFill>
                        <a:srgbClr val="C9CACB"/>
                      </a:solidFill>
                      <a:prstDash val="solid"/>
                      <a:round/>
                      <a:headEnd type="none" w="med" len="med"/>
                      <a:tailEnd type="none" w="med" len="med"/>
                    </a:lnR>
                    <a:lnT w="12700" cap="flat" cmpd="sng" algn="ctr">
                      <a:solidFill>
                        <a:srgbClr val="C9CACB"/>
                      </a:solidFill>
                      <a:prstDash val="solid"/>
                      <a:round/>
                      <a:headEnd type="none" w="med" len="med"/>
                      <a:tailEnd type="none" w="med" len="med"/>
                    </a:lnT>
                    <a:lnB w="12700" cap="flat" cmpd="sng" algn="ctr">
                      <a:solidFill>
                        <a:srgbClr val="C9CACB"/>
                      </a:solidFill>
                      <a:prstDash val="solid"/>
                      <a:round/>
                      <a:headEnd type="none" w="med" len="med"/>
                      <a:tailEnd type="none" w="med" len="med"/>
                    </a:lnB>
                  </a:tcPr>
                </a:tc>
                <a:tc>
                  <a:txBody>
                    <a:bodyPr/>
                    <a:lstStyle/>
                    <a:p>
                      <a:pPr algn="ctr" indent="0" marL="0">
                        <a:lnSpc>
                          <a:spcPts val="1680"/>
                        </a:lnSpc>
                        <a:buNone/>
                      </a:pPr>
                      <a:r>
                        <a:rPr lang="en-US" sz="1200" dirty="0">
                          <a:solidFill>
                            <a:srgbClr val="0D2046"/>
                          </a:solidFill>
                          <a:latin typeface="Arial" pitchFamily="34" charset="0"/>
                          <a:ea typeface="Arial" pitchFamily="34" charset="-122"/>
                          <a:cs typeface="Arial" pitchFamily="34" charset="-120"/>
                        </a:rPr>
                        <a:t>Oui</a:t>
                      </a:r>
                      <a:endParaRPr lang="en-US" sz="1200" dirty="0">
                        <a:latin typeface="Arial" charset="0"/>
                        <a:ea typeface="Arial" charset="0"/>
                        <a:cs typeface="Arial" charset="0"/>
                      </a:endParaRPr>
                    </a:p>
                  </a:txBody>
                  <a:tcPr marL="53340" marR="53340" marT="53340" marB="53340" anchor="t">
                    <a:lnL w="12700" cap="flat" cmpd="sng" algn="ctr">
                      <a:solidFill>
                        <a:srgbClr val="C9CACB"/>
                      </a:solidFill>
                      <a:prstDash val="solid"/>
                      <a:round/>
                      <a:headEnd type="none" w="med" len="med"/>
                      <a:tailEnd type="none" w="med" len="med"/>
                    </a:lnL>
                    <a:lnR w="12700" cap="flat" cmpd="sng" algn="ctr">
                      <a:solidFill>
                        <a:srgbClr val="C9CACB"/>
                      </a:solidFill>
                      <a:prstDash val="solid"/>
                      <a:round/>
                      <a:headEnd type="none" w="med" len="med"/>
                      <a:tailEnd type="none" w="med" len="med"/>
                    </a:lnR>
                    <a:lnT w="12700" cap="flat" cmpd="sng" algn="ctr">
                      <a:solidFill>
                        <a:srgbClr val="C9CACB"/>
                      </a:solidFill>
                      <a:prstDash val="solid"/>
                      <a:round/>
                      <a:headEnd type="none" w="med" len="med"/>
                      <a:tailEnd type="none" w="med" len="med"/>
                    </a:lnT>
                    <a:lnB w="12700" cap="flat" cmpd="sng" algn="ctr">
                      <a:solidFill>
                        <a:srgbClr val="C9CACB"/>
                      </a:solidFill>
                      <a:prstDash val="solid"/>
                      <a:round/>
                      <a:headEnd type="none" w="med" len="med"/>
                      <a:tailEnd type="none" w="med" len="med"/>
                    </a:lnB>
                  </a:tcPr>
                </a:tc>
                <a:tc>
                  <a:txBody>
                    <a:bodyPr/>
                    <a:lstStyle/>
                    <a:p>
                      <a:pPr algn="ctr" indent="0" marL="0">
                        <a:lnSpc>
                          <a:spcPts val="1680"/>
                        </a:lnSpc>
                        <a:buNone/>
                      </a:pPr>
                      <a:r>
                        <a:rPr lang="en-US" sz="1200" dirty="0">
                          <a:solidFill>
                            <a:srgbClr val="0D2046"/>
                          </a:solidFill>
                          <a:latin typeface="Arial" pitchFamily="34" charset="0"/>
                          <a:ea typeface="Arial" pitchFamily="34" charset="-122"/>
                          <a:cs typeface="Arial" pitchFamily="34" charset="-120"/>
                        </a:rPr>
                        <a:t>Oui</a:t>
                      </a:r>
                      <a:endParaRPr lang="en-US" sz="1200" dirty="0">
                        <a:latin typeface="Arial" charset="0"/>
                        <a:ea typeface="Arial" charset="0"/>
                        <a:cs typeface="Arial" charset="0"/>
                      </a:endParaRPr>
                    </a:p>
                  </a:txBody>
                  <a:tcPr marL="53340" marR="53340" marT="53340" marB="53340" anchor="t">
                    <a:lnL w="12700" cap="flat" cmpd="sng" algn="ctr">
                      <a:solidFill>
                        <a:srgbClr val="C9CACB"/>
                      </a:solidFill>
                      <a:prstDash val="solid"/>
                      <a:round/>
                      <a:headEnd type="none" w="med" len="med"/>
                      <a:tailEnd type="none" w="med" len="med"/>
                    </a:lnL>
                    <a:lnR w="12700" cap="flat" cmpd="sng" algn="ctr">
                      <a:solidFill>
                        <a:srgbClr val="C9CACB"/>
                      </a:solidFill>
                      <a:prstDash val="solid"/>
                      <a:round/>
                      <a:headEnd type="none" w="med" len="med"/>
                      <a:tailEnd type="none" w="med" len="med"/>
                    </a:lnR>
                    <a:lnT w="12700" cap="flat" cmpd="sng" algn="ctr">
                      <a:solidFill>
                        <a:srgbClr val="C9CACB"/>
                      </a:solidFill>
                      <a:prstDash val="solid"/>
                      <a:round/>
                      <a:headEnd type="none" w="med" len="med"/>
                      <a:tailEnd type="none" w="med" len="med"/>
                    </a:lnT>
                    <a:lnB w="12700" cap="flat" cmpd="sng" algn="ctr">
                      <a:solidFill>
                        <a:srgbClr val="C9CACB"/>
                      </a:solidFill>
                      <a:prstDash val="solid"/>
                      <a:round/>
                      <a:headEnd type="none" w="med" len="med"/>
                      <a:tailEnd type="none" w="med" len="med"/>
                    </a:lnB>
                  </a:tcPr>
                </a:tc>
                <a:tc>
                  <a:txBody>
                    <a:bodyPr/>
                    <a:lstStyle/>
                    <a:p>
                      <a:pPr algn="ctr" indent="0" marL="0">
                        <a:lnSpc>
                          <a:spcPts val="1680"/>
                        </a:lnSpc>
                        <a:buNone/>
                      </a:pPr>
                      <a:r>
                        <a:rPr lang="en-US" sz="1200" dirty="0">
                          <a:solidFill>
                            <a:srgbClr val="0D2046"/>
                          </a:solidFill>
                          <a:latin typeface="Arial" pitchFamily="34" charset="0"/>
                          <a:ea typeface="Arial" pitchFamily="34" charset="-122"/>
                          <a:cs typeface="Arial" pitchFamily="34" charset="-120"/>
                        </a:rPr>
                        <a:t>Non</a:t>
                      </a:r>
                      <a:endParaRPr lang="en-US" sz="1200" dirty="0">
                        <a:latin typeface="Arial" charset="0"/>
                        <a:ea typeface="Arial" charset="0"/>
                        <a:cs typeface="Arial" charset="0"/>
                      </a:endParaRPr>
                    </a:p>
                  </a:txBody>
                  <a:tcPr marL="53340" marR="53340" marT="53340" marB="53340" anchor="t">
                    <a:lnL w="12700" cap="flat" cmpd="sng" algn="ctr">
                      <a:solidFill>
                        <a:srgbClr val="C9CACB"/>
                      </a:solidFill>
                      <a:prstDash val="solid"/>
                      <a:round/>
                      <a:headEnd type="none" w="med" len="med"/>
                      <a:tailEnd type="none" w="med" len="med"/>
                    </a:lnL>
                    <a:lnR w="12700" cap="flat" cmpd="sng" algn="ctr">
                      <a:solidFill>
                        <a:srgbClr val="C9CACB"/>
                      </a:solidFill>
                      <a:prstDash val="solid"/>
                      <a:round/>
                      <a:headEnd type="none" w="med" len="med"/>
                      <a:tailEnd type="none" w="med" len="med"/>
                    </a:lnR>
                    <a:lnT w="12700" cap="flat" cmpd="sng" algn="ctr">
                      <a:solidFill>
                        <a:srgbClr val="C9CACB"/>
                      </a:solidFill>
                      <a:prstDash val="solid"/>
                      <a:round/>
                      <a:headEnd type="none" w="med" len="med"/>
                      <a:tailEnd type="none" w="med" len="med"/>
                    </a:lnT>
                    <a:lnB w="12700" cap="flat" cmpd="sng" algn="ctr">
                      <a:solidFill>
                        <a:srgbClr val="C9CACB"/>
                      </a:solidFill>
                      <a:prstDash val="solid"/>
                      <a:round/>
                      <a:headEnd type="none" w="med" len="med"/>
                      <a:tailEnd type="none" w="med" len="med"/>
                    </a:lnB>
                  </a:tcPr>
                </a:tc>
              </a:tr>
              <a:tr h="327131">
                <a:tc>
                  <a:txBody>
                    <a:bodyPr/>
                    <a:lstStyle/>
                    <a:p>
                      <a:pPr indent="0" marL="0">
                        <a:lnSpc>
                          <a:spcPts val="1680"/>
                        </a:lnSpc>
                        <a:buNone/>
                      </a:pPr>
                      <a:r>
                        <a:rPr lang="en-US" sz="1200" dirty="0">
                          <a:solidFill>
                            <a:srgbClr val="0D2046"/>
                          </a:solidFill>
                          <a:latin typeface="Arial" pitchFamily="34" charset="0"/>
                          <a:ea typeface="Arial" pitchFamily="34" charset="-122"/>
                          <a:cs typeface="Arial" pitchFamily="34" charset="-120"/>
                        </a:rPr>
                        <a:t>Exporter l'inventaire</a:t>
                      </a:r>
                      <a:endParaRPr lang="en-US" sz="1200" dirty="0">
                        <a:latin typeface="Arial" charset="0"/>
                        <a:ea typeface="Arial" charset="0"/>
                        <a:cs typeface="Arial" charset="0"/>
                      </a:endParaRPr>
                    </a:p>
                  </a:txBody>
                  <a:tcPr marL="53340" marR="53340" marT="53340" marB="53340" anchor="t">
                    <a:lnL w="12700" cap="flat" cmpd="sng" algn="ctr">
                      <a:solidFill>
                        <a:srgbClr val="C9CACB"/>
                      </a:solidFill>
                      <a:prstDash val="solid"/>
                      <a:round/>
                      <a:headEnd type="none" w="med" len="med"/>
                      <a:tailEnd type="none" w="med" len="med"/>
                    </a:lnL>
                    <a:lnR w="12700" cap="flat" cmpd="sng" algn="ctr">
                      <a:solidFill>
                        <a:srgbClr val="C9CACB"/>
                      </a:solidFill>
                      <a:prstDash val="solid"/>
                      <a:round/>
                      <a:headEnd type="none" w="med" len="med"/>
                      <a:tailEnd type="none" w="med" len="med"/>
                    </a:lnR>
                    <a:lnT w="12700" cap="flat" cmpd="sng" algn="ctr">
                      <a:solidFill>
                        <a:srgbClr val="C9CACB"/>
                      </a:solidFill>
                      <a:prstDash val="solid"/>
                      <a:round/>
                      <a:headEnd type="none" w="med" len="med"/>
                      <a:tailEnd type="none" w="med" len="med"/>
                    </a:lnT>
                    <a:lnB w="12700" cap="flat" cmpd="sng" algn="ctr">
                      <a:solidFill>
                        <a:srgbClr val="C9CACB"/>
                      </a:solidFill>
                      <a:prstDash val="solid"/>
                      <a:round/>
                      <a:headEnd type="none" w="med" len="med"/>
                      <a:tailEnd type="none" w="med" len="med"/>
                    </a:lnB>
                  </a:tcPr>
                </a:tc>
                <a:tc>
                  <a:txBody>
                    <a:bodyPr/>
                    <a:lstStyle/>
                    <a:p>
                      <a:pPr algn="ctr" indent="0" marL="0">
                        <a:lnSpc>
                          <a:spcPts val="1680"/>
                        </a:lnSpc>
                        <a:buNone/>
                      </a:pPr>
                      <a:r>
                        <a:rPr lang="en-US" sz="1200" dirty="0">
                          <a:solidFill>
                            <a:srgbClr val="0D2046"/>
                          </a:solidFill>
                          <a:latin typeface="Arial" pitchFamily="34" charset="0"/>
                          <a:ea typeface="Arial" pitchFamily="34" charset="-122"/>
                          <a:cs typeface="Arial" pitchFamily="34" charset="-120"/>
                        </a:rPr>
                        <a:t>Oui</a:t>
                      </a:r>
                      <a:endParaRPr lang="en-US" sz="1200" dirty="0">
                        <a:latin typeface="Arial" charset="0"/>
                        <a:ea typeface="Arial" charset="0"/>
                        <a:cs typeface="Arial" charset="0"/>
                      </a:endParaRPr>
                    </a:p>
                  </a:txBody>
                  <a:tcPr marL="53340" marR="53340" marT="53340" marB="53340" anchor="t">
                    <a:lnL w="12700" cap="flat" cmpd="sng" algn="ctr">
                      <a:solidFill>
                        <a:srgbClr val="C9CACB"/>
                      </a:solidFill>
                      <a:prstDash val="solid"/>
                      <a:round/>
                      <a:headEnd type="none" w="med" len="med"/>
                      <a:tailEnd type="none" w="med" len="med"/>
                    </a:lnL>
                    <a:lnR w="12700" cap="flat" cmpd="sng" algn="ctr">
                      <a:solidFill>
                        <a:srgbClr val="C9CACB"/>
                      </a:solidFill>
                      <a:prstDash val="solid"/>
                      <a:round/>
                      <a:headEnd type="none" w="med" len="med"/>
                      <a:tailEnd type="none" w="med" len="med"/>
                    </a:lnR>
                    <a:lnT w="12700" cap="flat" cmpd="sng" algn="ctr">
                      <a:solidFill>
                        <a:srgbClr val="C9CACB"/>
                      </a:solidFill>
                      <a:prstDash val="solid"/>
                      <a:round/>
                      <a:headEnd type="none" w="med" len="med"/>
                      <a:tailEnd type="none" w="med" len="med"/>
                    </a:lnT>
                    <a:lnB w="12700" cap="flat" cmpd="sng" algn="ctr">
                      <a:solidFill>
                        <a:srgbClr val="C9CACB"/>
                      </a:solidFill>
                      <a:prstDash val="solid"/>
                      <a:round/>
                      <a:headEnd type="none" w="med" len="med"/>
                      <a:tailEnd type="none" w="med" len="med"/>
                    </a:lnB>
                  </a:tcPr>
                </a:tc>
                <a:tc>
                  <a:txBody>
                    <a:bodyPr/>
                    <a:lstStyle/>
                    <a:p>
                      <a:pPr algn="ctr" indent="0" marL="0">
                        <a:lnSpc>
                          <a:spcPts val="1680"/>
                        </a:lnSpc>
                        <a:buNone/>
                      </a:pPr>
                      <a:r>
                        <a:rPr lang="en-US" sz="1200" dirty="0">
                          <a:solidFill>
                            <a:srgbClr val="0D2046"/>
                          </a:solidFill>
                          <a:latin typeface="Arial" pitchFamily="34" charset="0"/>
                          <a:ea typeface="Arial" pitchFamily="34" charset="-122"/>
                          <a:cs typeface="Arial" pitchFamily="34" charset="-120"/>
                        </a:rPr>
                        <a:t>Oui</a:t>
                      </a:r>
                      <a:endParaRPr lang="en-US" sz="1200" dirty="0">
                        <a:latin typeface="Arial" charset="0"/>
                        <a:ea typeface="Arial" charset="0"/>
                        <a:cs typeface="Arial" charset="0"/>
                      </a:endParaRPr>
                    </a:p>
                  </a:txBody>
                  <a:tcPr marL="53340" marR="53340" marT="53340" marB="53340" anchor="t">
                    <a:lnL w="12700" cap="flat" cmpd="sng" algn="ctr">
                      <a:solidFill>
                        <a:srgbClr val="C9CACB"/>
                      </a:solidFill>
                      <a:prstDash val="solid"/>
                      <a:round/>
                      <a:headEnd type="none" w="med" len="med"/>
                      <a:tailEnd type="none" w="med" len="med"/>
                    </a:lnL>
                    <a:lnR w="12700" cap="flat" cmpd="sng" algn="ctr">
                      <a:solidFill>
                        <a:srgbClr val="C9CACB"/>
                      </a:solidFill>
                      <a:prstDash val="solid"/>
                      <a:round/>
                      <a:headEnd type="none" w="med" len="med"/>
                      <a:tailEnd type="none" w="med" len="med"/>
                    </a:lnR>
                    <a:lnT w="12700" cap="flat" cmpd="sng" algn="ctr">
                      <a:solidFill>
                        <a:srgbClr val="C9CACB"/>
                      </a:solidFill>
                      <a:prstDash val="solid"/>
                      <a:round/>
                      <a:headEnd type="none" w="med" len="med"/>
                      <a:tailEnd type="none" w="med" len="med"/>
                    </a:lnT>
                    <a:lnB w="12700" cap="flat" cmpd="sng" algn="ctr">
                      <a:solidFill>
                        <a:srgbClr val="C9CACB"/>
                      </a:solidFill>
                      <a:prstDash val="solid"/>
                      <a:round/>
                      <a:headEnd type="none" w="med" len="med"/>
                      <a:tailEnd type="none" w="med" len="med"/>
                    </a:lnB>
                  </a:tcPr>
                </a:tc>
                <a:tc>
                  <a:txBody>
                    <a:bodyPr/>
                    <a:lstStyle/>
                    <a:p>
                      <a:pPr algn="ctr" indent="0" marL="0">
                        <a:lnSpc>
                          <a:spcPts val="1680"/>
                        </a:lnSpc>
                        <a:buNone/>
                      </a:pPr>
                      <a:r>
                        <a:rPr lang="en-US" sz="1200" dirty="0">
                          <a:solidFill>
                            <a:srgbClr val="0D2046"/>
                          </a:solidFill>
                          <a:latin typeface="Arial" pitchFamily="34" charset="0"/>
                          <a:ea typeface="Arial" pitchFamily="34" charset="-122"/>
                          <a:cs typeface="Arial" pitchFamily="34" charset="-120"/>
                        </a:rPr>
                        <a:t>Non</a:t>
                      </a:r>
                      <a:endParaRPr lang="en-US" sz="1200" dirty="0">
                        <a:latin typeface="Arial" charset="0"/>
                        <a:ea typeface="Arial" charset="0"/>
                        <a:cs typeface="Arial" charset="0"/>
                      </a:endParaRPr>
                    </a:p>
                  </a:txBody>
                  <a:tcPr marL="53340" marR="53340" marT="53340" marB="53340" anchor="t">
                    <a:lnL w="12700" cap="flat" cmpd="sng" algn="ctr">
                      <a:solidFill>
                        <a:srgbClr val="C9CACB"/>
                      </a:solidFill>
                      <a:prstDash val="solid"/>
                      <a:round/>
                      <a:headEnd type="none" w="med" len="med"/>
                      <a:tailEnd type="none" w="med" len="med"/>
                    </a:lnL>
                    <a:lnR w="12700" cap="flat" cmpd="sng" algn="ctr">
                      <a:solidFill>
                        <a:srgbClr val="C9CACB"/>
                      </a:solidFill>
                      <a:prstDash val="solid"/>
                      <a:round/>
                      <a:headEnd type="none" w="med" len="med"/>
                      <a:tailEnd type="none" w="med" len="med"/>
                    </a:lnR>
                    <a:lnT w="12700" cap="flat" cmpd="sng" algn="ctr">
                      <a:solidFill>
                        <a:srgbClr val="C9CACB"/>
                      </a:solidFill>
                      <a:prstDash val="solid"/>
                      <a:round/>
                      <a:headEnd type="none" w="med" len="med"/>
                      <a:tailEnd type="none" w="med" len="med"/>
                    </a:lnT>
                    <a:lnB w="12700" cap="flat" cmpd="sng" algn="ctr">
                      <a:solidFill>
                        <a:srgbClr val="C9CACB"/>
                      </a:solidFill>
                      <a:prstDash val="solid"/>
                      <a:round/>
                      <a:headEnd type="none" w="med" len="med"/>
                      <a:tailEnd type="none" w="med" len="med"/>
                    </a:lnB>
                  </a:tcPr>
                </a:tc>
              </a:tr>
              <a:tr h="327131">
                <a:tc>
                  <a:txBody>
                    <a:bodyPr/>
                    <a:lstStyle/>
                    <a:p>
                      <a:pPr indent="0" marL="0">
                        <a:lnSpc>
                          <a:spcPts val="1680"/>
                        </a:lnSpc>
                        <a:buNone/>
                      </a:pPr>
                      <a:r>
                        <a:rPr lang="en-US" sz="1200" dirty="0">
                          <a:solidFill>
                            <a:srgbClr val="0D2046"/>
                          </a:solidFill>
                          <a:latin typeface="Arial" pitchFamily="34" charset="0"/>
                          <a:ea typeface="Arial" pitchFamily="34" charset="-122"/>
                          <a:cs typeface="Arial" pitchFamily="34" charset="-120"/>
                        </a:rPr>
                        <a:t>Voir l'historique d'un matériel actif</a:t>
                      </a:r>
                      <a:endParaRPr lang="en-US" sz="1200" dirty="0">
                        <a:latin typeface="Arial" charset="0"/>
                        <a:ea typeface="Arial" charset="0"/>
                        <a:cs typeface="Arial" charset="0"/>
                      </a:endParaRPr>
                    </a:p>
                  </a:txBody>
                  <a:tcPr marL="53340" marR="53340" marT="53340" marB="53340" anchor="t">
                    <a:lnL w="12700" cap="flat" cmpd="sng" algn="ctr">
                      <a:solidFill>
                        <a:srgbClr val="C9CACB"/>
                      </a:solidFill>
                      <a:prstDash val="solid"/>
                      <a:round/>
                      <a:headEnd type="none" w="med" len="med"/>
                      <a:tailEnd type="none" w="med" len="med"/>
                    </a:lnL>
                    <a:lnR w="12700" cap="flat" cmpd="sng" algn="ctr">
                      <a:solidFill>
                        <a:srgbClr val="C9CACB"/>
                      </a:solidFill>
                      <a:prstDash val="solid"/>
                      <a:round/>
                      <a:headEnd type="none" w="med" len="med"/>
                      <a:tailEnd type="none" w="med" len="med"/>
                    </a:lnR>
                    <a:lnT w="12700" cap="flat" cmpd="sng" algn="ctr">
                      <a:solidFill>
                        <a:srgbClr val="C9CACB"/>
                      </a:solidFill>
                      <a:prstDash val="solid"/>
                      <a:round/>
                      <a:headEnd type="none" w="med" len="med"/>
                      <a:tailEnd type="none" w="med" len="med"/>
                    </a:lnT>
                    <a:lnB w="12700" cap="flat" cmpd="sng" algn="ctr">
                      <a:solidFill>
                        <a:srgbClr val="C9CACB"/>
                      </a:solidFill>
                      <a:prstDash val="solid"/>
                      <a:round/>
                      <a:headEnd type="none" w="med" len="med"/>
                      <a:tailEnd type="none" w="med" len="med"/>
                    </a:lnB>
                  </a:tcPr>
                </a:tc>
                <a:tc>
                  <a:txBody>
                    <a:bodyPr/>
                    <a:lstStyle/>
                    <a:p>
                      <a:pPr algn="ctr" indent="0" marL="0">
                        <a:lnSpc>
                          <a:spcPts val="1680"/>
                        </a:lnSpc>
                        <a:buNone/>
                      </a:pPr>
                      <a:r>
                        <a:rPr lang="en-US" sz="1200" dirty="0">
                          <a:solidFill>
                            <a:srgbClr val="0D2046"/>
                          </a:solidFill>
                          <a:latin typeface="Arial" pitchFamily="34" charset="0"/>
                          <a:ea typeface="Arial" pitchFamily="34" charset="-122"/>
                          <a:cs typeface="Arial" pitchFamily="34" charset="-120"/>
                        </a:rPr>
                        <a:t>Oui</a:t>
                      </a:r>
                      <a:endParaRPr lang="en-US" sz="1200" dirty="0">
                        <a:latin typeface="Arial" charset="0"/>
                        <a:ea typeface="Arial" charset="0"/>
                        <a:cs typeface="Arial" charset="0"/>
                      </a:endParaRPr>
                    </a:p>
                  </a:txBody>
                  <a:tcPr marL="53340" marR="53340" marT="53340" marB="53340" anchor="t">
                    <a:lnL w="12700" cap="flat" cmpd="sng" algn="ctr">
                      <a:solidFill>
                        <a:srgbClr val="C9CACB"/>
                      </a:solidFill>
                      <a:prstDash val="solid"/>
                      <a:round/>
                      <a:headEnd type="none" w="med" len="med"/>
                      <a:tailEnd type="none" w="med" len="med"/>
                    </a:lnL>
                    <a:lnR w="12700" cap="flat" cmpd="sng" algn="ctr">
                      <a:solidFill>
                        <a:srgbClr val="C9CACB"/>
                      </a:solidFill>
                      <a:prstDash val="solid"/>
                      <a:round/>
                      <a:headEnd type="none" w="med" len="med"/>
                      <a:tailEnd type="none" w="med" len="med"/>
                    </a:lnR>
                    <a:lnT w="12700" cap="flat" cmpd="sng" algn="ctr">
                      <a:solidFill>
                        <a:srgbClr val="C9CACB"/>
                      </a:solidFill>
                      <a:prstDash val="solid"/>
                      <a:round/>
                      <a:headEnd type="none" w="med" len="med"/>
                      <a:tailEnd type="none" w="med" len="med"/>
                    </a:lnT>
                    <a:lnB w="12700" cap="flat" cmpd="sng" algn="ctr">
                      <a:solidFill>
                        <a:srgbClr val="C9CACB"/>
                      </a:solidFill>
                      <a:prstDash val="solid"/>
                      <a:round/>
                      <a:headEnd type="none" w="med" len="med"/>
                      <a:tailEnd type="none" w="med" len="med"/>
                    </a:lnB>
                  </a:tcPr>
                </a:tc>
                <a:tc>
                  <a:txBody>
                    <a:bodyPr/>
                    <a:lstStyle/>
                    <a:p>
                      <a:pPr algn="ctr" indent="0" marL="0">
                        <a:lnSpc>
                          <a:spcPts val="1680"/>
                        </a:lnSpc>
                        <a:buNone/>
                      </a:pPr>
                      <a:r>
                        <a:rPr lang="en-US" sz="1200" dirty="0">
                          <a:solidFill>
                            <a:srgbClr val="0D2046"/>
                          </a:solidFill>
                          <a:latin typeface="Arial" pitchFamily="34" charset="0"/>
                          <a:ea typeface="Arial" pitchFamily="34" charset="-122"/>
                          <a:cs typeface="Arial" pitchFamily="34" charset="-120"/>
                        </a:rPr>
                        <a:t>Oui, projets masqués</a:t>
                      </a:r>
                      <a:endParaRPr lang="en-US" sz="1200" dirty="0">
                        <a:latin typeface="Arial" charset="0"/>
                        <a:ea typeface="Arial" charset="0"/>
                        <a:cs typeface="Arial" charset="0"/>
                      </a:endParaRPr>
                    </a:p>
                  </a:txBody>
                  <a:tcPr marL="53340" marR="53340" marT="53340" marB="53340" anchor="t">
                    <a:lnL w="12700" cap="flat" cmpd="sng" algn="ctr">
                      <a:solidFill>
                        <a:srgbClr val="C9CACB"/>
                      </a:solidFill>
                      <a:prstDash val="solid"/>
                      <a:round/>
                      <a:headEnd type="none" w="med" len="med"/>
                      <a:tailEnd type="none" w="med" len="med"/>
                    </a:lnL>
                    <a:lnR w="12700" cap="flat" cmpd="sng" algn="ctr">
                      <a:solidFill>
                        <a:srgbClr val="C9CACB"/>
                      </a:solidFill>
                      <a:prstDash val="solid"/>
                      <a:round/>
                      <a:headEnd type="none" w="med" len="med"/>
                      <a:tailEnd type="none" w="med" len="med"/>
                    </a:lnR>
                    <a:lnT w="12700" cap="flat" cmpd="sng" algn="ctr">
                      <a:solidFill>
                        <a:srgbClr val="C9CACB"/>
                      </a:solidFill>
                      <a:prstDash val="solid"/>
                      <a:round/>
                      <a:headEnd type="none" w="med" len="med"/>
                      <a:tailEnd type="none" w="med" len="med"/>
                    </a:lnT>
                    <a:lnB w="12700" cap="flat" cmpd="sng" algn="ctr">
                      <a:solidFill>
                        <a:srgbClr val="C9CACB"/>
                      </a:solidFill>
                      <a:prstDash val="solid"/>
                      <a:round/>
                      <a:headEnd type="none" w="med" len="med"/>
                      <a:tailEnd type="none" w="med" len="med"/>
                    </a:lnB>
                  </a:tcPr>
                </a:tc>
                <a:tc>
                  <a:txBody>
                    <a:bodyPr/>
                    <a:lstStyle/>
                    <a:p>
                      <a:pPr algn="ctr" indent="0" marL="0">
                        <a:lnSpc>
                          <a:spcPts val="1680"/>
                        </a:lnSpc>
                        <a:buNone/>
                      </a:pPr>
                      <a:r>
                        <a:rPr lang="en-US" sz="1200" dirty="0">
                          <a:solidFill>
                            <a:srgbClr val="0D2046"/>
                          </a:solidFill>
                          <a:latin typeface="Arial" pitchFamily="34" charset="0"/>
                          <a:ea typeface="Arial" pitchFamily="34" charset="-122"/>
                          <a:cs typeface="Arial" pitchFamily="34" charset="-120"/>
                        </a:rPr>
                        <a:t>Non</a:t>
                      </a:r>
                      <a:endParaRPr lang="en-US" sz="1200" dirty="0">
                        <a:latin typeface="Arial" charset="0"/>
                        <a:ea typeface="Arial" charset="0"/>
                        <a:cs typeface="Arial" charset="0"/>
                      </a:endParaRPr>
                    </a:p>
                  </a:txBody>
                  <a:tcPr marL="53340" marR="53340" marT="53340" marB="53340" anchor="t">
                    <a:lnL w="12700" cap="flat" cmpd="sng" algn="ctr">
                      <a:solidFill>
                        <a:srgbClr val="C9CACB"/>
                      </a:solidFill>
                      <a:prstDash val="solid"/>
                      <a:round/>
                      <a:headEnd type="none" w="med" len="med"/>
                      <a:tailEnd type="none" w="med" len="med"/>
                    </a:lnL>
                    <a:lnR w="12700" cap="flat" cmpd="sng" algn="ctr">
                      <a:solidFill>
                        <a:srgbClr val="C9CACB"/>
                      </a:solidFill>
                      <a:prstDash val="solid"/>
                      <a:round/>
                      <a:headEnd type="none" w="med" len="med"/>
                      <a:tailEnd type="none" w="med" len="med"/>
                    </a:lnR>
                    <a:lnT w="12700" cap="flat" cmpd="sng" algn="ctr">
                      <a:solidFill>
                        <a:srgbClr val="C9CACB"/>
                      </a:solidFill>
                      <a:prstDash val="solid"/>
                      <a:round/>
                      <a:headEnd type="none" w="med" len="med"/>
                      <a:tailEnd type="none" w="med" len="med"/>
                    </a:lnT>
                    <a:lnB w="12700" cap="flat" cmpd="sng" algn="ctr">
                      <a:solidFill>
                        <a:srgbClr val="C9CACB"/>
                      </a:solidFill>
                      <a:prstDash val="solid"/>
                      <a:round/>
                      <a:headEnd type="none" w="med" len="med"/>
                      <a:tailEnd type="none" w="med" len="med"/>
                    </a:lnB>
                  </a:tcPr>
                </a:tc>
              </a:tr>
              <a:tr h="327131">
                <a:tc>
                  <a:txBody>
                    <a:bodyPr/>
                    <a:lstStyle/>
                    <a:p>
                      <a:pPr indent="0" marL="0">
                        <a:lnSpc>
                          <a:spcPts val="1680"/>
                        </a:lnSpc>
                        <a:buNone/>
                      </a:pPr>
                      <a:r>
                        <a:rPr lang="en-US" sz="1200" dirty="0">
                          <a:solidFill>
                            <a:srgbClr val="0D2046"/>
                          </a:solidFill>
                          <a:latin typeface="Arial" pitchFamily="34" charset="0"/>
                          <a:ea typeface="Arial" pitchFamily="34" charset="-122"/>
                          <a:cs typeface="Arial" pitchFamily="34" charset="-120"/>
                        </a:rPr>
                        <a:t>Voir le matériel archivé</a:t>
                      </a:r>
                      <a:endParaRPr lang="en-US" sz="1200" dirty="0">
                        <a:latin typeface="Arial" charset="0"/>
                        <a:ea typeface="Arial" charset="0"/>
                        <a:cs typeface="Arial" charset="0"/>
                      </a:endParaRPr>
                    </a:p>
                  </a:txBody>
                  <a:tcPr marL="53340" marR="53340" marT="53340" marB="53340" anchor="t">
                    <a:lnL w="12700" cap="flat" cmpd="sng" algn="ctr">
                      <a:solidFill>
                        <a:srgbClr val="C9CACB"/>
                      </a:solidFill>
                      <a:prstDash val="solid"/>
                      <a:round/>
                      <a:headEnd type="none" w="med" len="med"/>
                      <a:tailEnd type="none" w="med" len="med"/>
                    </a:lnL>
                    <a:lnR w="12700" cap="flat" cmpd="sng" algn="ctr">
                      <a:solidFill>
                        <a:srgbClr val="C9CACB"/>
                      </a:solidFill>
                      <a:prstDash val="solid"/>
                      <a:round/>
                      <a:headEnd type="none" w="med" len="med"/>
                      <a:tailEnd type="none" w="med" len="med"/>
                    </a:lnR>
                    <a:lnT w="12700" cap="flat" cmpd="sng" algn="ctr">
                      <a:solidFill>
                        <a:srgbClr val="C9CACB"/>
                      </a:solidFill>
                      <a:prstDash val="solid"/>
                      <a:round/>
                      <a:headEnd type="none" w="med" len="med"/>
                      <a:tailEnd type="none" w="med" len="med"/>
                    </a:lnT>
                    <a:lnB w="12700" cap="flat" cmpd="sng" algn="ctr">
                      <a:solidFill>
                        <a:srgbClr val="C9CACB"/>
                      </a:solidFill>
                      <a:prstDash val="solid"/>
                      <a:round/>
                      <a:headEnd type="none" w="med" len="med"/>
                      <a:tailEnd type="none" w="med" len="med"/>
                    </a:lnB>
                  </a:tcPr>
                </a:tc>
                <a:tc>
                  <a:txBody>
                    <a:bodyPr/>
                    <a:lstStyle/>
                    <a:p>
                      <a:pPr algn="ctr" indent="0" marL="0">
                        <a:lnSpc>
                          <a:spcPts val="1680"/>
                        </a:lnSpc>
                        <a:buNone/>
                      </a:pPr>
                      <a:r>
                        <a:rPr lang="en-US" sz="1200" dirty="0">
                          <a:solidFill>
                            <a:srgbClr val="0D2046"/>
                          </a:solidFill>
                          <a:latin typeface="Arial" pitchFamily="34" charset="0"/>
                          <a:ea typeface="Arial" pitchFamily="34" charset="-122"/>
                          <a:cs typeface="Arial" pitchFamily="34" charset="-120"/>
                        </a:rPr>
                        <a:t>Oui</a:t>
                      </a:r>
                      <a:endParaRPr lang="en-US" sz="1200" dirty="0">
                        <a:latin typeface="Arial" charset="0"/>
                        <a:ea typeface="Arial" charset="0"/>
                        <a:cs typeface="Arial" charset="0"/>
                      </a:endParaRPr>
                    </a:p>
                  </a:txBody>
                  <a:tcPr marL="53340" marR="53340" marT="53340" marB="53340" anchor="t">
                    <a:lnL w="12700" cap="flat" cmpd="sng" algn="ctr">
                      <a:solidFill>
                        <a:srgbClr val="C9CACB"/>
                      </a:solidFill>
                      <a:prstDash val="solid"/>
                      <a:round/>
                      <a:headEnd type="none" w="med" len="med"/>
                      <a:tailEnd type="none" w="med" len="med"/>
                    </a:lnL>
                    <a:lnR w="12700" cap="flat" cmpd="sng" algn="ctr">
                      <a:solidFill>
                        <a:srgbClr val="C9CACB"/>
                      </a:solidFill>
                      <a:prstDash val="solid"/>
                      <a:round/>
                      <a:headEnd type="none" w="med" len="med"/>
                      <a:tailEnd type="none" w="med" len="med"/>
                    </a:lnR>
                    <a:lnT w="12700" cap="flat" cmpd="sng" algn="ctr">
                      <a:solidFill>
                        <a:srgbClr val="C9CACB"/>
                      </a:solidFill>
                      <a:prstDash val="solid"/>
                      <a:round/>
                      <a:headEnd type="none" w="med" len="med"/>
                      <a:tailEnd type="none" w="med" len="med"/>
                    </a:lnT>
                    <a:lnB w="12700" cap="flat" cmpd="sng" algn="ctr">
                      <a:solidFill>
                        <a:srgbClr val="C9CACB"/>
                      </a:solidFill>
                      <a:prstDash val="solid"/>
                      <a:round/>
                      <a:headEnd type="none" w="med" len="med"/>
                      <a:tailEnd type="none" w="med" len="med"/>
                    </a:lnB>
                  </a:tcPr>
                </a:tc>
                <a:tc>
                  <a:txBody>
                    <a:bodyPr/>
                    <a:lstStyle/>
                    <a:p>
                      <a:pPr algn="ctr" indent="0" marL="0">
                        <a:lnSpc>
                          <a:spcPts val="1680"/>
                        </a:lnSpc>
                        <a:buNone/>
                      </a:pPr>
                      <a:r>
                        <a:rPr lang="en-US" sz="1200" dirty="0">
                          <a:solidFill>
                            <a:srgbClr val="0D2046"/>
                          </a:solidFill>
                          <a:latin typeface="Arial" pitchFamily="34" charset="0"/>
                          <a:ea typeface="Arial" pitchFamily="34" charset="-122"/>
                          <a:cs typeface="Arial" pitchFamily="34" charset="-120"/>
                        </a:rPr>
                        <a:t>Non</a:t>
                      </a:r>
                      <a:endParaRPr lang="en-US" sz="1200" dirty="0">
                        <a:latin typeface="Arial" charset="0"/>
                        <a:ea typeface="Arial" charset="0"/>
                        <a:cs typeface="Arial" charset="0"/>
                      </a:endParaRPr>
                    </a:p>
                  </a:txBody>
                  <a:tcPr marL="53340" marR="53340" marT="53340" marB="53340" anchor="t">
                    <a:lnL w="12700" cap="flat" cmpd="sng" algn="ctr">
                      <a:solidFill>
                        <a:srgbClr val="C9CACB"/>
                      </a:solidFill>
                      <a:prstDash val="solid"/>
                      <a:round/>
                      <a:headEnd type="none" w="med" len="med"/>
                      <a:tailEnd type="none" w="med" len="med"/>
                    </a:lnL>
                    <a:lnR w="12700" cap="flat" cmpd="sng" algn="ctr">
                      <a:solidFill>
                        <a:srgbClr val="C9CACB"/>
                      </a:solidFill>
                      <a:prstDash val="solid"/>
                      <a:round/>
                      <a:headEnd type="none" w="med" len="med"/>
                      <a:tailEnd type="none" w="med" len="med"/>
                    </a:lnR>
                    <a:lnT w="12700" cap="flat" cmpd="sng" algn="ctr">
                      <a:solidFill>
                        <a:srgbClr val="C9CACB"/>
                      </a:solidFill>
                      <a:prstDash val="solid"/>
                      <a:round/>
                      <a:headEnd type="none" w="med" len="med"/>
                      <a:tailEnd type="none" w="med" len="med"/>
                    </a:lnT>
                    <a:lnB w="12700" cap="flat" cmpd="sng" algn="ctr">
                      <a:solidFill>
                        <a:srgbClr val="C9CACB"/>
                      </a:solidFill>
                      <a:prstDash val="solid"/>
                      <a:round/>
                      <a:headEnd type="none" w="med" len="med"/>
                      <a:tailEnd type="none" w="med" len="med"/>
                    </a:lnB>
                  </a:tcPr>
                </a:tc>
                <a:tc>
                  <a:txBody>
                    <a:bodyPr/>
                    <a:lstStyle/>
                    <a:p>
                      <a:pPr algn="ctr" indent="0" marL="0">
                        <a:lnSpc>
                          <a:spcPts val="1680"/>
                        </a:lnSpc>
                        <a:buNone/>
                      </a:pPr>
                      <a:r>
                        <a:rPr lang="en-US" sz="1200" dirty="0">
                          <a:solidFill>
                            <a:srgbClr val="0D2046"/>
                          </a:solidFill>
                          <a:latin typeface="Arial" pitchFamily="34" charset="0"/>
                          <a:ea typeface="Arial" pitchFamily="34" charset="-122"/>
                          <a:cs typeface="Arial" pitchFamily="34" charset="-120"/>
                        </a:rPr>
                        <a:t>Non</a:t>
                      </a:r>
                      <a:endParaRPr lang="en-US" sz="1200" dirty="0">
                        <a:latin typeface="Arial" charset="0"/>
                        <a:ea typeface="Arial" charset="0"/>
                        <a:cs typeface="Arial" charset="0"/>
                      </a:endParaRPr>
                    </a:p>
                  </a:txBody>
                  <a:tcPr marL="53340" marR="53340" marT="53340" marB="53340" anchor="t">
                    <a:lnL w="12700" cap="flat" cmpd="sng" algn="ctr">
                      <a:solidFill>
                        <a:srgbClr val="C9CACB"/>
                      </a:solidFill>
                      <a:prstDash val="solid"/>
                      <a:round/>
                      <a:headEnd type="none" w="med" len="med"/>
                      <a:tailEnd type="none" w="med" len="med"/>
                    </a:lnL>
                    <a:lnR w="12700" cap="flat" cmpd="sng" algn="ctr">
                      <a:solidFill>
                        <a:srgbClr val="C9CACB"/>
                      </a:solidFill>
                      <a:prstDash val="solid"/>
                      <a:round/>
                      <a:headEnd type="none" w="med" len="med"/>
                      <a:tailEnd type="none" w="med" len="med"/>
                    </a:lnR>
                    <a:lnT w="12700" cap="flat" cmpd="sng" algn="ctr">
                      <a:solidFill>
                        <a:srgbClr val="C9CACB"/>
                      </a:solidFill>
                      <a:prstDash val="solid"/>
                      <a:round/>
                      <a:headEnd type="none" w="med" len="med"/>
                      <a:tailEnd type="none" w="med" len="med"/>
                    </a:lnT>
                    <a:lnB w="12700" cap="flat" cmpd="sng" algn="ctr">
                      <a:solidFill>
                        <a:srgbClr val="C9CACB"/>
                      </a:solidFill>
                      <a:prstDash val="solid"/>
                      <a:round/>
                      <a:headEnd type="none" w="med" len="med"/>
                      <a:tailEnd type="none" w="med" len="med"/>
                    </a:lnB>
                  </a:tcPr>
                </a:tc>
              </a:tr>
              <a:tr h="327131">
                <a:tc>
                  <a:txBody>
                    <a:bodyPr/>
                    <a:lstStyle/>
                    <a:p>
                      <a:pPr indent="0" marL="0">
                        <a:lnSpc>
                          <a:spcPts val="1680"/>
                        </a:lnSpc>
                        <a:buNone/>
                      </a:pPr>
                      <a:r>
                        <a:rPr lang="en-US" sz="1200" dirty="0">
                          <a:solidFill>
                            <a:srgbClr val="0D2046"/>
                          </a:solidFill>
                          <a:latin typeface="Arial" pitchFamily="34" charset="0"/>
                          <a:ea typeface="Arial" pitchFamily="34" charset="-122"/>
                          <a:cs typeface="Arial" pitchFamily="34" charset="-120"/>
                        </a:rPr>
                        <a:t>Créer un projet</a:t>
                      </a:r>
                      <a:endParaRPr lang="en-US" sz="1200" dirty="0">
                        <a:latin typeface="Arial" charset="0"/>
                        <a:ea typeface="Arial" charset="0"/>
                        <a:cs typeface="Arial" charset="0"/>
                      </a:endParaRPr>
                    </a:p>
                  </a:txBody>
                  <a:tcPr marL="53340" marR="53340" marT="53340" marB="53340" anchor="t">
                    <a:lnL w="12700" cap="flat" cmpd="sng" algn="ctr">
                      <a:solidFill>
                        <a:srgbClr val="C9CACB"/>
                      </a:solidFill>
                      <a:prstDash val="solid"/>
                      <a:round/>
                      <a:headEnd type="none" w="med" len="med"/>
                      <a:tailEnd type="none" w="med" len="med"/>
                    </a:lnL>
                    <a:lnR w="12700" cap="flat" cmpd="sng" algn="ctr">
                      <a:solidFill>
                        <a:srgbClr val="C9CACB"/>
                      </a:solidFill>
                      <a:prstDash val="solid"/>
                      <a:round/>
                      <a:headEnd type="none" w="med" len="med"/>
                      <a:tailEnd type="none" w="med" len="med"/>
                    </a:lnR>
                    <a:lnT w="12700" cap="flat" cmpd="sng" algn="ctr">
                      <a:solidFill>
                        <a:srgbClr val="C9CACB"/>
                      </a:solidFill>
                      <a:prstDash val="solid"/>
                      <a:round/>
                      <a:headEnd type="none" w="med" len="med"/>
                      <a:tailEnd type="none" w="med" len="med"/>
                    </a:lnT>
                    <a:lnB w="12700" cap="flat" cmpd="sng" algn="ctr">
                      <a:solidFill>
                        <a:srgbClr val="C9CACB"/>
                      </a:solidFill>
                      <a:prstDash val="solid"/>
                      <a:round/>
                      <a:headEnd type="none" w="med" len="med"/>
                      <a:tailEnd type="none" w="med" len="med"/>
                    </a:lnB>
                  </a:tcPr>
                </a:tc>
                <a:tc>
                  <a:txBody>
                    <a:bodyPr/>
                    <a:lstStyle/>
                    <a:p>
                      <a:pPr algn="ctr" indent="0" marL="0">
                        <a:lnSpc>
                          <a:spcPts val="1680"/>
                        </a:lnSpc>
                        <a:buNone/>
                      </a:pPr>
                      <a:r>
                        <a:rPr lang="en-US" sz="1200" dirty="0">
                          <a:solidFill>
                            <a:srgbClr val="0D2046"/>
                          </a:solidFill>
                          <a:latin typeface="Arial" pitchFamily="34" charset="0"/>
                          <a:ea typeface="Arial" pitchFamily="34" charset="-122"/>
                          <a:cs typeface="Arial" pitchFamily="34" charset="-120"/>
                        </a:rPr>
                        <a:t>Oui</a:t>
                      </a:r>
                      <a:endParaRPr lang="en-US" sz="1200" dirty="0">
                        <a:latin typeface="Arial" charset="0"/>
                        <a:ea typeface="Arial" charset="0"/>
                        <a:cs typeface="Arial" charset="0"/>
                      </a:endParaRPr>
                    </a:p>
                  </a:txBody>
                  <a:tcPr marL="53340" marR="53340" marT="53340" marB="53340" anchor="t">
                    <a:lnL w="12700" cap="flat" cmpd="sng" algn="ctr">
                      <a:solidFill>
                        <a:srgbClr val="C9CACB"/>
                      </a:solidFill>
                      <a:prstDash val="solid"/>
                      <a:round/>
                      <a:headEnd type="none" w="med" len="med"/>
                      <a:tailEnd type="none" w="med" len="med"/>
                    </a:lnL>
                    <a:lnR w="12700" cap="flat" cmpd="sng" algn="ctr">
                      <a:solidFill>
                        <a:srgbClr val="C9CACB"/>
                      </a:solidFill>
                      <a:prstDash val="solid"/>
                      <a:round/>
                      <a:headEnd type="none" w="med" len="med"/>
                      <a:tailEnd type="none" w="med" len="med"/>
                    </a:lnR>
                    <a:lnT w="12700" cap="flat" cmpd="sng" algn="ctr">
                      <a:solidFill>
                        <a:srgbClr val="C9CACB"/>
                      </a:solidFill>
                      <a:prstDash val="solid"/>
                      <a:round/>
                      <a:headEnd type="none" w="med" len="med"/>
                      <a:tailEnd type="none" w="med" len="med"/>
                    </a:lnT>
                    <a:lnB w="12700" cap="flat" cmpd="sng" algn="ctr">
                      <a:solidFill>
                        <a:srgbClr val="C9CACB"/>
                      </a:solidFill>
                      <a:prstDash val="solid"/>
                      <a:round/>
                      <a:headEnd type="none" w="med" len="med"/>
                      <a:tailEnd type="none" w="med" len="med"/>
                    </a:lnB>
                  </a:tcPr>
                </a:tc>
                <a:tc>
                  <a:txBody>
                    <a:bodyPr/>
                    <a:lstStyle/>
                    <a:p>
                      <a:pPr algn="ctr" indent="0" marL="0">
                        <a:lnSpc>
                          <a:spcPts val="1680"/>
                        </a:lnSpc>
                        <a:buNone/>
                      </a:pPr>
                      <a:r>
                        <a:rPr lang="en-US" sz="1200" dirty="0">
                          <a:solidFill>
                            <a:srgbClr val="0D2046"/>
                          </a:solidFill>
                          <a:latin typeface="Arial" pitchFamily="34" charset="0"/>
                          <a:ea typeface="Arial" pitchFamily="34" charset="-122"/>
                          <a:cs typeface="Arial" pitchFamily="34" charset="-120"/>
                        </a:rPr>
                        <a:t>Non</a:t>
                      </a:r>
                      <a:endParaRPr lang="en-US" sz="1200" dirty="0">
                        <a:latin typeface="Arial" charset="0"/>
                        <a:ea typeface="Arial" charset="0"/>
                        <a:cs typeface="Arial" charset="0"/>
                      </a:endParaRPr>
                    </a:p>
                  </a:txBody>
                  <a:tcPr marL="53340" marR="53340" marT="53340" marB="53340" anchor="t">
                    <a:lnL w="12700" cap="flat" cmpd="sng" algn="ctr">
                      <a:solidFill>
                        <a:srgbClr val="C9CACB"/>
                      </a:solidFill>
                      <a:prstDash val="solid"/>
                      <a:round/>
                      <a:headEnd type="none" w="med" len="med"/>
                      <a:tailEnd type="none" w="med" len="med"/>
                    </a:lnL>
                    <a:lnR w="12700" cap="flat" cmpd="sng" algn="ctr">
                      <a:solidFill>
                        <a:srgbClr val="C9CACB"/>
                      </a:solidFill>
                      <a:prstDash val="solid"/>
                      <a:round/>
                      <a:headEnd type="none" w="med" len="med"/>
                      <a:tailEnd type="none" w="med" len="med"/>
                    </a:lnR>
                    <a:lnT w="12700" cap="flat" cmpd="sng" algn="ctr">
                      <a:solidFill>
                        <a:srgbClr val="C9CACB"/>
                      </a:solidFill>
                      <a:prstDash val="solid"/>
                      <a:round/>
                      <a:headEnd type="none" w="med" len="med"/>
                      <a:tailEnd type="none" w="med" len="med"/>
                    </a:lnT>
                    <a:lnB w="12700" cap="flat" cmpd="sng" algn="ctr">
                      <a:solidFill>
                        <a:srgbClr val="C9CACB"/>
                      </a:solidFill>
                      <a:prstDash val="solid"/>
                      <a:round/>
                      <a:headEnd type="none" w="med" len="med"/>
                      <a:tailEnd type="none" w="med" len="med"/>
                    </a:lnB>
                  </a:tcPr>
                </a:tc>
                <a:tc>
                  <a:txBody>
                    <a:bodyPr/>
                    <a:lstStyle/>
                    <a:p>
                      <a:pPr algn="ctr" indent="0" marL="0">
                        <a:lnSpc>
                          <a:spcPts val="1680"/>
                        </a:lnSpc>
                        <a:buNone/>
                      </a:pPr>
                      <a:r>
                        <a:rPr lang="en-US" sz="1200" dirty="0">
                          <a:solidFill>
                            <a:srgbClr val="0D2046"/>
                          </a:solidFill>
                          <a:latin typeface="Arial" pitchFamily="34" charset="0"/>
                          <a:ea typeface="Arial" pitchFamily="34" charset="-122"/>
                          <a:cs typeface="Arial" pitchFamily="34" charset="-120"/>
                        </a:rPr>
                        <a:t>Oui</a:t>
                      </a:r>
                      <a:endParaRPr lang="en-US" sz="1200" dirty="0">
                        <a:latin typeface="Arial" charset="0"/>
                        <a:ea typeface="Arial" charset="0"/>
                        <a:cs typeface="Arial" charset="0"/>
                      </a:endParaRPr>
                    </a:p>
                  </a:txBody>
                  <a:tcPr marL="53340" marR="53340" marT="53340" marB="53340" anchor="t">
                    <a:lnL w="12700" cap="flat" cmpd="sng" algn="ctr">
                      <a:solidFill>
                        <a:srgbClr val="C9CACB"/>
                      </a:solidFill>
                      <a:prstDash val="solid"/>
                      <a:round/>
                      <a:headEnd type="none" w="med" len="med"/>
                      <a:tailEnd type="none" w="med" len="med"/>
                    </a:lnL>
                    <a:lnR w="12700" cap="flat" cmpd="sng" algn="ctr">
                      <a:solidFill>
                        <a:srgbClr val="C9CACB"/>
                      </a:solidFill>
                      <a:prstDash val="solid"/>
                      <a:round/>
                      <a:headEnd type="none" w="med" len="med"/>
                      <a:tailEnd type="none" w="med" len="med"/>
                    </a:lnR>
                    <a:lnT w="12700" cap="flat" cmpd="sng" algn="ctr">
                      <a:solidFill>
                        <a:srgbClr val="C9CACB"/>
                      </a:solidFill>
                      <a:prstDash val="solid"/>
                      <a:round/>
                      <a:headEnd type="none" w="med" len="med"/>
                      <a:tailEnd type="none" w="med" len="med"/>
                    </a:lnT>
                    <a:lnB w="12700" cap="flat" cmpd="sng" algn="ctr">
                      <a:solidFill>
                        <a:srgbClr val="C9CACB"/>
                      </a:solidFill>
                      <a:prstDash val="solid"/>
                      <a:round/>
                      <a:headEnd type="none" w="med" len="med"/>
                      <a:tailEnd type="none" w="med" len="med"/>
                    </a:lnB>
                  </a:tcPr>
                </a:tc>
              </a:tr>
              <a:tr h="327131">
                <a:tc>
                  <a:txBody>
                    <a:bodyPr/>
                    <a:lstStyle/>
                    <a:p>
                      <a:pPr indent="0" marL="0">
                        <a:lnSpc>
                          <a:spcPts val="1680"/>
                        </a:lnSpc>
                        <a:buNone/>
                      </a:pPr>
                      <a:r>
                        <a:rPr lang="en-US" sz="1200" dirty="0">
                          <a:solidFill>
                            <a:srgbClr val="0D2046"/>
                          </a:solidFill>
                          <a:latin typeface="Arial" pitchFamily="34" charset="0"/>
                          <a:ea typeface="Arial" pitchFamily="34" charset="-122"/>
                          <a:cs typeface="Arial" pitchFamily="34" charset="-120"/>
                        </a:rPr>
                        <a:t>Voir un projet privé</a:t>
                      </a:r>
                      <a:endParaRPr lang="en-US" sz="1200" dirty="0">
                        <a:latin typeface="Arial" charset="0"/>
                        <a:ea typeface="Arial" charset="0"/>
                        <a:cs typeface="Arial" charset="0"/>
                      </a:endParaRPr>
                    </a:p>
                  </a:txBody>
                  <a:tcPr marL="53340" marR="53340" marT="53340" marB="53340" anchor="t">
                    <a:lnL w="12700" cap="flat" cmpd="sng" algn="ctr">
                      <a:solidFill>
                        <a:srgbClr val="C9CACB"/>
                      </a:solidFill>
                      <a:prstDash val="solid"/>
                      <a:round/>
                      <a:headEnd type="none" w="med" len="med"/>
                      <a:tailEnd type="none" w="med" len="med"/>
                    </a:lnL>
                    <a:lnR w="12700" cap="flat" cmpd="sng" algn="ctr">
                      <a:solidFill>
                        <a:srgbClr val="C9CACB"/>
                      </a:solidFill>
                      <a:prstDash val="solid"/>
                      <a:round/>
                      <a:headEnd type="none" w="med" len="med"/>
                      <a:tailEnd type="none" w="med" len="med"/>
                    </a:lnR>
                    <a:lnT w="12700" cap="flat" cmpd="sng" algn="ctr">
                      <a:solidFill>
                        <a:srgbClr val="C9CACB"/>
                      </a:solidFill>
                      <a:prstDash val="solid"/>
                      <a:round/>
                      <a:headEnd type="none" w="med" len="med"/>
                      <a:tailEnd type="none" w="med" len="med"/>
                    </a:lnT>
                    <a:lnB w="12700" cap="flat" cmpd="sng" algn="ctr">
                      <a:solidFill>
                        <a:srgbClr val="C9CACB"/>
                      </a:solidFill>
                      <a:prstDash val="solid"/>
                      <a:round/>
                      <a:headEnd type="none" w="med" len="med"/>
                      <a:tailEnd type="none" w="med" len="med"/>
                    </a:lnB>
                  </a:tcPr>
                </a:tc>
                <a:tc>
                  <a:txBody>
                    <a:bodyPr/>
                    <a:lstStyle/>
                    <a:p>
                      <a:pPr algn="ctr" indent="0" marL="0">
                        <a:lnSpc>
                          <a:spcPts val="1680"/>
                        </a:lnSpc>
                        <a:buNone/>
                      </a:pPr>
                      <a:r>
                        <a:rPr lang="en-US" sz="1200" dirty="0">
                          <a:solidFill>
                            <a:srgbClr val="0D2046"/>
                          </a:solidFill>
                          <a:latin typeface="Arial" pitchFamily="34" charset="0"/>
                          <a:ea typeface="Arial" pitchFamily="34" charset="-122"/>
                          <a:cs typeface="Arial" pitchFamily="34" charset="-120"/>
                        </a:rPr>
                        <a:t>Oui</a:t>
                      </a:r>
                      <a:endParaRPr lang="en-US" sz="1200" dirty="0">
                        <a:latin typeface="Arial" charset="0"/>
                        <a:ea typeface="Arial" charset="0"/>
                        <a:cs typeface="Arial" charset="0"/>
                      </a:endParaRPr>
                    </a:p>
                  </a:txBody>
                  <a:tcPr marL="53340" marR="53340" marT="53340" marB="53340" anchor="t">
                    <a:lnL w="12700" cap="flat" cmpd="sng" algn="ctr">
                      <a:solidFill>
                        <a:srgbClr val="C9CACB"/>
                      </a:solidFill>
                      <a:prstDash val="solid"/>
                      <a:round/>
                      <a:headEnd type="none" w="med" len="med"/>
                      <a:tailEnd type="none" w="med" len="med"/>
                    </a:lnL>
                    <a:lnR w="12700" cap="flat" cmpd="sng" algn="ctr">
                      <a:solidFill>
                        <a:srgbClr val="C9CACB"/>
                      </a:solidFill>
                      <a:prstDash val="solid"/>
                      <a:round/>
                      <a:headEnd type="none" w="med" len="med"/>
                      <a:tailEnd type="none" w="med" len="med"/>
                    </a:lnR>
                    <a:lnT w="12700" cap="flat" cmpd="sng" algn="ctr">
                      <a:solidFill>
                        <a:srgbClr val="C9CACB"/>
                      </a:solidFill>
                      <a:prstDash val="solid"/>
                      <a:round/>
                      <a:headEnd type="none" w="med" len="med"/>
                      <a:tailEnd type="none" w="med" len="med"/>
                    </a:lnT>
                    <a:lnB w="12700" cap="flat" cmpd="sng" algn="ctr">
                      <a:solidFill>
                        <a:srgbClr val="C9CACB"/>
                      </a:solidFill>
                      <a:prstDash val="solid"/>
                      <a:round/>
                      <a:headEnd type="none" w="med" len="med"/>
                      <a:tailEnd type="none" w="med" len="med"/>
                    </a:lnB>
                  </a:tcPr>
                </a:tc>
                <a:tc>
                  <a:txBody>
                    <a:bodyPr/>
                    <a:lstStyle/>
                    <a:p>
                      <a:pPr algn="ctr" indent="0" marL="0">
                        <a:lnSpc>
                          <a:spcPts val="1680"/>
                        </a:lnSpc>
                        <a:buNone/>
                      </a:pPr>
                      <a:r>
                        <a:rPr lang="en-US" sz="1200" dirty="0">
                          <a:solidFill>
                            <a:srgbClr val="0D2046"/>
                          </a:solidFill>
                          <a:latin typeface="Arial" pitchFamily="34" charset="0"/>
                          <a:ea typeface="Arial" pitchFamily="34" charset="-122"/>
                          <a:cs typeface="Arial" pitchFamily="34" charset="-120"/>
                        </a:rPr>
                        <a:t>Non</a:t>
                      </a:r>
                      <a:endParaRPr lang="en-US" sz="1200" dirty="0">
                        <a:latin typeface="Arial" charset="0"/>
                        <a:ea typeface="Arial" charset="0"/>
                        <a:cs typeface="Arial" charset="0"/>
                      </a:endParaRPr>
                    </a:p>
                  </a:txBody>
                  <a:tcPr marL="53340" marR="53340" marT="53340" marB="53340" anchor="t">
                    <a:lnL w="12700" cap="flat" cmpd="sng" algn="ctr">
                      <a:solidFill>
                        <a:srgbClr val="C9CACB"/>
                      </a:solidFill>
                      <a:prstDash val="solid"/>
                      <a:round/>
                      <a:headEnd type="none" w="med" len="med"/>
                      <a:tailEnd type="none" w="med" len="med"/>
                    </a:lnL>
                    <a:lnR w="12700" cap="flat" cmpd="sng" algn="ctr">
                      <a:solidFill>
                        <a:srgbClr val="C9CACB"/>
                      </a:solidFill>
                      <a:prstDash val="solid"/>
                      <a:round/>
                      <a:headEnd type="none" w="med" len="med"/>
                      <a:tailEnd type="none" w="med" len="med"/>
                    </a:lnR>
                    <a:lnT w="12700" cap="flat" cmpd="sng" algn="ctr">
                      <a:solidFill>
                        <a:srgbClr val="C9CACB"/>
                      </a:solidFill>
                      <a:prstDash val="solid"/>
                      <a:round/>
                      <a:headEnd type="none" w="med" len="med"/>
                      <a:tailEnd type="none" w="med" len="med"/>
                    </a:lnT>
                    <a:lnB w="12700" cap="flat" cmpd="sng" algn="ctr">
                      <a:solidFill>
                        <a:srgbClr val="C9CACB"/>
                      </a:solidFill>
                      <a:prstDash val="solid"/>
                      <a:round/>
                      <a:headEnd type="none" w="med" len="med"/>
                      <a:tailEnd type="none" w="med" len="med"/>
                    </a:lnB>
                  </a:tcPr>
                </a:tc>
                <a:tc>
                  <a:txBody>
                    <a:bodyPr/>
                    <a:lstStyle/>
                    <a:p>
                      <a:pPr algn="ctr" indent="0" marL="0">
                        <a:lnSpc>
                          <a:spcPts val="1680"/>
                        </a:lnSpc>
                        <a:buNone/>
                      </a:pPr>
                      <a:r>
                        <a:rPr lang="en-US" sz="1200" dirty="0">
                          <a:solidFill>
                            <a:srgbClr val="0D2046"/>
                          </a:solidFill>
                          <a:latin typeface="Arial" pitchFamily="34" charset="0"/>
                          <a:ea typeface="Arial" pitchFamily="34" charset="-122"/>
                          <a:cs typeface="Arial" pitchFamily="34" charset="-120"/>
                        </a:rPr>
                        <a:t>Si membre</a:t>
                      </a:r>
                      <a:endParaRPr lang="en-US" sz="1200" dirty="0">
                        <a:latin typeface="Arial" charset="0"/>
                        <a:ea typeface="Arial" charset="0"/>
                        <a:cs typeface="Arial" charset="0"/>
                      </a:endParaRPr>
                    </a:p>
                  </a:txBody>
                  <a:tcPr marL="53340" marR="53340" marT="53340" marB="53340" anchor="t">
                    <a:lnL w="12700" cap="flat" cmpd="sng" algn="ctr">
                      <a:solidFill>
                        <a:srgbClr val="C9CACB"/>
                      </a:solidFill>
                      <a:prstDash val="solid"/>
                      <a:round/>
                      <a:headEnd type="none" w="med" len="med"/>
                      <a:tailEnd type="none" w="med" len="med"/>
                    </a:lnL>
                    <a:lnR w="12700" cap="flat" cmpd="sng" algn="ctr">
                      <a:solidFill>
                        <a:srgbClr val="C9CACB"/>
                      </a:solidFill>
                      <a:prstDash val="solid"/>
                      <a:round/>
                      <a:headEnd type="none" w="med" len="med"/>
                      <a:tailEnd type="none" w="med" len="med"/>
                    </a:lnR>
                    <a:lnT w="12700" cap="flat" cmpd="sng" algn="ctr">
                      <a:solidFill>
                        <a:srgbClr val="C9CACB"/>
                      </a:solidFill>
                      <a:prstDash val="solid"/>
                      <a:round/>
                      <a:headEnd type="none" w="med" len="med"/>
                      <a:tailEnd type="none" w="med" len="med"/>
                    </a:lnT>
                    <a:lnB w="12700" cap="flat" cmpd="sng" algn="ctr">
                      <a:solidFill>
                        <a:srgbClr val="C9CACB"/>
                      </a:solidFill>
                      <a:prstDash val="solid"/>
                      <a:round/>
                      <a:headEnd type="none" w="med" len="med"/>
                      <a:tailEnd type="none" w="med" len="med"/>
                    </a:lnB>
                  </a:tcPr>
                </a:tc>
              </a:tr>
              <a:tr h="327131">
                <a:tc>
                  <a:txBody>
                    <a:bodyPr/>
                    <a:lstStyle/>
                    <a:p>
                      <a:pPr indent="0" marL="0">
                        <a:lnSpc>
                          <a:spcPts val="1680"/>
                        </a:lnSpc>
                        <a:buNone/>
                      </a:pPr>
                      <a:r>
                        <a:rPr lang="en-US" sz="1200" dirty="0">
                          <a:solidFill>
                            <a:srgbClr val="0D2046"/>
                          </a:solidFill>
                          <a:latin typeface="Arial" pitchFamily="34" charset="0"/>
                          <a:ea typeface="Arial" pitchFamily="34" charset="-122"/>
                          <a:cs typeface="Arial" pitchFamily="34" charset="-120"/>
                        </a:rPr>
                        <a:t>Modifier un projet, ses tâches, ses réservations</a:t>
                      </a:r>
                      <a:endParaRPr lang="en-US" sz="1200" dirty="0">
                        <a:latin typeface="Arial" charset="0"/>
                        <a:ea typeface="Arial" charset="0"/>
                        <a:cs typeface="Arial" charset="0"/>
                      </a:endParaRPr>
                    </a:p>
                  </a:txBody>
                  <a:tcPr marL="53340" marR="53340" marT="53340" marB="53340" anchor="t">
                    <a:lnL w="12700" cap="flat" cmpd="sng" algn="ctr">
                      <a:solidFill>
                        <a:srgbClr val="C9CACB"/>
                      </a:solidFill>
                      <a:prstDash val="solid"/>
                      <a:round/>
                      <a:headEnd type="none" w="med" len="med"/>
                      <a:tailEnd type="none" w="med" len="med"/>
                    </a:lnL>
                    <a:lnR w="12700" cap="flat" cmpd="sng" algn="ctr">
                      <a:solidFill>
                        <a:srgbClr val="C9CACB"/>
                      </a:solidFill>
                      <a:prstDash val="solid"/>
                      <a:round/>
                      <a:headEnd type="none" w="med" len="med"/>
                      <a:tailEnd type="none" w="med" len="med"/>
                    </a:lnR>
                    <a:lnT w="12700" cap="flat" cmpd="sng" algn="ctr">
                      <a:solidFill>
                        <a:srgbClr val="C9CACB"/>
                      </a:solidFill>
                      <a:prstDash val="solid"/>
                      <a:round/>
                      <a:headEnd type="none" w="med" len="med"/>
                      <a:tailEnd type="none" w="med" len="med"/>
                    </a:lnT>
                    <a:lnB w="12700" cap="flat" cmpd="sng" algn="ctr">
                      <a:solidFill>
                        <a:srgbClr val="C9CACB"/>
                      </a:solidFill>
                      <a:prstDash val="solid"/>
                      <a:round/>
                      <a:headEnd type="none" w="med" len="med"/>
                      <a:tailEnd type="none" w="med" len="med"/>
                    </a:lnB>
                  </a:tcPr>
                </a:tc>
                <a:tc>
                  <a:txBody>
                    <a:bodyPr/>
                    <a:lstStyle/>
                    <a:p>
                      <a:pPr algn="ctr" indent="0" marL="0">
                        <a:lnSpc>
                          <a:spcPts val="1680"/>
                        </a:lnSpc>
                        <a:buNone/>
                      </a:pPr>
                      <a:r>
                        <a:rPr lang="en-US" sz="1200" dirty="0">
                          <a:solidFill>
                            <a:srgbClr val="0D2046"/>
                          </a:solidFill>
                          <a:latin typeface="Arial" pitchFamily="34" charset="0"/>
                          <a:ea typeface="Arial" pitchFamily="34" charset="-122"/>
                          <a:cs typeface="Arial" pitchFamily="34" charset="-120"/>
                        </a:rPr>
                        <a:t>Oui</a:t>
                      </a:r>
                      <a:endParaRPr lang="en-US" sz="1200" dirty="0">
                        <a:latin typeface="Arial" charset="0"/>
                        <a:ea typeface="Arial" charset="0"/>
                        <a:cs typeface="Arial" charset="0"/>
                      </a:endParaRPr>
                    </a:p>
                  </a:txBody>
                  <a:tcPr marL="53340" marR="53340" marT="53340" marB="53340" anchor="t">
                    <a:lnL w="12700" cap="flat" cmpd="sng" algn="ctr">
                      <a:solidFill>
                        <a:srgbClr val="C9CACB"/>
                      </a:solidFill>
                      <a:prstDash val="solid"/>
                      <a:round/>
                      <a:headEnd type="none" w="med" len="med"/>
                      <a:tailEnd type="none" w="med" len="med"/>
                    </a:lnL>
                    <a:lnR w="12700" cap="flat" cmpd="sng" algn="ctr">
                      <a:solidFill>
                        <a:srgbClr val="C9CACB"/>
                      </a:solidFill>
                      <a:prstDash val="solid"/>
                      <a:round/>
                      <a:headEnd type="none" w="med" len="med"/>
                      <a:tailEnd type="none" w="med" len="med"/>
                    </a:lnR>
                    <a:lnT w="12700" cap="flat" cmpd="sng" algn="ctr">
                      <a:solidFill>
                        <a:srgbClr val="C9CACB"/>
                      </a:solidFill>
                      <a:prstDash val="solid"/>
                      <a:round/>
                      <a:headEnd type="none" w="med" len="med"/>
                      <a:tailEnd type="none" w="med" len="med"/>
                    </a:lnT>
                    <a:lnB w="12700" cap="flat" cmpd="sng" algn="ctr">
                      <a:solidFill>
                        <a:srgbClr val="C9CACB"/>
                      </a:solidFill>
                      <a:prstDash val="solid"/>
                      <a:round/>
                      <a:headEnd type="none" w="med" len="med"/>
                      <a:tailEnd type="none" w="med" len="med"/>
                    </a:lnB>
                  </a:tcPr>
                </a:tc>
                <a:tc>
                  <a:txBody>
                    <a:bodyPr/>
                    <a:lstStyle/>
                    <a:p>
                      <a:pPr algn="ctr" indent="0" marL="0">
                        <a:lnSpc>
                          <a:spcPts val="1680"/>
                        </a:lnSpc>
                        <a:buNone/>
                      </a:pPr>
                      <a:r>
                        <a:rPr lang="en-US" sz="1200" dirty="0">
                          <a:solidFill>
                            <a:srgbClr val="0D2046"/>
                          </a:solidFill>
                          <a:latin typeface="Arial" pitchFamily="34" charset="0"/>
                          <a:ea typeface="Arial" pitchFamily="34" charset="-122"/>
                          <a:cs typeface="Arial" pitchFamily="34" charset="-120"/>
                        </a:rPr>
                        <a:t>Non</a:t>
                      </a:r>
                      <a:endParaRPr lang="en-US" sz="1200" dirty="0">
                        <a:latin typeface="Arial" charset="0"/>
                        <a:ea typeface="Arial" charset="0"/>
                        <a:cs typeface="Arial" charset="0"/>
                      </a:endParaRPr>
                    </a:p>
                  </a:txBody>
                  <a:tcPr marL="53340" marR="53340" marT="53340" marB="53340" anchor="t">
                    <a:lnL w="12700" cap="flat" cmpd="sng" algn="ctr">
                      <a:solidFill>
                        <a:srgbClr val="C9CACB"/>
                      </a:solidFill>
                      <a:prstDash val="solid"/>
                      <a:round/>
                      <a:headEnd type="none" w="med" len="med"/>
                      <a:tailEnd type="none" w="med" len="med"/>
                    </a:lnL>
                    <a:lnR w="12700" cap="flat" cmpd="sng" algn="ctr">
                      <a:solidFill>
                        <a:srgbClr val="C9CACB"/>
                      </a:solidFill>
                      <a:prstDash val="solid"/>
                      <a:round/>
                      <a:headEnd type="none" w="med" len="med"/>
                      <a:tailEnd type="none" w="med" len="med"/>
                    </a:lnR>
                    <a:lnT w="12700" cap="flat" cmpd="sng" algn="ctr">
                      <a:solidFill>
                        <a:srgbClr val="C9CACB"/>
                      </a:solidFill>
                      <a:prstDash val="solid"/>
                      <a:round/>
                      <a:headEnd type="none" w="med" len="med"/>
                      <a:tailEnd type="none" w="med" len="med"/>
                    </a:lnT>
                    <a:lnB w="12700" cap="flat" cmpd="sng" algn="ctr">
                      <a:solidFill>
                        <a:srgbClr val="C9CACB"/>
                      </a:solidFill>
                      <a:prstDash val="solid"/>
                      <a:round/>
                      <a:headEnd type="none" w="med" len="med"/>
                      <a:tailEnd type="none" w="med" len="med"/>
                    </a:lnB>
                  </a:tcPr>
                </a:tc>
                <a:tc>
                  <a:txBody>
                    <a:bodyPr/>
                    <a:lstStyle/>
                    <a:p>
                      <a:pPr algn="ctr" indent="0" marL="0">
                        <a:lnSpc>
                          <a:spcPts val="1680"/>
                        </a:lnSpc>
                        <a:buNone/>
                      </a:pPr>
                      <a:r>
                        <a:rPr lang="en-US" sz="1200" dirty="0">
                          <a:solidFill>
                            <a:srgbClr val="0D2046"/>
                          </a:solidFill>
                          <a:latin typeface="Arial" pitchFamily="34" charset="0"/>
                          <a:ea typeface="Arial" pitchFamily="34" charset="-122"/>
                          <a:cs typeface="Arial" pitchFamily="34" charset="-120"/>
                        </a:rPr>
                        <a:t>Si membre</a:t>
                      </a:r>
                      <a:endParaRPr lang="en-US" sz="1200" dirty="0">
                        <a:latin typeface="Arial" charset="0"/>
                        <a:ea typeface="Arial" charset="0"/>
                        <a:cs typeface="Arial" charset="0"/>
                      </a:endParaRPr>
                    </a:p>
                  </a:txBody>
                  <a:tcPr marL="53340" marR="53340" marT="53340" marB="53340" anchor="t">
                    <a:lnL w="12700" cap="flat" cmpd="sng" algn="ctr">
                      <a:solidFill>
                        <a:srgbClr val="C9CACB"/>
                      </a:solidFill>
                      <a:prstDash val="solid"/>
                      <a:round/>
                      <a:headEnd type="none" w="med" len="med"/>
                      <a:tailEnd type="none" w="med" len="med"/>
                    </a:lnL>
                    <a:lnR w="12700" cap="flat" cmpd="sng" algn="ctr">
                      <a:solidFill>
                        <a:srgbClr val="C9CACB"/>
                      </a:solidFill>
                      <a:prstDash val="solid"/>
                      <a:round/>
                      <a:headEnd type="none" w="med" len="med"/>
                      <a:tailEnd type="none" w="med" len="med"/>
                    </a:lnR>
                    <a:lnT w="12700" cap="flat" cmpd="sng" algn="ctr">
                      <a:solidFill>
                        <a:srgbClr val="C9CACB"/>
                      </a:solidFill>
                      <a:prstDash val="solid"/>
                      <a:round/>
                      <a:headEnd type="none" w="med" len="med"/>
                      <a:tailEnd type="none" w="med" len="med"/>
                    </a:lnT>
                    <a:lnB w="12700" cap="flat" cmpd="sng" algn="ctr">
                      <a:solidFill>
                        <a:srgbClr val="C9CACB"/>
                      </a:solidFill>
                      <a:prstDash val="solid"/>
                      <a:round/>
                      <a:headEnd type="none" w="med" len="med"/>
                      <a:tailEnd type="none" w="med" len="med"/>
                    </a:lnB>
                  </a:tcPr>
                </a:tc>
              </a:tr>
              <a:tr h="327131">
                <a:tc>
                  <a:txBody>
                    <a:bodyPr/>
                    <a:lstStyle/>
                    <a:p>
                      <a:pPr indent="0" marL="0">
                        <a:lnSpc>
                          <a:spcPts val="1680"/>
                        </a:lnSpc>
                        <a:buNone/>
                      </a:pPr>
                      <a:r>
                        <a:rPr lang="en-US" sz="1200" dirty="0">
                          <a:solidFill>
                            <a:srgbClr val="0D2046"/>
                          </a:solidFill>
                          <a:latin typeface="Arial" pitchFamily="34" charset="0"/>
                          <a:ea typeface="Arial" pitchFamily="34" charset="-122"/>
                          <a:cs typeface="Arial" pitchFamily="34" charset="-120"/>
                        </a:rPr>
                        <a:t>Archiver un projet</a:t>
                      </a:r>
                      <a:endParaRPr lang="en-US" sz="1200" dirty="0">
                        <a:latin typeface="Arial" charset="0"/>
                        <a:ea typeface="Arial" charset="0"/>
                        <a:cs typeface="Arial" charset="0"/>
                      </a:endParaRPr>
                    </a:p>
                  </a:txBody>
                  <a:tcPr marL="53340" marR="53340" marT="53340" marB="53340" anchor="t">
                    <a:lnL w="12700" cap="flat" cmpd="sng" algn="ctr">
                      <a:solidFill>
                        <a:srgbClr val="C9CACB"/>
                      </a:solidFill>
                      <a:prstDash val="solid"/>
                      <a:round/>
                      <a:headEnd type="none" w="med" len="med"/>
                      <a:tailEnd type="none" w="med" len="med"/>
                    </a:lnL>
                    <a:lnR w="12700" cap="flat" cmpd="sng" algn="ctr">
                      <a:solidFill>
                        <a:srgbClr val="C9CACB"/>
                      </a:solidFill>
                      <a:prstDash val="solid"/>
                      <a:round/>
                      <a:headEnd type="none" w="med" len="med"/>
                      <a:tailEnd type="none" w="med" len="med"/>
                    </a:lnR>
                    <a:lnT w="12700" cap="flat" cmpd="sng" algn="ctr">
                      <a:solidFill>
                        <a:srgbClr val="C9CACB"/>
                      </a:solidFill>
                      <a:prstDash val="solid"/>
                      <a:round/>
                      <a:headEnd type="none" w="med" len="med"/>
                      <a:tailEnd type="none" w="med" len="med"/>
                    </a:lnT>
                    <a:lnB w="12700" cap="flat" cmpd="sng" algn="ctr">
                      <a:solidFill>
                        <a:srgbClr val="C9CACB"/>
                      </a:solidFill>
                      <a:prstDash val="solid"/>
                      <a:round/>
                      <a:headEnd type="none" w="med" len="med"/>
                      <a:tailEnd type="none" w="med" len="med"/>
                    </a:lnB>
                  </a:tcPr>
                </a:tc>
                <a:tc>
                  <a:txBody>
                    <a:bodyPr/>
                    <a:lstStyle/>
                    <a:p>
                      <a:pPr algn="ctr" indent="0" marL="0">
                        <a:lnSpc>
                          <a:spcPts val="1680"/>
                        </a:lnSpc>
                        <a:buNone/>
                      </a:pPr>
                      <a:r>
                        <a:rPr lang="en-US" sz="1200" dirty="0">
                          <a:solidFill>
                            <a:srgbClr val="0D2046"/>
                          </a:solidFill>
                          <a:latin typeface="Arial" pitchFamily="34" charset="0"/>
                          <a:ea typeface="Arial" pitchFamily="34" charset="-122"/>
                          <a:cs typeface="Arial" pitchFamily="34" charset="-120"/>
                        </a:rPr>
                        <a:t>Oui</a:t>
                      </a:r>
                      <a:endParaRPr lang="en-US" sz="1200" dirty="0">
                        <a:latin typeface="Arial" charset="0"/>
                        <a:ea typeface="Arial" charset="0"/>
                        <a:cs typeface="Arial" charset="0"/>
                      </a:endParaRPr>
                    </a:p>
                  </a:txBody>
                  <a:tcPr marL="53340" marR="53340" marT="53340" marB="53340" anchor="t">
                    <a:lnL w="12700" cap="flat" cmpd="sng" algn="ctr">
                      <a:solidFill>
                        <a:srgbClr val="C9CACB"/>
                      </a:solidFill>
                      <a:prstDash val="solid"/>
                      <a:round/>
                      <a:headEnd type="none" w="med" len="med"/>
                      <a:tailEnd type="none" w="med" len="med"/>
                    </a:lnL>
                    <a:lnR w="12700" cap="flat" cmpd="sng" algn="ctr">
                      <a:solidFill>
                        <a:srgbClr val="C9CACB"/>
                      </a:solidFill>
                      <a:prstDash val="solid"/>
                      <a:round/>
                      <a:headEnd type="none" w="med" len="med"/>
                      <a:tailEnd type="none" w="med" len="med"/>
                    </a:lnR>
                    <a:lnT w="12700" cap="flat" cmpd="sng" algn="ctr">
                      <a:solidFill>
                        <a:srgbClr val="C9CACB"/>
                      </a:solidFill>
                      <a:prstDash val="solid"/>
                      <a:round/>
                      <a:headEnd type="none" w="med" len="med"/>
                      <a:tailEnd type="none" w="med" len="med"/>
                    </a:lnT>
                    <a:lnB w="12700" cap="flat" cmpd="sng" algn="ctr">
                      <a:solidFill>
                        <a:srgbClr val="C9CACB"/>
                      </a:solidFill>
                      <a:prstDash val="solid"/>
                      <a:round/>
                      <a:headEnd type="none" w="med" len="med"/>
                      <a:tailEnd type="none" w="med" len="med"/>
                    </a:lnB>
                  </a:tcPr>
                </a:tc>
                <a:tc>
                  <a:txBody>
                    <a:bodyPr/>
                    <a:lstStyle/>
                    <a:p>
                      <a:pPr algn="ctr" indent="0" marL="0">
                        <a:lnSpc>
                          <a:spcPts val="1680"/>
                        </a:lnSpc>
                        <a:buNone/>
                      </a:pPr>
                      <a:r>
                        <a:rPr lang="en-US" sz="1200" dirty="0">
                          <a:solidFill>
                            <a:srgbClr val="0D2046"/>
                          </a:solidFill>
                          <a:latin typeface="Arial" pitchFamily="34" charset="0"/>
                          <a:ea typeface="Arial" pitchFamily="34" charset="-122"/>
                          <a:cs typeface="Arial" pitchFamily="34" charset="-120"/>
                        </a:rPr>
                        <a:t>Non</a:t>
                      </a:r>
                      <a:endParaRPr lang="en-US" sz="1200" dirty="0">
                        <a:latin typeface="Arial" charset="0"/>
                        <a:ea typeface="Arial" charset="0"/>
                        <a:cs typeface="Arial" charset="0"/>
                      </a:endParaRPr>
                    </a:p>
                  </a:txBody>
                  <a:tcPr marL="53340" marR="53340" marT="53340" marB="53340" anchor="t">
                    <a:lnL w="12700" cap="flat" cmpd="sng" algn="ctr">
                      <a:solidFill>
                        <a:srgbClr val="C9CACB"/>
                      </a:solidFill>
                      <a:prstDash val="solid"/>
                      <a:round/>
                      <a:headEnd type="none" w="med" len="med"/>
                      <a:tailEnd type="none" w="med" len="med"/>
                    </a:lnL>
                    <a:lnR w="12700" cap="flat" cmpd="sng" algn="ctr">
                      <a:solidFill>
                        <a:srgbClr val="C9CACB"/>
                      </a:solidFill>
                      <a:prstDash val="solid"/>
                      <a:round/>
                      <a:headEnd type="none" w="med" len="med"/>
                      <a:tailEnd type="none" w="med" len="med"/>
                    </a:lnR>
                    <a:lnT w="12700" cap="flat" cmpd="sng" algn="ctr">
                      <a:solidFill>
                        <a:srgbClr val="C9CACB"/>
                      </a:solidFill>
                      <a:prstDash val="solid"/>
                      <a:round/>
                      <a:headEnd type="none" w="med" len="med"/>
                      <a:tailEnd type="none" w="med" len="med"/>
                    </a:lnT>
                    <a:lnB w="12700" cap="flat" cmpd="sng" algn="ctr">
                      <a:solidFill>
                        <a:srgbClr val="C9CACB"/>
                      </a:solidFill>
                      <a:prstDash val="solid"/>
                      <a:round/>
                      <a:headEnd type="none" w="med" len="med"/>
                      <a:tailEnd type="none" w="med" len="med"/>
                    </a:lnB>
                  </a:tcPr>
                </a:tc>
                <a:tc>
                  <a:txBody>
                    <a:bodyPr/>
                    <a:lstStyle/>
                    <a:p>
                      <a:pPr algn="ctr" indent="0" marL="0">
                        <a:lnSpc>
                          <a:spcPts val="1680"/>
                        </a:lnSpc>
                        <a:buNone/>
                      </a:pPr>
                      <a:r>
                        <a:rPr lang="en-US" sz="1200" dirty="0">
                          <a:solidFill>
                            <a:srgbClr val="0D2046"/>
                          </a:solidFill>
                          <a:latin typeface="Arial" pitchFamily="34" charset="0"/>
                          <a:ea typeface="Arial" pitchFamily="34" charset="-122"/>
                          <a:cs typeface="Arial" pitchFamily="34" charset="-120"/>
                        </a:rPr>
                        <a:t>Si responsable</a:t>
                      </a:r>
                      <a:endParaRPr lang="en-US" sz="1200" dirty="0">
                        <a:latin typeface="Arial" charset="0"/>
                        <a:ea typeface="Arial" charset="0"/>
                        <a:cs typeface="Arial" charset="0"/>
                      </a:endParaRPr>
                    </a:p>
                  </a:txBody>
                  <a:tcPr marL="53340" marR="53340" marT="53340" marB="53340" anchor="t">
                    <a:lnL w="12700" cap="flat" cmpd="sng" algn="ctr">
                      <a:solidFill>
                        <a:srgbClr val="C9CACB"/>
                      </a:solidFill>
                      <a:prstDash val="solid"/>
                      <a:round/>
                      <a:headEnd type="none" w="med" len="med"/>
                      <a:tailEnd type="none" w="med" len="med"/>
                    </a:lnL>
                    <a:lnR w="12700" cap="flat" cmpd="sng" algn="ctr">
                      <a:solidFill>
                        <a:srgbClr val="C9CACB"/>
                      </a:solidFill>
                      <a:prstDash val="solid"/>
                      <a:round/>
                      <a:headEnd type="none" w="med" len="med"/>
                      <a:tailEnd type="none" w="med" len="med"/>
                    </a:lnR>
                    <a:lnT w="12700" cap="flat" cmpd="sng" algn="ctr">
                      <a:solidFill>
                        <a:srgbClr val="C9CACB"/>
                      </a:solidFill>
                      <a:prstDash val="solid"/>
                      <a:round/>
                      <a:headEnd type="none" w="med" len="med"/>
                      <a:tailEnd type="none" w="med" len="med"/>
                    </a:lnT>
                    <a:lnB w="12700" cap="flat" cmpd="sng" algn="ctr">
                      <a:solidFill>
                        <a:srgbClr val="C9CACB"/>
                      </a:solidFill>
                      <a:prstDash val="solid"/>
                      <a:round/>
                      <a:headEnd type="none" w="med" len="med"/>
                      <a:tailEnd type="none" w="med" len="med"/>
                    </a:lnB>
                  </a:tcPr>
                </a:tc>
              </a:tr>
              <a:tr h="327131">
                <a:tc>
                  <a:txBody>
                    <a:bodyPr/>
                    <a:lstStyle/>
                    <a:p>
                      <a:pPr indent="0" marL="0">
                        <a:lnSpc>
                          <a:spcPts val="1680"/>
                        </a:lnSpc>
                        <a:buNone/>
                      </a:pPr>
                      <a:r>
                        <a:rPr lang="en-US" sz="1200" dirty="0">
                          <a:solidFill>
                            <a:srgbClr val="0D2046"/>
                          </a:solidFill>
                          <a:latin typeface="Arial" pitchFamily="34" charset="0"/>
                          <a:ea typeface="Arial" pitchFamily="34" charset="-122"/>
                          <a:cs typeface="Arial" pitchFamily="34" charset="-120"/>
                        </a:rPr>
                        <a:t>Nommer ou retirer le gestionnaire</a:t>
                      </a:r>
                      <a:endParaRPr lang="en-US" sz="1200" dirty="0">
                        <a:latin typeface="Arial" charset="0"/>
                        <a:ea typeface="Arial" charset="0"/>
                        <a:cs typeface="Arial" charset="0"/>
                      </a:endParaRPr>
                    </a:p>
                  </a:txBody>
                  <a:tcPr marL="53340" marR="53340" marT="53340" marB="53340" anchor="t">
                    <a:lnL w="12700" cap="flat" cmpd="sng" algn="ctr">
                      <a:solidFill>
                        <a:srgbClr val="C9CACB"/>
                      </a:solidFill>
                      <a:prstDash val="solid"/>
                      <a:round/>
                      <a:headEnd type="none" w="med" len="med"/>
                      <a:tailEnd type="none" w="med" len="med"/>
                    </a:lnL>
                    <a:lnR w="12700" cap="flat" cmpd="sng" algn="ctr">
                      <a:solidFill>
                        <a:srgbClr val="C9CACB"/>
                      </a:solidFill>
                      <a:prstDash val="solid"/>
                      <a:round/>
                      <a:headEnd type="none" w="med" len="med"/>
                      <a:tailEnd type="none" w="med" len="med"/>
                    </a:lnR>
                    <a:lnT w="12700" cap="flat" cmpd="sng" algn="ctr">
                      <a:solidFill>
                        <a:srgbClr val="C9CACB"/>
                      </a:solidFill>
                      <a:prstDash val="solid"/>
                      <a:round/>
                      <a:headEnd type="none" w="med" len="med"/>
                      <a:tailEnd type="none" w="med" len="med"/>
                    </a:lnT>
                    <a:lnB w="12700" cap="flat" cmpd="sng" algn="ctr">
                      <a:solidFill>
                        <a:srgbClr val="C9CACB"/>
                      </a:solidFill>
                      <a:prstDash val="solid"/>
                      <a:round/>
                      <a:headEnd type="none" w="med" len="med"/>
                      <a:tailEnd type="none" w="med" len="med"/>
                    </a:lnB>
                  </a:tcPr>
                </a:tc>
                <a:tc>
                  <a:txBody>
                    <a:bodyPr/>
                    <a:lstStyle/>
                    <a:p>
                      <a:pPr algn="ctr" indent="0" marL="0">
                        <a:lnSpc>
                          <a:spcPts val="1680"/>
                        </a:lnSpc>
                        <a:buNone/>
                      </a:pPr>
                      <a:r>
                        <a:rPr lang="en-US" sz="1200" dirty="0">
                          <a:solidFill>
                            <a:srgbClr val="0D2046"/>
                          </a:solidFill>
                          <a:latin typeface="Arial" pitchFamily="34" charset="0"/>
                          <a:ea typeface="Arial" pitchFamily="34" charset="-122"/>
                          <a:cs typeface="Arial" pitchFamily="34" charset="-120"/>
                        </a:rPr>
                        <a:t>Oui</a:t>
                      </a:r>
                      <a:endParaRPr lang="en-US" sz="1200" dirty="0">
                        <a:latin typeface="Arial" charset="0"/>
                        <a:ea typeface="Arial" charset="0"/>
                        <a:cs typeface="Arial" charset="0"/>
                      </a:endParaRPr>
                    </a:p>
                  </a:txBody>
                  <a:tcPr marL="53340" marR="53340" marT="53340" marB="53340" anchor="t">
                    <a:lnL w="12700" cap="flat" cmpd="sng" algn="ctr">
                      <a:solidFill>
                        <a:srgbClr val="C9CACB"/>
                      </a:solidFill>
                      <a:prstDash val="solid"/>
                      <a:round/>
                      <a:headEnd type="none" w="med" len="med"/>
                      <a:tailEnd type="none" w="med" len="med"/>
                    </a:lnL>
                    <a:lnR w="12700" cap="flat" cmpd="sng" algn="ctr">
                      <a:solidFill>
                        <a:srgbClr val="C9CACB"/>
                      </a:solidFill>
                      <a:prstDash val="solid"/>
                      <a:round/>
                      <a:headEnd type="none" w="med" len="med"/>
                      <a:tailEnd type="none" w="med" len="med"/>
                    </a:lnR>
                    <a:lnT w="12700" cap="flat" cmpd="sng" algn="ctr">
                      <a:solidFill>
                        <a:srgbClr val="C9CACB"/>
                      </a:solidFill>
                      <a:prstDash val="solid"/>
                      <a:round/>
                      <a:headEnd type="none" w="med" len="med"/>
                      <a:tailEnd type="none" w="med" len="med"/>
                    </a:lnT>
                    <a:lnB w="12700" cap="flat" cmpd="sng" algn="ctr">
                      <a:solidFill>
                        <a:srgbClr val="C9CACB"/>
                      </a:solidFill>
                      <a:prstDash val="solid"/>
                      <a:round/>
                      <a:headEnd type="none" w="med" len="med"/>
                      <a:tailEnd type="none" w="med" len="med"/>
                    </a:lnB>
                  </a:tcPr>
                </a:tc>
                <a:tc>
                  <a:txBody>
                    <a:bodyPr/>
                    <a:lstStyle/>
                    <a:p>
                      <a:pPr algn="ctr" indent="0" marL="0">
                        <a:lnSpc>
                          <a:spcPts val="1680"/>
                        </a:lnSpc>
                        <a:buNone/>
                      </a:pPr>
                      <a:r>
                        <a:rPr lang="en-US" sz="1200" dirty="0">
                          <a:solidFill>
                            <a:srgbClr val="0D2046"/>
                          </a:solidFill>
                          <a:latin typeface="Arial" pitchFamily="34" charset="0"/>
                          <a:ea typeface="Arial" pitchFamily="34" charset="-122"/>
                          <a:cs typeface="Arial" pitchFamily="34" charset="-120"/>
                        </a:rPr>
                        <a:t>Non</a:t>
                      </a:r>
                      <a:endParaRPr lang="en-US" sz="1200" dirty="0">
                        <a:latin typeface="Arial" charset="0"/>
                        <a:ea typeface="Arial" charset="0"/>
                        <a:cs typeface="Arial" charset="0"/>
                      </a:endParaRPr>
                    </a:p>
                  </a:txBody>
                  <a:tcPr marL="53340" marR="53340" marT="53340" marB="53340" anchor="t">
                    <a:lnL w="12700" cap="flat" cmpd="sng" algn="ctr">
                      <a:solidFill>
                        <a:srgbClr val="C9CACB"/>
                      </a:solidFill>
                      <a:prstDash val="solid"/>
                      <a:round/>
                      <a:headEnd type="none" w="med" len="med"/>
                      <a:tailEnd type="none" w="med" len="med"/>
                    </a:lnL>
                    <a:lnR w="12700" cap="flat" cmpd="sng" algn="ctr">
                      <a:solidFill>
                        <a:srgbClr val="C9CACB"/>
                      </a:solidFill>
                      <a:prstDash val="solid"/>
                      <a:round/>
                      <a:headEnd type="none" w="med" len="med"/>
                      <a:tailEnd type="none" w="med" len="med"/>
                    </a:lnR>
                    <a:lnT w="12700" cap="flat" cmpd="sng" algn="ctr">
                      <a:solidFill>
                        <a:srgbClr val="C9CACB"/>
                      </a:solidFill>
                      <a:prstDash val="solid"/>
                      <a:round/>
                      <a:headEnd type="none" w="med" len="med"/>
                      <a:tailEnd type="none" w="med" len="med"/>
                    </a:lnT>
                    <a:lnB w="12700" cap="flat" cmpd="sng" algn="ctr">
                      <a:solidFill>
                        <a:srgbClr val="C9CACB"/>
                      </a:solidFill>
                      <a:prstDash val="solid"/>
                      <a:round/>
                      <a:headEnd type="none" w="med" len="med"/>
                      <a:tailEnd type="none" w="med" len="med"/>
                    </a:lnB>
                  </a:tcPr>
                </a:tc>
                <a:tc>
                  <a:txBody>
                    <a:bodyPr/>
                    <a:lstStyle/>
                    <a:p>
                      <a:pPr algn="ctr" indent="0" marL="0">
                        <a:lnSpc>
                          <a:spcPts val="1680"/>
                        </a:lnSpc>
                        <a:buNone/>
                      </a:pPr>
                      <a:r>
                        <a:rPr lang="en-US" sz="1200" dirty="0">
                          <a:solidFill>
                            <a:srgbClr val="0D2046"/>
                          </a:solidFill>
                          <a:latin typeface="Arial" pitchFamily="34" charset="0"/>
                          <a:ea typeface="Arial" pitchFamily="34" charset="-122"/>
                          <a:cs typeface="Arial" pitchFamily="34" charset="-120"/>
                        </a:rPr>
                        <a:t>Non</a:t>
                      </a:r>
                      <a:endParaRPr lang="en-US" sz="1200" dirty="0">
                        <a:latin typeface="Arial" charset="0"/>
                        <a:ea typeface="Arial" charset="0"/>
                        <a:cs typeface="Arial" charset="0"/>
                      </a:endParaRPr>
                    </a:p>
                  </a:txBody>
                  <a:tcPr marL="53340" marR="53340" marT="53340" marB="53340" anchor="t">
                    <a:lnL w="12700" cap="flat" cmpd="sng" algn="ctr">
                      <a:solidFill>
                        <a:srgbClr val="C9CACB"/>
                      </a:solidFill>
                      <a:prstDash val="solid"/>
                      <a:round/>
                      <a:headEnd type="none" w="med" len="med"/>
                      <a:tailEnd type="none" w="med" len="med"/>
                    </a:lnL>
                    <a:lnR w="12700" cap="flat" cmpd="sng" algn="ctr">
                      <a:solidFill>
                        <a:srgbClr val="C9CACB"/>
                      </a:solidFill>
                      <a:prstDash val="solid"/>
                      <a:round/>
                      <a:headEnd type="none" w="med" len="med"/>
                      <a:tailEnd type="none" w="med" len="med"/>
                    </a:lnR>
                    <a:lnT w="12700" cap="flat" cmpd="sng" algn="ctr">
                      <a:solidFill>
                        <a:srgbClr val="C9CACB"/>
                      </a:solidFill>
                      <a:prstDash val="solid"/>
                      <a:round/>
                      <a:headEnd type="none" w="med" len="med"/>
                      <a:tailEnd type="none" w="med" len="med"/>
                    </a:lnT>
                    <a:lnB w="12700" cap="flat" cmpd="sng" algn="ctr">
                      <a:solidFill>
                        <a:srgbClr val="C9CACB"/>
                      </a:solidFill>
                      <a:prstDash val="solid"/>
                      <a:round/>
                      <a:headEnd type="none" w="med" len="med"/>
                      <a:tailEnd type="none" w="med" len="med"/>
                    </a:lnB>
                  </a:tcPr>
                </a:tc>
              </a:tr>
            </a:tbl>
          </a:graphicData>
        </a:graphic>
      </p:graphicFrame>
      <p:sp>
        <p:nvSpPr>
          <p:cNvPr id="6" name="Text 3"/>
          <p:cNvSpPr/>
          <p:nvPr/>
        </p:nvSpPr>
        <p:spPr>
          <a:xfrm>
            <a:off x="812800" y="6238242"/>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28A"/>
                </a:solidFill>
                <a:latin typeface="Arial" pitchFamily="34" charset="0"/>
                <a:ea typeface="Arial" pitchFamily="34" charset="-122"/>
                <a:cs typeface="Arial" pitchFamily="34" charset="-120"/>
              </a:rPr>
              <a:t>SUIVI · Présentation WD12 · Annexe</a:t>
            </a:r>
            <a:endParaRPr lang="en-US" sz="1200" dirty="0"/>
          </a:p>
        </p:txBody>
      </p:sp>
      <p:sp>
        <p:nvSpPr>
          <p:cNvPr id="7" name="Text 4"/>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6728A"/>
                </a:solidFill>
                <a:latin typeface="Arial" pitchFamily="34" charset="0"/>
                <a:ea typeface="Arial" pitchFamily="34" charset="-122"/>
                <a:cs typeface="Arial" pitchFamily="34"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66728A"/>
                </a:solidFill>
                <a:latin typeface="Arial" pitchFamily="34" charset="0"/>
                <a:ea typeface="Arial" pitchFamily="34" charset="-122"/>
                <a:cs typeface="Arial" pitchFamily="34" charset="-120"/>
              </a:rPr>
              <a:t>ANNEXE B · RÉSERVATIONS</a:t>
            </a:r>
            <a:endParaRPr lang="en-US" sz="1200" dirty="0"/>
          </a:p>
        </p:txBody>
      </p:sp>
      <p:sp>
        <p:nvSpPr>
          <p:cNvPr id="3" name="Text 1"/>
          <p:cNvSpPr/>
          <p:nvPr>
            <p:ph type="title"/>
          </p:nvPr>
        </p:nvSpPr>
        <p:spPr>
          <a:xfrm>
            <a:off x="812800" y="1127758"/>
            <a:ext cx="10883392" cy="41656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0D2046"/>
                </a:solidFill>
                <a:latin typeface="Arial" pitchFamily="34" charset="0"/>
                <a:ea typeface="Arial" pitchFamily="34" charset="-122"/>
                <a:cs typeface="Arial" pitchFamily="34" charset="-120"/>
              </a:rPr>
              <a:t>Pourquoi une double réservation est impossible</a:t>
            </a:r>
            <a:endParaRPr lang="en-US" sz="2800" dirty="0"/>
          </a:p>
        </p:txBody>
      </p:sp>
      <p:sp>
        <p:nvSpPr>
          <p:cNvPr id="4" name="Shape 2"/>
          <p:cNvSpPr/>
          <p:nvPr/>
        </p:nvSpPr>
        <p:spPr>
          <a:xfrm>
            <a:off x="815975" y="1776096"/>
            <a:ext cx="3380317" cy="1925532"/>
          </a:xfrm>
          <a:prstGeom prst="roundRect">
            <a:avLst>
              <a:gd name="adj" fmla="val 6431"/>
            </a:avLst>
          </a:prstGeom>
          <a:solidFill>
            <a:srgbClr val="FCFDFF"/>
          </a:solidFill>
          <a:ln w="6350">
            <a:solidFill>
              <a:srgbClr val="DCE3EE"/>
            </a:solidFill>
            <a:prstDash val="solid"/>
          </a:ln>
        </p:spPr>
      </p:sp>
      <p:sp>
        <p:nvSpPr>
          <p:cNvPr id="5" name="Text 3"/>
          <p:cNvSpPr/>
          <p:nvPr/>
        </p:nvSpPr>
        <p:spPr>
          <a:xfrm>
            <a:off x="1048491" y="2008609"/>
            <a:ext cx="3002743" cy="3810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2864E8"/>
                </a:solidFill>
                <a:latin typeface="Arial" pitchFamily="34" charset="0"/>
                <a:ea typeface="Arial" pitchFamily="34" charset="-122"/>
                <a:cs typeface="Arial" pitchFamily="34" charset="-120"/>
              </a:rPr>
              <a:t>1</a:t>
            </a:r>
            <a:endParaRPr lang="en-US" sz="2800" dirty="0"/>
          </a:p>
        </p:txBody>
      </p:sp>
      <p:sp>
        <p:nvSpPr>
          <p:cNvPr id="6" name="Text 4"/>
          <p:cNvSpPr/>
          <p:nvPr/>
        </p:nvSpPr>
        <p:spPr>
          <a:xfrm>
            <a:off x="1048491" y="2440409"/>
            <a:ext cx="3002743"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0D2046"/>
                </a:solidFill>
                <a:latin typeface="Arial" pitchFamily="34" charset="0"/>
                <a:ea typeface="Arial" pitchFamily="34" charset="-122"/>
                <a:cs typeface="Arial" pitchFamily="34" charset="-120"/>
              </a:rPr>
              <a:t>Créneaux de 30 minutes</a:t>
            </a:r>
            <a:endParaRPr lang="en-US" sz="1700" dirty="0"/>
          </a:p>
        </p:txBody>
      </p:sp>
      <p:sp>
        <p:nvSpPr>
          <p:cNvPr id="7" name="Text 5"/>
          <p:cNvSpPr/>
          <p:nvPr/>
        </p:nvSpPr>
        <p:spPr>
          <a:xfrm>
            <a:off x="1048491" y="2775688"/>
            <a:ext cx="3002743"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6526B"/>
                </a:solidFill>
                <a:latin typeface="Arial" pitchFamily="34" charset="0"/>
                <a:ea typeface="Arial" pitchFamily="34" charset="-122"/>
                <a:cs typeface="Arial" pitchFamily="34" charset="-120"/>
              </a:rPr>
              <a:t>L'API refuse un horaire qui ne finit pas par 00 ou 30.</a:t>
            </a:r>
            <a:endParaRPr lang="en-US" sz="1300" dirty="0"/>
          </a:p>
        </p:txBody>
      </p:sp>
      <p:sp>
        <p:nvSpPr>
          <p:cNvPr id="8" name="Shape 6"/>
          <p:cNvSpPr/>
          <p:nvPr/>
        </p:nvSpPr>
        <p:spPr>
          <a:xfrm>
            <a:off x="4405842" y="1776096"/>
            <a:ext cx="3380317" cy="1925532"/>
          </a:xfrm>
          <a:prstGeom prst="roundRect">
            <a:avLst>
              <a:gd name="adj" fmla="val 6431"/>
            </a:avLst>
          </a:prstGeom>
          <a:solidFill>
            <a:srgbClr val="FCFDFF"/>
          </a:solidFill>
          <a:ln w="6350">
            <a:solidFill>
              <a:srgbClr val="DCE3EE"/>
            </a:solidFill>
            <a:prstDash val="solid"/>
          </a:ln>
        </p:spPr>
      </p:sp>
      <p:sp>
        <p:nvSpPr>
          <p:cNvPr id="9" name="Text 7"/>
          <p:cNvSpPr/>
          <p:nvPr/>
        </p:nvSpPr>
        <p:spPr>
          <a:xfrm>
            <a:off x="4638358" y="2008609"/>
            <a:ext cx="3002744" cy="3810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2864E8"/>
                </a:solidFill>
                <a:latin typeface="Arial" pitchFamily="34" charset="0"/>
                <a:ea typeface="Arial" pitchFamily="34" charset="-122"/>
                <a:cs typeface="Arial" pitchFamily="34" charset="-120"/>
              </a:rPr>
              <a:t>2</a:t>
            </a:r>
            <a:endParaRPr lang="en-US" sz="2800" dirty="0"/>
          </a:p>
        </p:txBody>
      </p:sp>
      <p:sp>
        <p:nvSpPr>
          <p:cNvPr id="10" name="Text 8"/>
          <p:cNvSpPr/>
          <p:nvPr/>
        </p:nvSpPr>
        <p:spPr>
          <a:xfrm>
            <a:off x="4638358" y="2440409"/>
            <a:ext cx="3002744"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0D2046"/>
                </a:solidFill>
                <a:latin typeface="Arial" pitchFamily="34" charset="0"/>
                <a:ea typeface="Arial" pitchFamily="34" charset="-122"/>
                <a:cs typeface="Arial" pitchFamily="34" charset="-120"/>
              </a:rPr>
              <a:t>Intervalles [début, fin[</a:t>
            </a:r>
            <a:endParaRPr lang="en-US" sz="1700" dirty="0"/>
          </a:p>
        </p:txBody>
      </p:sp>
      <p:sp>
        <p:nvSpPr>
          <p:cNvPr id="11" name="Text 9"/>
          <p:cNvSpPr/>
          <p:nvPr/>
        </p:nvSpPr>
        <p:spPr>
          <a:xfrm>
            <a:off x="4638358" y="2775688"/>
            <a:ext cx="3002744"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6526B"/>
                </a:solidFill>
                <a:latin typeface="Arial" pitchFamily="34" charset="0"/>
                <a:ea typeface="Arial" pitchFamily="34" charset="-122"/>
                <a:cs typeface="Arial" pitchFamily="34" charset="-120"/>
              </a:rPr>
              <a:t>10 h–11 h puis 11 h–12 h se suivent sans se chevaucher.</a:t>
            </a:r>
            <a:endParaRPr lang="en-US" sz="1300" dirty="0"/>
          </a:p>
        </p:txBody>
      </p:sp>
      <p:sp>
        <p:nvSpPr>
          <p:cNvPr id="12" name="Shape 10"/>
          <p:cNvSpPr/>
          <p:nvPr/>
        </p:nvSpPr>
        <p:spPr>
          <a:xfrm>
            <a:off x="7995708" y="1776096"/>
            <a:ext cx="3380317" cy="1925532"/>
          </a:xfrm>
          <a:prstGeom prst="roundRect">
            <a:avLst>
              <a:gd name="adj" fmla="val 6431"/>
            </a:avLst>
          </a:prstGeom>
          <a:solidFill>
            <a:srgbClr val="FCFDFF"/>
          </a:solidFill>
          <a:ln w="6350">
            <a:solidFill>
              <a:srgbClr val="DCE3EE"/>
            </a:solidFill>
            <a:prstDash val="solid"/>
          </a:ln>
        </p:spPr>
      </p:sp>
      <p:sp>
        <p:nvSpPr>
          <p:cNvPr id="13" name="Text 11"/>
          <p:cNvSpPr/>
          <p:nvPr/>
        </p:nvSpPr>
        <p:spPr>
          <a:xfrm>
            <a:off x="8228224" y="2008609"/>
            <a:ext cx="3002743" cy="3810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2864E8"/>
                </a:solidFill>
                <a:latin typeface="Arial" pitchFamily="34" charset="0"/>
                <a:ea typeface="Arial" pitchFamily="34" charset="-122"/>
                <a:cs typeface="Arial" pitchFamily="34" charset="-120"/>
              </a:rPr>
              <a:t>3</a:t>
            </a:r>
            <a:endParaRPr lang="en-US" sz="2800" dirty="0"/>
          </a:p>
        </p:txBody>
      </p:sp>
      <p:sp>
        <p:nvSpPr>
          <p:cNvPr id="14" name="Text 12"/>
          <p:cNvSpPr/>
          <p:nvPr/>
        </p:nvSpPr>
        <p:spPr>
          <a:xfrm>
            <a:off x="8228224" y="2440409"/>
            <a:ext cx="3002743"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0D2046"/>
                </a:solidFill>
                <a:latin typeface="Arial" pitchFamily="34" charset="0"/>
                <a:ea typeface="Arial" pitchFamily="34" charset="-122"/>
                <a:cs typeface="Arial" pitchFamily="34" charset="-120"/>
              </a:rPr>
              <a:t>Contrainte en base</a:t>
            </a:r>
            <a:endParaRPr lang="en-US" sz="1700" dirty="0"/>
          </a:p>
        </p:txBody>
      </p:sp>
      <p:sp>
        <p:nvSpPr>
          <p:cNvPr id="15" name="Text 13"/>
          <p:cNvSpPr/>
          <p:nvPr/>
        </p:nvSpPr>
        <p:spPr>
          <a:xfrm>
            <a:off x="8228224" y="2775688"/>
            <a:ext cx="3002743" cy="7188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6526B"/>
                </a:solidFill>
                <a:latin typeface="Arial" pitchFamily="34" charset="0"/>
                <a:ea typeface="Arial" pitchFamily="34" charset="-122"/>
                <a:cs typeface="Arial" pitchFamily="34" charset="-120"/>
              </a:rPr>
              <a:t>PostgreSQL rejette deux réservations actives qui se recouvrent, même envoyées au même instant.</a:t>
            </a:r>
            <a:endParaRPr lang="en-US" sz="1300" dirty="0"/>
          </a:p>
        </p:txBody>
      </p:sp>
      <p:sp>
        <p:nvSpPr>
          <p:cNvPr id="16" name="Text 14"/>
          <p:cNvSpPr/>
          <p:nvPr/>
        </p:nvSpPr>
        <p:spPr>
          <a:xfrm>
            <a:off x="812800" y="3958803"/>
            <a:ext cx="10566400" cy="850900"/>
          </a:xfrm>
          <a:prstGeom prst="roundRect">
            <a:avLst>
              <a:gd name="adj" fmla="val 11940"/>
            </a:avLst>
          </a:prstGeom>
          <a:solidFill>
            <a:srgbClr val="0D2046"/>
          </a:solidFill>
          <a:ln/>
        </p:spPr>
        <p:txBody>
          <a:bodyPr wrap="square" lIns="198842" tIns="148042" rIns="0" bIns="122642" rtlCol="0" anchor="t">
            <a:normAutofit/>
          </a:bodyPr>
          <a:lstStyle/>
          <a:p>
            <a:pPr algn="l" indent="0" marL="0">
              <a:lnSpc>
                <a:spcPts val="1950"/>
              </a:lnSpc>
              <a:buNone/>
            </a:pPr>
            <a:r>
              <a:rPr lang="en-US" sz="1300" dirty="0">
                <a:solidFill>
                  <a:srgbClr val="E6ECF7"/>
                </a:solidFill>
                <a:latin typeface="Courier New" pitchFamily="49" charset="0"/>
                <a:ea typeface="Courier New" pitchFamily="49" charset="-122"/>
                <a:cs typeface="Courier New" pitchFamily="49" charset="-120"/>
              </a:rPr>
              <a:t>EXCLUDE USING gist (materiel_id WITH =,</a:t>
            </a:r>
            <a:endParaRPr lang="en-US" sz="1300" dirty="0"/>
          </a:p>
          <a:p>
            <a:pPr algn="l" indent="0" marL="0">
              <a:lnSpc>
                <a:spcPts val="1950"/>
              </a:lnSpc>
              <a:buNone/>
            </a:pPr>
            <a:r>
              <a:rPr lang="en-US" sz="1300" dirty="0">
                <a:solidFill>
                  <a:srgbClr val="E6ECF7"/>
                </a:solidFill>
                <a:latin typeface="Courier New" pitchFamily="49" charset="0"/>
                <a:ea typeface="Courier New" pitchFamily="49" charset="-122"/>
                <a:cs typeface="Courier New" pitchFamily="49" charset="-120"/>
              </a:rPr>
              <a:t>tstzrange(debut, fin, '[)') WITH &amp;&amp;) WHERE (statut = 'active')</a:t>
            </a:r>
            <a:endParaRPr lang="en-US" sz="1300" dirty="0"/>
          </a:p>
        </p:txBody>
      </p:sp>
      <p:sp>
        <p:nvSpPr>
          <p:cNvPr id="17" name="Text 15"/>
          <p:cNvSpPr/>
          <p:nvPr/>
        </p:nvSpPr>
        <p:spPr>
          <a:xfrm>
            <a:off x="812800" y="6238242"/>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28A"/>
                </a:solidFill>
                <a:latin typeface="Arial" pitchFamily="34" charset="0"/>
                <a:ea typeface="Arial" pitchFamily="34" charset="-122"/>
                <a:cs typeface="Arial" pitchFamily="34" charset="-120"/>
              </a:rPr>
              <a:t>SUIVI · Présentation WD12 · Annexe</a:t>
            </a:r>
            <a:endParaRPr lang="en-US" sz="1200" dirty="0"/>
          </a:p>
        </p:txBody>
      </p:sp>
      <p:sp>
        <p:nvSpPr>
          <p:cNvPr id="18" name="Text 16"/>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6728A"/>
                </a:solidFill>
                <a:latin typeface="Arial" pitchFamily="34" charset="0"/>
                <a:ea typeface="Arial" pitchFamily="34" charset="-122"/>
                <a:cs typeface="Arial" pitchFamily="34"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66728A"/>
                </a:solidFill>
                <a:latin typeface="Arial" pitchFamily="34" charset="0"/>
                <a:ea typeface="Arial" pitchFamily="34" charset="-122"/>
                <a:cs typeface="Arial" pitchFamily="34" charset="-120"/>
              </a:rPr>
              <a:t>ANNEXE C · PLAN DE SECOURS</a:t>
            </a:r>
            <a:endParaRPr lang="en-US" sz="1200" dirty="0"/>
          </a:p>
        </p:txBody>
      </p:sp>
      <p:sp>
        <p:nvSpPr>
          <p:cNvPr id="3" name="Text 1"/>
          <p:cNvSpPr/>
          <p:nvPr>
            <p:ph type="title"/>
          </p:nvPr>
        </p:nvSpPr>
        <p:spPr>
          <a:xfrm>
            <a:off x="812800" y="1127758"/>
            <a:ext cx="10883392" cy="41656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0D2046"/>
                </a:solidFill>
                <a:latin typeface="Arial" pitchFamily="34" charset="0"/>
                <a:ea typeface="Arial" pitchFamily="34" charset="-122"/>
                <a:cs typeface="Arial" pitchFamily="34" charset="-120"/>
              </a:rPr>
              <a:t>La démo en captures</a:t>
            </a:r>
            <a:endParaRPr lang="en-US" sz="2800" dirty="0"/>
          </a:p>
        </p:txBody>
      </p:sp>
      <p:sp>
        <p:nvSpPr>
          <p:cNvPr id="4" name="Shape 2"/>
          <p:cNvSpPr/>
          <p:nvPr/>
        </p:nvSpPr>
        <p:spPr>
          <a:xfrm>
            <a:off x="822325" y="1782446"/>
            <a:ext cx="5162550" cy="1708150"/>
          </a:xfrm>
          <a:prstGeom prst="roundRect">
            <a:avLst>
              <a:gd name="adj" fmla="val 5390"/>
            </a:avLst>
          </a:prstGeom>
          <a:solidFill>
            <a:srgbClr val="FCFDFF"/>
          </a:solidFill>
          <a:ln w="19050">
            <a:solidFill>
              <a:srgbClr val="F2A35E"/>
            </a:solidFill>
            <a:prstDash val="dash"/>
          </a:ln>
        </p:spPr>
      </p:sp>
      <p:sp>
        <p:nvSpPr>
          <p:cNvPr id="5" name="Text 3"/>
          <p:cNvSpPr/>
          <p:nvPr/>
        </p:nvSpPr>
        <p:spPr>
          <a:xfrm>
            <a:off x="2336673" y="2379979"/>
            <a:ext cx="2133854" cy="274320"/>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B85A12"/>
                </a:solidFill>
                <a:latin typeface="Arial" pitchFamily="34" charset="0"/>
                <a:ea typeface="Arial" pitchFamily="34" charset="-122"/>
                <a:cs typeface="Arial" pitchFamily="34" charset="-120"/>
              </a:rPr>
              <a:t>Acte 1 · Gestionnaire</a:t>
            </a:r>
            <a:endParaRPr lang="en-US" sz="1400" dirty="0"/>
          </a:p>
        </p:txBody>
      </p:sp>
      <p:sp>
        <p:nvSpPr>
          <p:cNvPr id="6" name="Text 4"/>
          <p:cNvSpPr/>
          <p:nvPr/>
        </p:nvSpPr>
        <p:spPr>
          <a:xfrm>
            <a:off x="1525651" y="2679700"/>
            <a:ext cx="3755898"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66728A"/>
                </a:solidFill>
                <a:latin typeface="Arial" pitchFamily="34" charset="0"/>
                <a:ea typeface="Arial" pitchFamily="34" charset="-122"/>
                <a:cs typeface="Arial" pitchFamily="34" charset="-120"/>
              </a:rPr>
              <a:t>[Capture : fiche de l'analyseur avec sa facture]</a:t>
            </a:r>
            <a:endParaRPr lang="en-US" sz="1200" dirty="0"/>
          </a:p>
        </p:txBody>
      </p:sp>
      <p:sp>
        <p:nvSpPr>
          <p:cNvPr id="7" name="Shape 5"/>
          <p:cNvSpPr/>
          <p:nvPr/>
        </p:nvSpPr>
        <p:spPr>
          <a:xfrm>
            <a:off x="6207125" y="1782446"/>
            <a:ext cx="5162550" cy="1708150"/>
          </a:xfrm>
          <a:prstGeom prst="roundRect">
            <a:avLst>
              <a:gd name="adj" fmla="val 5390"/>
            </a:avLst>
          </a:prstGeom>
          <a:solidFill>
            <a:srgbClr val="FCFDFF"/>
          </a:solidFill>
          <a:ln w="19050">
            <a:solidFill>
              <a:srgbClr val="8FB0FF"/>
            </a:solidFill>
            <a:prstDash val="dash"/>
          </a:ln>
        </p:spPr>
      </p:sp>
      <p:sp>
        <p:nvSpPr>
          <p:cNvPr id="8" name="Text 6"/>
          <p:cNvSpPr/>
          <p:nvPr/>
        </p:nvSpPr>
        <p:spPr>
          <a:xfrm>
            <a:off x="7709662" y="2379979"/>
            <a:ext cx="2157476" cy="274320"/>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1F55CC"/>
                </a:solidFill>
                <a:latin typeface="Arial" pitchFamily="34" charset="0"/>
                <a:ea typeface="Arial" pitchFamily="34" charset="-122"/>
                <a:cs typeface="Arial" pitchFamily="34" charset="-120"/>
              </a:rPr>
              <a:t>Acte 2 · Responsable</a:t>
            </a:r>
            <a:endParaRPr lang="en-US" sz="1400" dirty="0"/>
          </a:p>
        </p:txBody>
      </p:sp>
      <p:sp>
        <p:nvSpPr>
          <p:cNvPr id="9" name="Text 7"/>
          <p:cNvSpPr/>
          <p:nvPr/>
        </p:nvSpPr>
        <p:spPr>
          <a:xfrm>
            <a:off x="7039737" y="2679700"/>
            <a:ext cx="3497326"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66728A"/>
                </a:solidFill>
                <a:latin typeface="Arial" pitchFamily="34" charset="0"/>
                <a:ea typeface="Arial" pitchFamily="34" charset="-122"/>
                <a:cs typeface="Arial" pitchFamily="34" charset="-120"/>
              </a:rPr>
              <a:t>[Capture : projet avec membres et Kanban]</a:t>
            </a:r>
            <a:endParaRPr lang="en-US" sz="1200" dirty="0"/>
          </a:p>
        </p:txBody>
      </p:sp>
      <p:sp>
        <p:nvSpPr>
          <p:cNvPr id="10" name="Shape 8"/>
          <p:cNvSpPr/>
          <p:nvPr/>
        </p:nvSpPr>
        <p:spPr>
          <a:xfrm>
            <a:off x="822325" y="3712846"/>
            <a:ext cx="5162550" cy="1708150"/>
          </a:xfrm>
          <a:prstGeom prst="roundRect">
            <a:avLst>
              <a:gd name="adj" fmla="val 5390"/>
            </a:avLst>
          </a:prstGeom>
          <a:solidFill>
            <a:srgbClr val="FCFDFF"/>
          </a:solidFill>
          <a:ln w="19050">
            <a:solidFill>
              <a:srgbClr val="5FD39B"/>
            </a:solidFill>
            <a:prstDash val="dash"/>
          </a:ln>
        </p:spPr>
      </p:sp>
      <p:sp>
        <p:nvSpPr>
          <p:cNvPr id="11" name="Text 9"/>
          <p:cNvSpPr/>
          <p:nvPr/>
        </p:nvSpPr>
        <p:spPr>
          <a:xfrm>
            <a:off x="2579635" y="4310379"/>
            <a:ext cx="1647825" cy="274320"/>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067046"/>
                </a:solidFill>
                <a:latin typeface="Arial" pitchFamily="34" charset="0"/>
                <a:ea typeface="Arial" pitchFamily="34" charset="-122"/>
                <a:cs typeface="Arial" pitchFamily="34" charset="-120"/>
              </a:rPr>
              <a:t>Acte 3 · Membre</a:t>
            </a:r>
            <a:endParaRPr lang="en-US" sz="1400" dirty="0"/>
          </a:p>
        </p:txBody>
      </p:sp>
      <p:sp>
        <p:nvSpPr>
          <p:cNvPr id="12" name="Text 10"/>
          <p:cNvSpPr/>
          <p:nvPr/>
        </p:nvSpPr>
        <p:spPr>
          <a:xfrm>
            <a:off x="925333" y="4610100"/>
            <a:ext cx="4956429"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66728A"/>
                </a:solidFill>
                <a:latin typeface="Arial" pitchFamily="34" charset="0"/>
                <a:ea typeface="Arial" pitchFamily="34" charset="-122"/>
                <a:cs typeface="Arial" pitchFamily="34" charset="-120"/>
              </a:rPr>
              <a:t>[Capture : refus du chevauchement + calendrier « Réservé »]</a:t>
            </a:r>
            <a:endParaRPr lang="en-US" sz="1200" dirty="0"/>
          </a:p>
        </p:txBody>
      </p:sp>
      <p:sp>
        <p:nvSpPr>
          <p:cNvPr id="13" name="Shape 11"/>
          <p:cNvSpPr/>
          <p:nvPr/>
        </p:nvSpPr>
        <p:spPr>
          <a:xfrm>
            <a:off x="6207125" y="3712846"/>
            <a:ext cx="5162550" cy="1708150"/>
          </a:xfrm>
          <a:prstGeom prst="roundRect">
            <a:avLst>
              <a:gd name="adj" fmla="val 5390"/>
            </a:avLst>
          </a:prstGeom>
          <a:solidFill>
            <a:srgbClr val="FCFDFF"/>
          </a:solidFill>
          <a:ln w="19050">
            <a:solidFill>
              <a:srgbClr val="B9A0F5"/>
            </a:solidFill>
            <a:prstDash val="dash"/>
          </a:ln>
        </p:spPr>
      </p:sp>
      <p:sp>
        <p:nvSpPr>
          <p:cNvPr id="14" name="Text 12"/>
          <p:cNvSpPr/>
          <p:nvPr/>
        </p:nvSpPr>
        <p:spPr>
          <a:xfrm>
            <a:off x="7614804" y="4310379"/>
            <a:ext cx="2347087" cy="274320"/>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6A3FC4"/>
                </a:solidFill>
                <a:latin typeface="Arial" pitchFamily="34" charset="0"/>
                <a:ea typeface="Arial" pitchFamily="34" charset="-122"/>
                <a:cs typeface="Arial" pitchFamily="34" charset="-120"/>
              </a:rPr>
              <a:t>Acte 4 · Administrateur</a:t>
            </a:r>
            <a:endParaRPr lang="en-US" sz="1400" dirty="0"/>
          </a:p>
        </p:txBody>
      </p:sp>
      <p:sp>
        <p:nvSpPr>
          <p:cNvPr id="15" name="Text 13"/>
          <p:cNvSpPr/>
          <p:nvPr/>
        </p:nvSpPr>
        <p:spPr>
          <a:xfrm>
            <a:off x="7265924" y="4610100"/>
            <a:ext cx="3044952"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66728A"/>
                </a:solidFill>
                <a:latin typeface="Arial" pitchFamily="34" charset="0"/>
                <a:ea typeface="Arial" pitchFamily="34" charset="-122"/>
                <a:cs typeface="Arial" pitchFamily="34" charset="-120"/>
              </a:rPr>
              <a:t>[Capture : notification + projet clôturé]</a:t>
            </a:r>
            <a:endParaRPr lang="en-US" sz="1200" dirty="0"/>
          </a:p>
        </p:txBody>
      </p:sp>
      <p:sp>
        <p:nvSpPr>
          <p:cNvPr id="16" name="Text 14"/>
          <p:cNvSpPr/>
          <p:nvPr/>
        </p:nvSpPr>
        <p:spPr>
          <a:xfrm>
            <a:off x="812800" y="6238242"/>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28A"/>
                </a:solidFill>
                <a:latin typeface="Arial" pitchFamily="34" charset="0"/>
                <a:ea typeface="Arial" pitchFamily="34" charset="-122"/>
                <a:cs typeface="Arial" pitchFamily="34" charset="-120"/>
              </a:rPr>
              <a:t>SUIVI · Présentation WD12 · Annexe</a:t>
            </a:r>
            <a:endParaRPr lang="en-US" sz="1200" dirty="0"/>
          </a:p>
        </p:txBody>
      </p:sp>
      <p:sp>
        <p:nvSpPr>
          <p:cNvPr id="17" name="Text 15"/>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6728A"/>
                </a:solidFill>
                <a:latin typeface="Arial" pitchFamily="34" charset="0"/>
                <a:ea typeface="Arial" pitchFamily="34" charset="-122"/>
                <a:cs typeface="Arial" pitchFamily="34" charset="-120"/>
              </a:rPr>
              <a:t>14</a:t>
            </a:r>
            <a:endParaRPr lang="en-US" sz="1200" dirty="0"/>
          </a:p>
        </p:txBody>
      </p:sp>
    </p:spTree>
  </p:cSld>
  <p:clrMapOvr>
    <a:masterClrMapping/>
  </p:clrMapOvr>
</p:sld>
</file>

<file path=ppt/theme/theme1.xml><?xml version="1.0" encoding="utf-8"?>
<a:theme xmlns:a="http://schemas.openxmlformats.org/drawingml/2006/main" name="SUIVI — Présentation WD12">
  <a:themeElements>
    <a:clrScheme name="SUIVI — Présentation WD12">
      <a:dk1>
        <a:srgbClr val="0D2046"/>
      </a:dk1>
      <a:lt1>
        <a:srgbClr val="F4F7FB"/>
      </a:lt1>
      <a:dk2>
        <a:srgbClr val="475673"/>
      </a:dk2>
      <a:lt2>
        <a:srgbClr val="DDE2E9"/>
      </a:lt2>
      <a:accent1>
        <a:srgbClr val="2864E8"/>
      </a:accent1>
      <a:accent2>
        <a:srgbClr val="1F55CC"/>
      </a:accent2>
      <a:accent3>
        <a:srgbClr val="8FB0FF"/>
      </a:accent3>
      <a:accent4>
        <a:srgbClr val="9FB1D1"/>
      </a:accent4>
      <a:accent5>
        <a:srgbClr val="B85A12"/>
      </a:accent5>
      <a:accent6>
        <a:srgbClr val="6A3FC4"/>
      </a:accent6>
      <a:hlink>
        <a:srgbClr val="0563C1"/>
      </a:hlink>
      <a:folHlink>
        <a:srgbClr val="954F72"/>
      </a:folHlink>
    </a:clrScheme>
    <a:fontScheme name="SUIVI — Présentation WD12">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SUIVI — Présentation WD12</dc:title>
  <dc:subject/>
  <dc:creator/>
  <cp:lastModifiedBy/>
  <cp:revision>1</cp:revision>
  <dcterms:created xsi:type="dcterms:W3CDTF">2026-10-01T07:47:28Z</dcterms:created>
  <dcterms:modified xsi:type="dcterms:W3CDTF">2026-10-01T07:47:28Z</dcterms:modified>
</cp:coreProperties>
</file>