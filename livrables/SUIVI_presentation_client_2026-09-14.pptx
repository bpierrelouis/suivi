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60eb14904a4fe8" /><Relationship Type="http://schemas.openxmlformats.org/officeDocument/2006/relationships/extended-properties" Target="/docProps/app.xml" Id="R5d1787fe6b59489d" /><Relationship Type="http://schemas.openxmlformats.org/officeDocument/2006/relationships/officeDocument" Target="/ppt/presentation.xml" Id="R29eb2a77dd9b40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e7e9d12b174003"/>
  </p:sldMasterIdLst>
  <p:notesMasterIdLst>
    <p:notesMasterId xmlns:r="http://schemas.openxmlformats.org/officeDocument/2006/relationships" r:id="Rd77894c44e764ee0"/>
  </p:notesMasterIdLst>
  <p:sldIdLst>
    <p:sldId xmlns:r="http://schemas.openxmlformats.org/officeDocument/2006/relationships" id="256" r:id="Rfaaec548e21b4229"/>
    <p:sldId xmlns:r="http://schemas.openxmlformats.org/officeDocument/2006/relationships" id="257" r:id="R257fb02229ec4d61"/>
    <p:sldId xmlns:r="http://schemas.openxmlformats.org/officeDocument/2006/relationships" id="258" r:id="R1ff683bbf07a411a"/>
    <p:sldId xmlns:r="http://schemas.openxmlformats.org/officeDocument/2006/relationships" id="259" r:id="Rebc8ca7fc40a4a56"/>
    <p:sldId xmlns:r="http://schemas.openxmlformats.org/officeDocument/2006/relationships" id="260" r:id="R3690e5073c5a42f3"/>
    <p:sldId xmlns:r="http://schemas.openxmlformats.org/officeDocument/2006/relationships" id="261" r:id="Re2d542c056174a9f"/>
    <p:sldId xmlns:r="http://schemas.openxmlformats.org/officeDocument/2006/relationships" id="262" r:id="R00723e43bde14433"/>
    <p:sldId xmlns:r="http://schemas.openxmlformats.org/officeDocument/2006/relationships" id="263" r:id="R481aaadedcef40d4"/>
    <p:sldId xmlns:r="http://schemas.openxmlformats.org/officeDocument/2006/relationships" id="264" r:id="Rfde30bd794a442c1"/>
    <p:sldId xmlns:r="http://schemas.openxmlformats.org/officeDocument/2006/relationships" id="265" r:id="R988e41b8d9f74e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941fac883e44ae" /><Relationship Type="http://schemas.openxmlformats.org/officeDocument/2006/relationships/slideMaster" Target="/ppt/slideMasters/slideMaster1.xml" Id="R08e7e9d12b174003" /><Relationship Type="http://schemas.openxmlformats.org/officeDocument/2006/relationships/notesMaster" Target="/ppt/notesMasters/notesMaster1.xml" Id="Rd77894c44e764ee0" /><Relationship Type="http://schemas.openxmlformats.org/officeDocument/2006/relationships/presProps" Target="/ppt/presProps.xml" Id="Ra94c940924ec4ab8" /><Relationship Type="http://schemas.openxmlformats.org/officeDocument/2006/relationships/tableStyles" Target="/ppt/tableStyles.xml" Id="Rd1b5829b1217428b" /><Relationship Type="http://schemas.openxmlformats.org/officeDocument/2006/relationships/slide" Target="/ppt/slides/slide1.xml" Id="Rfaaec548e21b4229" /><Relationship Type="http://schemas.openxmlformats.org/officeDocument/2006/relationships/slide" Target="/ppt/slides/slide2.xml" Id="R257fb02229ec4d61" /><Relationship Type="http://schemas.openxmlformats.org/officeDocument/2006/relationships/slide" Target="/ppt/slides/slide3.xml" Id="R1ff683bbf07a411a" /><Relationship Type="http://schemas.openxmlformats.org/officeDocument/2006/relationships/slide" Target="/ppt/slides/slide4.xml" Id="Rebc8ca7fc40a4a56" /><Relationship Type="http://schemas.openxmlformats.org/officeDocument/2006/relationships/slide" Target="/ppt/slides/slide5.xml" Id="R3690e5073c5a42f3" /><Relationship Type="http://schemas.openxmlformats.org/officeDocument/2006/relationships/slide" Target="/ppt/slides/slide6.xml" Id="Re2d542c056174a9f" /><Relationship Type="http://schemas.openxmlformats.org/officeDocument/2006/relationships/slide" Target="/ppt/slides/slide7.xml" Id="R00723e43bde14433" /><Relationship Type="http://schemas.openxmlformats.org/officeDocument/2006/relationships/slide" Target="/ppt/slides/slide8.xml" Id="R481aaadedcef40d4" /><Relationship Type="http://schemas.openxmlformats.org/officeDocument/2006/relationships/slide" Target="/ppt/slides/slide9.xml" Id="Rfde30bd794a442c1" /><Relationship Type="http://schemas.openxmlformats.org/officeDocument/2006/relationships/slide" Target="/ppt/slides/slide10.xml" Id="R988e41b8d9f74e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7a0f2309d345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c8491a61e54fc7" /><Relationship Type="http://schemas.openxmlformats.org/officeDocument/2006/relationships/notesMaster" Target="/ppt/notesMasters/notesMaster1.xml" Id="Rde1642f8f26341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03c1c40e934c04" /><Relationship Type="http://schemas.openxmlformats.org/officeDocument/2006/relationships/notesMaster" Target="/ppt/notesMasters/notesMaster1.xml" Id="R64093a50a5974e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8b55ddeccb442f" /><Relationship Type="http://schemas.openxmlformats.org/officeDocument/2006/relationships/notesMaster" Target="/ppt/notesMasters/notesMaster1.xml" Id="R61dbd435638b45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6cd543c7374848" /><Relationship Type="http://schemas.openxmlformats.org/officeDocument/2006/relationships/notesMaster" Target="/ppt/notesMasters/notesMaster1.xml" Id="R3bb4a1e0cf4c40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39525a7506461a" /><Relationship Type="http://schemas.openxmlformats.org/officeDocument/2006/relationships/notesMaster" Target="/ppt/notesMasters/notesMaster1.xml" Id="Rce86472ca5fe4c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a34705eba741c7" /><Relationship Type="http://schemas.openxmlformats.org/officeDocument/2006/relationships/notesMaster" Target="/ppt/notesMasters/notesMaster1.xml" Id="Rd90ad7762be545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ada6e04ac24b79" /><Relationship Type="http://schemas.openxmlformats.org/officeDocument/2006/relationships/notesMaster" Target="/ppt/notesMasters/notesMaster1.xml" Id="R1d45392a309b41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1544d82d3c454d" /><Relationship Type="http://schemas.openxmlformats.org/officeDocument/2006/relationships/notesMaster" Target="/ppt/notesMasters/notesMaster1.xml" Id="R5a6001744cb04f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d6cc403938461d" /><Relationship Type="http://schemas.openxmlformats.org/officeDocument/2006/relationships/notesMaster" Target="/ppt/notesMasters/notesMaster1.xml" Id="Rf5bdc14a913443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3ed0d212714642" /><Relationship Type="http://schemas.openxmlformats.org/officeDocument/2006/relationships/notesMaster" Target="/ppt/notesMasters/notesMaster1.xml" Id="Rb6f786205a2545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README.md ; docs/cadrage.md ; docs/prototype_maquettes/admin_dashboard.png.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docs/cadrage.md ; docs/compte-rendu-reunion-client.md.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docs/cadrage.md ; docs/regles-de-gestion.md ; docs/dcu.md.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docs/cadrage.md ; docs/regles-de-gestion.md ; docs/prototype_maquettes/gestionnaire_inventory.png.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docs/cadrage.md ; docs/user-stories.md ; docs/prototype_maquettes/utilisateur_projects.png.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docs/regles-de-gestion.md ; docs/user-stories.md ; docs/plan-de-recette.md.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docs/sprint-01.md ; README.md ; docs/prototype_maquettes/admin_dashboard.png.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docs/backlog.md ; docs/cadrage.md.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docs/plan-de-recette.md ; docs/sprint-01.md.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projet : docs/decisions-et-questions.md ; docs/sprint-01.md ; docs/backlog.md. Les chiffres visibles dans les maquettes sont des données fictives de démonstration.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4ddb2c6e7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8cb0e5a71348a9" /><Relationship Type="http://schemas.openxmlformats.org/officeDocument/2006/relationships/slideLayout" Target="/ppt/slideLayouts/slideLayout1.xml" Id="R9a29abb412864e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9abb412864e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25adadbd94e79" /><Relationship Type="http://schemas.openxmlformats.org/officeDocument/2006/relationships/image" Target="/ppt/media/image.png" Id="Ra0de43ba702b433e" /><Relationship Type="http://schemas.openxmlformats.org/officeDocument/2006/relationships/notesSlide" Target="/ppt/notesSlides/notesSlide1.xml" Id="R5902490205e8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d8c5032b94278" /><Relationship Type="http://schemas.openxmlformats.org/officeDocument/2006/relationships/notesSlide" Target="/ppt/notesSlides/notesSlide2.xml" Id="Rafec715545f045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bc63cb06e46a4" /><Relationship Type="http://schemas.openxmlformats.org/officeDocument/2006/relationships/notesSlide" Target="/ppt/notesSlides/notesSlide3.xml" Id="R66dbf484e2e64f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fa56ec3624e6b" /><Relationship Type="http://schemas.openxmlformats.org/officeDocument/2006/relationships/image" Target="/ppt/media/image2.png" Id="R3b1adc147e7a4f3c" /><Relationship Type="http://schemas.openxmlformats.org/officeDocument/2006/relationships/notesSlide" Target="/ppt/notesSlides/notesSlide4.xml" Id="Re063a91364c9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9ef42922344e2" /><Relationship Type="http://schemas.openxmlformats.org/officeDocument/2006/relationships/image" Target="/ppt/media/image3.png" Id="Rf830d4fa594244fc" /><Relationship Type="http://schemas.openxmlformats.org/officeDocument/2006/relationships/notesSlide" Target="/ppt/notesSlides/notesSlide5.xml" Id="Ra7dda7732c7340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9e429c6544385" /><Relationship Type="http://schemas.openxmlformats.org/officeDocument/2006/relationships/notesSlide" Target="/ppt/notesSlides/notesSlide6.xml" Id="R39fbd7ef407740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4107da9d040d9" /><Relationship Type="http://schemas.openxmlformats.org/officeDocument/2006/relationships/image" Target="/ppt/media/image4.png" Id="Rd5d2012b9f7b40f8" /><Relationship Type="http://schemas.openxmlformats.org/officeDocument/2006/relationships/notesSlide" Target="/ppt/notesSlides/notesSlide7.xml" Id="Rc9610fab760c43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a2dde32a44c31" /><Relationship Type="http://schemas.openxmlformats.org/officeDocument/2006/relationships/notesSlide" Target="/ppt/notesSlides/notesSlide8.xml" Id="Rc515c595492149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172b05121c4b26" /><Relationship Type="http://schemas.openxmlformats.org/officeDocument/2006/relationships/notesSlide" Target="/ppt/notesSlides/notesSlide9.xml" Id="Rc43a81eabc3c4a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134cdc183f4610" /><Relationship Type="http://schemas.openxmlformats.org/officeDocument/2006/relationships/notesSlide" Target="/ppt/notesSlides/notesSlide10.xml" Id="Rab4bc33fa2cb41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e43ba702b433e"/>
          <a:srcRect xmlns:a="http://schemas.openxmlformats.org/drawingml/2006/main" l="20287" t="0" r="2028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523875"/>
            <a:ext cx="5524500" cy="5810250"/>
          </a:xfrm>
          <a:prstGeom xmlns:a="http://schemas.openxmlformats.org/drawingml/2006/main" prst="roundRect">
            <a:avLst>
              <a:gd name="adj" fmla="val 2414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C4D93-F858-42C3-AED8-22A41A16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05591-192E-44FE-97E0-A1064DFE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628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CB3E1-9560-4423-A9DB-169EF6A8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SUIVI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B87C0-52AA-4AE3-936E-FC2F92A9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4857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DCE9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DCE9FF"/>
                </a:solidFill>
                <a:latin typeface="Aptos"/>
                <a:ea typeface="Aptos"/>
                <a:cs typeface="Aptos"/>
              </a:rPr>
              <a:t>Cadrage fonctionnel et trajectoire de réalisation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E9A28-5789-44A2-8501-D0961683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AFC4E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FC4E7"/>
                </a:solidFill>
                <a:latin typeface="Aptos"/>
                <a:ea typeface="Aptos"/>
                <a:cs typeface="Aptos"/>
              </a:rPr>
              <a:t>Inventaire, projets et réservations du laboratoire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01449-E824-45C7-97CB-66592A8C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Présentation client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 septembre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A1833-CDE3-44F4-84D6-A9288EE8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72200"/>
            <a:ext cx="485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8398B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398BE"/>
                </a:solidFill>
                <a:latin typeface="Aptos"/>
                <a:ea typeface="Aptos"/>
                <a:cs typeface="Aptos"/>
              </a:rPr>
              <a:t>Suivi des Usages, Inventaires, Vie des projets et IA</a:t>
            </a:r>
          </a:p>
        </p:txBody>
      </p:sp>
    </p:spTree>
    <p:extLst>
      <p:ext uri="{BB962C8B-B14F-4D97-AF65-F5344CB8AC3E}">
        <p14:creationId xmlns:p14="http://schemas.microsoft.com/office/powerpoint/2010/main" val="757808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89DEC5-F79D-4225-9BDF-6B5B6282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930F8-4355-44E1-9208-344F1E08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Le besoin couvert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8BA62-ACEA-42D0-BE2B-0D46AF7B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57CF4-15BC-4197-BE4A-DEC932F2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3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Une application interne pour retrouver le matériel, organiser les projets et sécuriser son utilisation.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151534-0137-4AB8-8FBE-D743313C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6D112-2413-40C7-92A7-A2042941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Inventaire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BA745-6E0C-4AB2-B98F-CC0CEFA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Matériel individualisé ou non, catégories multiples, recherche et disponibilité.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5B0BB-3971-41A5-815E-0CB1AFC9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F3916-0AE3-445F-84AD-B066C21D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9F6C1B-D684-467F-B640-6692C6D0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Projets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C3D19-82EB-458D-ABE5-F12CC6CE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956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Visibilité publique ou privée, membres, tâches Kanban et historique des modifications.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932E1C-5B7D-4FFE-B58C-DA2C5443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385B3-8C13-475F-B097-EFC08A97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42F92-57B0-4161-9F56-987FD65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Réservations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D8A3D-9C76-4730-9061-6C8F78A10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Créneaux de 30 minutes sur le matériel individualisé, sans conflit entre projets.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337B8-3D8C-4509-8EFF-2051DE44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55613-ED34-42BA-AAA7-CF656C8F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720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4077E-97A8-427E-A268-A94F7D37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51155-5463-4C81-9A94-40A01859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7205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Archivage irréversible, historiques datés et notifications internes.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07878-AD1F-4F52-B91A-E52182E8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2667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15754A-9A11-42EB-9C88-847C20A6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0D1B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1B3D"/>
                </a:solidFill>
                <a:latin typeface="Aptos"/>
                <a:ea typeface="Aptos"/>
                <a:cs typeface="Aptos"/>
              </a:rPr>
              <a:t>Cible : PC sur Intradef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789715-7266-4606-AE0C-F3112D4E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7C7D9C-26A9-4C62-BA0B-B7E95E80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57856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0921B-7836-4DCB-B8E2-7C893E15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ACCÈS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3048C-12D3-467A-A17C-559C91B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Trois profils, des droits strictement séparés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7FBBB-986E-48A2-A825-E04C457E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11333-DB36-4504-B33E-335B43C0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Les droits dépendent du rôle global et, pour l’utilisateur, de sa relation avec chaque projet.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66750" y="2143125"/>
          <a:ext xmlns:a="http://schemas.openxmlformats.org/drawingml/2006/main" cx="108585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3000375"/>
                <a:gridCol w="2857500"/>
                <a:gridCol w="3048000"/>
              </a:tblGrid>
              <a:tr h="750094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Profil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Inventaire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Projets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Limite structurante</a:t>
                      </a:r>
                    </a:p>
                  </a:txBody>
                  <a:tcPr marL="114300" marR="95250" marT="76200" marB="76200">
                    <a:solidFill>
                      <a:srgbClr val="0D1B3D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Administrateur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Gestion complète, archives et exports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Tous les projets, sans adhésion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Compte admin unique, rôle non transférable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Gestionnaire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Gestion de l’actif et exports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accès</a:t>
                      </a:r>
                    </a:p>
                  </a:txBody>
                  <a:tcPr marL="114300" marR="95250" marT="76200" marB="76200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 maximum un gestionnaire</a:t>
                      </a:r>
                    </a:p>
                  </a:txBody>
                  <a:tcPr marL="114300" marR="95250" marT="76200" marB="76200"/>
                </a:tc>
              </a:tr>
              <a:tr h="75009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Utilisateur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Consultation de l’actif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Selon visibilité et appartenance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42033"/>
                          </a:solidFill>
                          <a:latin typeface="Aptos"/>
                          <a:ea typeface="Aptos"/>
                          <a:cs typeface="Aptos"/>
                        </a:rPr>
                        <a:t>Aucun historique matériel ou réservation</a:t>
                      </a:r>
                    </a:p>
                  </a:txBody>
                  <a:tcPr marL="114300" marR="95250" marT="76200" marB="76200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28FAF-7D99-44B1-97FD-4FF47D3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0EBFF"/>
          </a:solidFill>
          <a:ln xmlns:a="http://schemas.openxmlformats.org/drawingml/2006/main" w="9525">
            <a:solidFill>
              <a:srgbClr val="DCC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CCFAA-2D8F-404E-B2A9-534D1E13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388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Dans un projet, un utilisateur peut être responsable, membre ou simple lecteur. Le responsable est toujours membre.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1BD8F-2168-444A-A598-0EB1CD5F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2C35D-5DD4-44F0-B9ED-05E481D2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51787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2AA66-E857-4E03-94E9-5CEC1110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INVENTAIRE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393BF-A522-42D1-AF41-D409C779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Un inventaire suivi sans perte d’historique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E0712-F91B-4CE4-8AA7-4C39B028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adc147e7a4f3c"/>
          <a:srcRect xmlns:a="http://schemas.openxmlformats.org/drawingml/2006/main" l="6395" t="0" r="63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1428750"/>
            <a:ext cx="5715000" cy="4095750"/>
          </a:xfrm>
          <a:prstGeom xmlns:a="http://schemas.openxmlformats.org/drawingml/2006/main" prst="roundRect">
            <a:avLst>
              <a:gd name="adj" fmla="val 325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62AC0-0ACC-4190-B5B4-BF722E71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Deux modes de suivi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09BEC-66C3-4810-9EE0-BA9F3907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Individualisé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47B47-259E-4AFB-8AC8-8A9E4CB1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Un exemplaire par fiche, avec disponibilité et réservation.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AC766-8886-4569-B105-170B6BE6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Non individualisé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BCD348-68F8-4B15-991C-CF804CE9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Présence connue sans quantité précise et sans réservation.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29CE3-47ED-4E6C-A56A-08F891B9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8AA8D-1243-4BBA-AAB0-1E29FAF7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6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63B3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63B3B"/>
                </a:solidFill>
                <a:latin typeface="Aptos"/>
                <a:ea typeface="Aptos"/>
                <a:cs typeface="Aptos"/>
              </a:rPr>
              <a:t>Supprimer signifie archiver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F787D-EC4D-4866-B261-6158C8C5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4381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La fiche quitte l’inventaire actif. L’historique reste conservé, les réservations en cours ou futures sont annulées et aucune restauration n’est prévue.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0D67E-491E-441E-B0EB-E663EA6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51561C-236C-4304-9FED-FBB771CE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54524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FF065F-B264-4AFD-B404-9AE77C4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PROJETS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542F3-8DA3-4605-A486-36FA175B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Des projets collaboratifs selon leur visibilité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60D39-B540-4EB5-9172-A11A8512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0d4fa594244fc"/>
          <a:srcRect xmlns:a="http://schemas.openxmlformats.org/drawingml/2006/main" l="1236" t="0" r="12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476375"/>
            <a:ext cx="6762750" cy="4333875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A17C8-D958-4D20-8BB1-C135D296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Public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0B33F-4724-4B61-A346-196924FE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1930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Consultable par tous les utilisateurs, mais modifiable uniquement par les membres et l’administrateur.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D782F-2FD5-4EFA-A10B-3742668D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Privé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40690-6FF3-4E44-BDD7-B73D0A0E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00425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Visible par ses membres et l’administrateur. Le gestionnaire reste exclu de tous les projets.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3D9C08-A182-436F-9035-33CA5B97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291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6845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845B"/>
                </a:solidFill>
                <a:latin typeface="Aptos"/>
                <a:ea typeface="Aptos"/>
                <a:cs typeface="Aptos"/>
              </a:rPr>
              <a:t>Cycle de vie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345CF-89E1-407C-93DA-C7DDC52C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8155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L’archivage libère le matériel et conserve membres, tâches et historique. Aucune réouverture n’est possible.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A071E9-0564-4F05-90E4-56C33F10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CD539-9E97-4AC7-A523-388ECFBF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4086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55D02-C383-43C8-9843-A313B328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DISPONIBILITÉ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D0C2A-5AA6-4DD8-A8CA-9BC6FE51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Réservation du matériel individualisé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D998B-511C-4DC5-875D-0F31BFD4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D8C1A-1F21-4114-B9FD-F39F7BEA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La réservation part d’un projet actif et doit rester cohérente avec les droits, les créneaux et l’historique.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D37C5-7D27-4CA5-8A35-B503B64C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658FE-1EDF-47A4-ABB8-DF2CA4D3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3BF9DF-A4BA-4143-BEBE-1057CA41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Choix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6A04A-5571-4124-A125-8E6D1296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Un membre choisit un exemplaire depuis son projet.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6213AA-7AB2-4003-9A8E-A2CFA712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14625"/>
            <a:ext cx="193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93065-8715-4735-9E60-E2166879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AB0B6-8AA0-4F04-BFC3-19E7986C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908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8F6D6C-840F-45CF-82C8-9E18094F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90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Période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BE5294-439C-496B-90FD-81DB5E06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71875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Début et fin obligatoires, sur 00 ou 30 minutes.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C1B05-2771-4361-8792-6D369BDC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714625"/>
            <a:ext cx="193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CED9D3-B277-43CC-9A77-1B33EBF6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4D19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FA963A-C547-44E9-9CFB-0DCA9A5B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B56A09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6A0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7FB5FF-39C7-474F-8A58-13AB4BB8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90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Contrôle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B678E-DDF8-4BA6-B54A-76DDBED0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Tout chevauchement avec un autre projet est refusé.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DEF75C-CB09-442F-8FDB-218BE72D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14625"/>
            <a:ext cx="193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885D1-28BD-4D18-9390-4550DAD1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76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F525E-DAB0-4000-AFB8-0AB187AC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908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8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A6AAE2-18EE-43FD-BA5F-16164026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4E80C9-A160-4A4C-BEFC-533958F3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71875"/>
            <a:ext cx="228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Réservant, matériel, projet, période et annulation sont conservés.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144621-A79F-4BD3-9113-341A5752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1B3D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27DCCA-5124-4C45-A836-FDF263F9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2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Confidentialité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02A4F-4D4C-40CB-BA5E-7C00AE2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19700"/>
            <a:ext cx="833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9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9FF"/>
                </a:solidFill>
                <a:latin typeface="Aptos"/>
                <a:ea typeface="Aptos"/>
                <a:cs typeface="Aptos"/>
              </a:rPr>
              <a:t>Lorsqu’un projet n’est pas accessible, son nom devient « Réservé » dans l’inventaire, les recherches, les historiques et les exports.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249C96-C872-48DC-967F-E075C8D2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600E31-A008-4310-A5C4-986FD65E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71972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95242-DCF0-467B-9E83-9C71180C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PREMIER INCRÉMENT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13AC0-C1A0-49B6-8D7C-DE422479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Le premier sprint porte sur la preuve des parcours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C2015-BA98-4A93-812D-A868AE2B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2012b9f7b40f8"/>
          <a:srcRect xmlns:a="http://schemas.openxmlformats.org/drawingml/2006/main" l="758" t="0" r="7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476375"/>
            <a:ext cx="4953000" cy="3143250"/>
          </a:xfrm>
          <a:prstGeom xmlns:a="http://schemas.openxmlformats.org/drawingml/2006/main" prst="roundRect">
            <a:avLst>
              <a:gd name="adj" fmla="val 424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5ED42-578B-4E17-9FD3-DD6625DC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Connexion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EB9E3-93C7-40AE-AF5E-36729E69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5811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Création automatique au premier accès et compte admin prédéfini.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36E642-8513-449F-98BE-7F127B6A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Maquettes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D4828F-4373-47CB-8700-D6812083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5270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Navigation et consultation adaptées aux trois profils.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DE5AD-B566-405A-9C8A-2CF170A1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Tableau de bord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007F1-4E63-44A0-A3AE-640C1ACF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Données fictives et contenu ajusté au profil.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632A6-367B-42ED-9C71-90212010A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Droits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09911-9F87-4AAB-9862-BCFFA876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495800"/>
            <a:ext cx="3524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Aucun projet au gestionnaire et aucun privé divulgué.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87B10-6BD3-4907-8F4F-1C2B3B5C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953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F2CF9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F77E4-7138-44F8-8685-0948D7C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143500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7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B56A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56A09"/>
                </a:solidFill>
                <a:latin typeface="Aptos"/>
                <a:ea typeface="Aptos"/>
                <a:cs typeface="Aptos"/>
              </a:rPr>
              <a:t>Point de vigilance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CB221-BFC8-4F49-B6FC-96B516F2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57825"/>
            <a:ext cx="4429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9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Aucun développement fonctionnel n’est présent dans le dépôt. Le sprint reste une proposition à valider, sans durée ni date engagée.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33131-4982-4ABE-84D9-7DD1F91E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6F091-4B8A-4B57-A642-EA89565D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3403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D700C-A10F-414D-952C-3534F33A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BACKLOG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4CAC4-4A85-443B-BCC4-7505BFA1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Trajectoire fonctionnelle proposée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5B9E71-F6B1-4B1A-8425-DAF520A6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4EDF0-1C2A-4122-ACD0-4E3EDA37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Les lots ordonnent les dépendances. Ils ne constituent ni un calendrier ni un engagement de délai.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B2B5C-6F56-47D6-A3B3-D56420D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5AA46-90CB-422B-ABBE-2304CCFA1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17D043-325B-474C-9CBC-A333288A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Fondations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2BAD8-0A60-4D44-BE0C-DC017EDB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66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Connexion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Maquettes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Tableau de bord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7BF74-ABDE-4C81-AB07-CDDAC1F5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B8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527EC-82F5-451B-8F33-11F2173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L2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7B172-A233-4BC6-987F-9B169ADA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Inventaire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08A0C-7E6A-476A-B920-1A9CEBB3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24250"/>
            <a:ext cx="166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Fiches et catégories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Recherche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Historiques actifs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F3B78-EC54-4112-88F4-E3A47F4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3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A5E3B-94A6-4CCB-81ED-97109E0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7153D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7153D6"/>
                </a:solidFill>
                <a:latin typeface="Aptos"/>
                <a:ea typeface="Aptos"/>
                <a:cs typeface="Aptos"/>
              </a:rPr>
              <a:t>L3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4E6787-A889-4F20-8501-C54B5611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003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Projets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81689E-BA6B-45C3-A03B-448DABAE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166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Visibilité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Membres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Kanban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DBFB6-0EC6-416D-A637-AF9663C0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33625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45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ABB6B-91AC-4013-97D2-ED8542F7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684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845B"/>
                </a:solidFill>
                <a:latin typeface="Aptos"/>
                <a:ea typeface="Aptos"/>
                <a:cs typeface="Aptos"/>
              </a:rPr>
              <a:t>L4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DC933-C1F1-4503-8613-DC772B0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03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Cohérence métier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E3E0E4-8B37-422A-82CE-4CFD8A4C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24250"/>
            <a:ext cx="166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Réservations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Archives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29517-BFA8-4E45-9A5F-893487EC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33625"/>
            <a:ext cx="5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6A0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C9D03B-22E1-4C0E-931E-CE86EA77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33625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B56A09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56A09"/>
                </a:solidFill>
                <a:latin typeface="Aptos"/>
                <a:ea typeface="Aptos"/>
                <a:cs typeface="Aptos"/>
              </a:rPr>
              <a:t>L5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4EFF41-65D9-44C5-A425-34B4EA39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666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4F59D-3737-4F35-AE8A-BB61FC42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524250"/>
            <a:ext cx="166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Calendrier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Exports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13BA9-BAA8-431D-86BC-A441A65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CE4F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092BF-5FC6-4EF6-AC75-ABC4D07F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7215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D1B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D1B3D"/>
                </a:solidFill>
                <a:latin typeface="Aptos"/>
                <a:ea typeface="Aptos"/>
                <a:cs typeface="Aptos"/>
              </a:rPr>
              <a:t>31 user stories structurent le périmètre. Les priorités, estimations, responsables et dates restent à confirmer avec l’équipe et le client.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DC2182-C1EB-4682-86BE-FCEE0F62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FDB41F-A3F8-4D66-9739-4F24455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393507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412449-275B-49F4-BC3A-5312E3F5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9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C5F86-EDDE-4C98-BDE0-FCCA5EC1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817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La recette est préparée autour de 19 scénarios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589BF-6CF7-4ACC-9EFE-6ED73F0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33747-AF2E-4CD3-99BA-E204D6D0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Chaque lot doit vérifier le comportement attendu et les refus liés aux droits ou aux conflits.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8B524-FBD2-4E78-B93A-A0BFF3AD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Accès et profils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87DAD-41C6-4262-BDB7-BD9C22FE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REC-01 à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22567E-FA60-4312-B719-A014E744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Première connexion, admin, gestionnaire unique, tableaux de bord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0A04E-C68C-444F-9EED-5814DB6E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527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697A-FC51-4F2C-AC66-F2FE144F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622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Inventaire et projets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7E2A5-1DBD-4DAD-9A17-F7C26692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62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REC-05 à 09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CC010-777A-482B-A5F3-C24DEAD1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622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Fiches, recherche, visibilité, membres et Kanban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AC1F9-8CA6-4AC3-9014-566A7E1D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92372-D396-459D-91AB-06B8AD7C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861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Réservations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15CBF-B7DD-47EA-9540-E8DE75C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861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REC-10 à 13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F8369-CE76-4237-B35C-CD3B8CEF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861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Horaires, concurrence, annulation et suppression du matériel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6E381B-4BD3-4820-9FD0-4D396E6E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750ED-144C-4613-8A2D-D8E373E4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Traçabilité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EE122-D645-4C3D-A414-4CB7FFC4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10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REC-14 à 17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AEF423-D674-465E-8FCE-FCF68875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00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Historiques, archives, notifications, exports et calendrier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56359-01C8-42A2-B986-B3758E72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F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E4FB3-8AA9-48E0-861D-452F7F05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339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Contrôles transverses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EC8D0-A4A6-4C13-A054-05500AE2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339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3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24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463EB"/>
                </a:solidFill>
                <a:latin typeface="Aptos"/>
                <a:ea typeface="Aptos"/>
                <a:cs typeface="Aptos"/>
              </a:rPr>
              <a:t>REC-18 à 19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28A216-E868-4B5B-BF3B-858E12BC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339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Accès directs et revue des maquettes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5797A2-A5D8-49AE-A583-7149189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287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6F5EE"/>
          </a:solidFill>
          <a:ln xmlns:a="http://schemas.openxmlformats.org/drawingml/2006/main" w="9525">
            <a:solidFill>
              <a:srgbClr val="B8E2D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60A0AB-62AD-44DA-AB17-B62806FA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579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9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684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845B"/>
                </a:solidFill>
                <a:latin typeface="Aptos"/>
                <a:ea typeface="Aptos"/>
                <a:cs typeface="Aptos"/>
              </a:rPr>
              <a:t>Critère d’achèvement : résultats consignés, confidentialité vérifiée et anomalies bloquantes corrigées.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C39A4-E3AD-4B76-A630-E62C4EC5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885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5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6F89"/>
                </a:solidFill>
                <a:latin typeface="Aptos"/>
                <a:ea typeface="Aptos"/>
                <a:cs typeface="Aptos"/>
              </a:rPr>
              <a:t>SUIVI • Document de cadrage au 14 septembre 2026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1ED01-D477-44D0-8AC4-45B8597B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5F6F8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F6F8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4551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B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226F6-8E70-4BE0-A422-C645F8BB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Décisions attendues avant engagement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A5113-0425-435E-866C-6FED0153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B9C9E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B9C9E5"/>
                </a:solidFill>
                <a:latin typeface="Aptos"/>
                <a:ea typeface="Aptos"/>
                <a:cs typeface="Aptos"/>
              </a:rPr>
              <a:t>7 décisions sont déjà appliquées. Les arbitrages suivants conditionnent le lancement du premier sprint.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60FC5-FAC8-4C6B-8F79-5C7EBCB6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88E18E-DAA6-42CA-AF34-DAD401C1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240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Référence client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0270F-D6DB-4EFA-8EAC-B124C2A6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Compléter la réunion, le validateur et la date d’acceptation du cadrage.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F87F1F-E53B-42DF-A493-C54980C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0894F-7216-40BD-B9FA-D35228F7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Contenu du sprint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B7D32B-6894-4BD7-8DEC-4446FF0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194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Confirmer les écrans, le tableau de bord, la gestion des rôles et les critères d’acceptation.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FACFF-F737-46B3-8A41-CADCE59E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957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AFF12-CABF-4FA2-B2FC-A258CBD0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766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E6FE5E-BF1B-4A0B-BF76-6ABD04C0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957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Choisir le mode d’exécution, la simulation de connexion et les règles de session.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5D9ACD-8A56-4A7F-A0CA-18C86521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202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4B8F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4B8F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8B663-87D2-495D-BC5A-CC75D72F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52975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Organisation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D5E67-3DC0-4749-A3B1-CAD1D4B5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720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DCE6F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CE6F7"/>
                </a:solidFill>
                <a:latin typeface="Aptos"/>
                <a:ea typeface="Aptos"/>
                <a:cs typeface="Aptos"/>
              </a:rPr>
              <a:t>Fixer durée, échéance, équipe, capacité et date de démonstration.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66982-BD27-4C78-B247-28C42BC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287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463E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102E69-9F41-4C61-827A-2E904395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91225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8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Résultat attendu : un périmètre S1 validé, démontrable et recettable.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2CD37-39D8-41EB-96E8-9BBF472C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6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>
                <a:solidFill>
                  <a:srgbClr val="8398B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398B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62363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2026-09-14T08:27:43.6050000Z</dcterms:created>
  <dcterms:modified xsi:type="dcterms:W3CDTF">2026-09-14T08:27:43.6050000Z</dcterms:modified>
</coreProperties>
</file>